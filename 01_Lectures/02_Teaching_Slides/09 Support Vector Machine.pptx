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257" r:id="rId3"/>
    <p:sldId id="292" r:id="rId4"/>
    <p:sldId id="259" r:id="rId5"/>
    <p:sldId id="258" r:id="rId6"/>
    <p:sldId id="260" r:id="rId7"/>
    <p:sldId id="262" r:id="rId8"/>
    <p:sldId id="261" r:id="rId9"/>
    <p:sldId id="263" r:id="rId10"/>
    <p:sldId id="264" r:id="rId11"/>
    <p:sldId id="265" r:id="rId12"/>
    <p:sldId id="269" r:id="rId13"/>
    <p:sldId id="270" r:id="rId14"/>
    <p:sldId id="266" r:id="rId15"/>
    <p:sldId id="267" r:id="rId16"/>
    <p:sldId id="268" r:id="rId17"/>
    <p:sldId id="273" r:id="rId18"/>
    <p:sldId id="271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97" r:id="rId29"/>
    <p:sldId id="298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5" r:id="rId38"/>
    <p:sldId id="296" r:id="rId39"/>
    <p:sldId id="294" r:id="rId40"/>
    <p:sldId id="293" r:id="rId41"/>
  </p:sldIdLst>
  <p:sldSz cx="9144000" cy="6858000" type="screen4x3"/>
  <p:notesSz cx="6858000" cy="91440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FF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15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6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image" Target="../media/image29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12" Type="http://schemas.openxmlformats.org/officeDocument/2006/relationships/image" Target="../media/image28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11" Type="http://schemas.openxmlformats.org/officeDocument/2006/relationships/image" Target="../media/image27.wmf"/><Relationship Id="rId5" Type="http://schemas.openxmlformats.org/officeDocument/2006/relationships/image" Target="../media/image21.wmf"/><Relationship Id="rId15" Type="http://schemas.openxmlformats.org/officeDocument/2006/relationships/image" Target="../media/image31.wmf"/><Relationship Id="rId10" Type="http://schemas.openxmlformats.org/officeDocument/2006/relationships/image" Target="../media/image26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Relationship Id="rId1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14.wmf"/><Relationship Id="rId7" Type="http://schemas.openxmlformats.org/officeDocument/2006/relationships/image" Target="../media/image36.wmf"/><Relationship Id="rId2" Type="http://schemas.openxmlformats.org/officeDocument/2006/relationships/image" Target="../media/image32.wmf"/><Relationship Id="rId1" Type="http://schemas.openxmlformats.org/officeDocument/2006/relationships/image" Target="../media/image6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9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42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60.wmf"/><Relationship Id="rId2" Type="http://schemas.openxmlformats.org/officeDocument/2006/relationships/image" Target="../media/image13.wmf"/><Relationship Id="rId1" Type="http://schemas.openxmlformats.org/officeDocument/2006/relationships/image" Target="../media/image6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3.wmf"/><Relationship Id="rId1" Type="http://schemas.openxmlformats.org/officeDocument/2006/relationships/image" Target="../media/image6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63.wmf"/><Relationship Id="rId1" Type="http://schemas.openxmlformats.org/officeDocument/2006/relationships/image" Target="../media/image6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48.wmf"/><Relationship Id="rId1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6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42.wmf"/><Relationship Id="rId5" Type="http://schemas.openxmlformats.org/officeDocument/2006/relationships/image" Target="../media/image70.wmf"/><Relationship Id="rId4" Type="http://schemas.openxmlformats.org/officeDocument/2006/relationships/image" Target="../media/image5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4" Type="http://schemas.openxmlformats.org/officeDocument/2006/relationships/image" Target="../media/image90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Relationship Id="rId9" Type="http://schemas.openxmlformats.org/officeDocument/2006/relationships/image" Target="../media/image99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100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Relationship Id="rId9" Type="http://schemas.openxmlformats.org/officeDocument/2006/relationships/image" Target="../media/image10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7287C-C6A6-4E95-A291-C2A9D6BF770B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4166F-F734-4BFD-A463-4B5489FB4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4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</a:t>
            </a:r>
          </a:p>
          <a:p>
            <a:r>
              <a:rPr lang="en-US" dirty="0"/>
              <a:t>Lookup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264380-F2BD-4DFD-9C5C-15DCE311581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87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4166F-F734-4BFD-A463-4B5489FB4E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91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4166F-F734-4BFD-A463-4B5489FB4E3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66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061D22-04D9-4CF9-B3FA-6C1C6A3D0E9F}" type="slidenum">
              <a:rPr lang="th-TH" smtClean="0"/>
              <a:pPr/>
              <a:t>25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06526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061D22-04D9-4CF9-B3FA-6C1C6A3D0E9F}" type="slidenum">
              <a:rPr lang="th-TH" smtClean="0"/>
              <a:pPr/>
              <a:t>26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22951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061D22-04D9-4CF9-B3FA-6C1C6A3D0E9F}" type="slidenum">
              <a:rPr lang="th-TH" smtClean="0"/>
              <a:pPr/>
              <a:t>27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22820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061D22-04D9-4CF9-B3FA-6C1C6A3D0E9F}" type="slidenum">
              <a:rPr lang="th-TH" smtClean="0"/>
              <a:pPr/>
              <a:t>30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77678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061D22-04D9-4CF9-B3FA-6C1C6A3D0E9F}" type="slidenum">
              <a:rPr lang="th-TH" smtClean="0"/>
              <a:pPr/>
              <a:t>31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1182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061D22-04D9-4CF9-B3FA-6C1C6A3D0E9F}" type="slidenum">
              <a:rPr lang="th-TH" smtClean="0"/>
              <a:pPr/>
              <a:t>32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60927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061D22-04D9-4CF9-B3FA-6C1C6A3D0E9F}" type="slidenum">
              <a:rPr lang="th-TH" smtClean="0"/>
              <a:pPr/>
              <a:t>33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66465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4166F-F734-4BFD-A463-4B5489FB4E38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86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21A51AF5-4DFD-4C5E-8A4B-ADE9312A2DFE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4208FF5-A749-4765-AB72-1E138F0714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1AF5-4DFD-4C5E-8A4B-ADE9312A2DFE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F5-A749-4765-AB72-1E138F0714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21A51AF5-4DFD-4C5E-8A4B-ADE9312A2DFE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4208FF5-A749-4765-AB72-1E138F0714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1AF5-4DFD-4C5E-8A4B-ADE9312A2DFE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F5-A749-4765-AB72-1E138F0714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1AF5-4DFD-4C5E-8A4B-ADE9312A2DFE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F5-A749-4765-AB72-1E138F0714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1AF5-4DFD-4C5E-8A4B-ADE9312A2DFE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F5-A749-4765-AB72-1E138F0714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1AF5-4DFD-4C5E-8A4B-ADE9312A2DFE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F5-A749-4765-AB72-1E138F0714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1AF5-4DFD-4C5E-8A4B-ADE9312A2DFE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F5-A749-4765-AB72-1E138F0714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1AF5-4DFD-4C5E-8A4B-ADE9312A2DFE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F5-A749-4765-AB72-1E138F0714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1AF5-4DFD-4C5E-8A4B-ADE9312A2DFE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F5-A749-4765-AB72-1E138F0714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1AF5-4DFD-4C5E-8A4B-ADE9312A2DFE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08FF5-A749-4765-AB72-1E138F0714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1A51AF5-4DFD-4C5E-8A4B-ADE9312A2DFE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4208FF5-A749-4765-AB72-1E138F0714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2.tiff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5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4.wmf"/><Relationship Id="rId26" Type="http://schemas.openxmlformats.org/officeDocument/2006/relationships/image" Target="../media/image28.wmf"/><Relationship Id="rId3" Type="http://schemas.openxmlformats.org/officeDocument/2006/relationships/oleObject" Target="../embeddings/oleObject16.bin"/><Relationship Id="rId21" Type="http://schemas.openxmlformats.org/officeDocument/2006/relationships/oleObject" Target="../embeddings/oleObject25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3.bin"/><Relationship Id="rId25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.wmf"/><Relationship Id="rId20" Type="http://schemas.openxmlformats.org/officeDocument/2006/relationships/image" Target="../media/image25.wmf"/><Relationship Id="rId29" Type="http://schemas.openxmlformats.org/officeDocument/2006/relationships/oleObject" Target="../embeddings/oleObject29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0.bin"/><Relationship Id="rId24" Type="http://schemas.openxmlformats.org/officeDocument/2006/relationships/image" Target="../media/image27.wmf"/><Relationship Id="rId32" Type="http://schemas.openxmlformats.org/officeDocument/2006/relationships/image" Target="../media/image31.wmf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23" Type="http://schemas.openxmlformats.org/officeDocument/2006/relationships/oleObject" Target="../embeddings/oleObject26.bin"/><Relationship Id="rId28" Type="http://schemas.openxmlformats.org/officeDocument/2006/relationships/image" Target="../media/image29.wmf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24.bin"/><Relationship Id="rId31" Type="http://schemas.openxmlformats.org/officeDocument/2006/relationships/oleObject" Target="../embeddings/oleObject3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2.wmf"/><Relationship Id="rId22" Type="http://schemas.openxmlformats.org/officeDocument/2006/relationships/image" Target="../media/image26.wmf"/><Relationship Id="rId27" Type="http://schemas.openxmlformats.org/officeDocument/2006/relationships/oleObject" Target="../embeddings/oleObject28.bin"/><Relationship Id="rId30" Type="http://schemas.openxmlformats.org/officeDocument/2006/relationships/image" Target="../media/image3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37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6.wmf"/><Relationship Id="rId20" Type="http://schemas.openxmlformats.org/officeDocument/2006/relationships/image" Target="../media/image38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4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2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5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5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64.bin"/><Relationship Id="rId18" Type="http://schemas.openxmlformats.org/officeDocument/2006/relationships/oleObject" Target="../embeddings/oleObject67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57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5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73.bin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61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6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6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64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80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6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8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7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5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88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75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5" Type="http://schemas.openxmlformats.org/officeDocument/2006/relationships/image" Target="../media/image76.w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73.wmf"/><Relationship Id="rId14" Type="http://schemas.openxmlformats.org/officeDocument/2006/relationships/oleObject" Target="../embeddings/oleObject95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97.bin"/><Relationship Id="rId5" Type="http://schemas.openxmlformats.org/officeDocument/2006/relationships/image" Target="../media/image78.wmf"/><Relationship Id="rId4" Type="http://schemas.openxmlformats.org/officeDocument/2006/relationships/oleObject" Target="../embeddings/oleObject96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84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83.wmf"/><Relationship Id="rId5" Type="http://schemas.openxmlformats.org/officeDocument/2006/relationships/image" Target="../media/image80.w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8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8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85.wmf"/><Relationship Id="rId4" Type="http://schemas.openxmlformats.org/officeDocument/2006/relationships/oleObject" Target="../embeddings/oleObject10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8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90.wmf"/><Relationship Id="rId5" Type="http://schemas.openxmlformats.org/officeDocument/2006/relationships/image" Target="../media/image87.wmf"/><Relationship Id="rId10" Type="http://schemas.openxmlformats.org/officeDocument/2006/relationships/oleObject" Target="../embeddings/oleObject108.bin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89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114.bin"/><Relationship Id="rId18" Type="http://schemas.openxmlformats.org/officeDocument/2006/relationships/oleObject" Target="../embeddings/oleObject117.bin"/><Relationship Id="rId3" Type="http://schemas.openxmlformats.org/officeDocument/2006/relationships/oleObject" Target="../embeddings/oleObject109.bin"/><Relationship Id="rId21" Type="http://schemas.openxmlformats.org/officeDocument/2006/relationships/oleObject" Target="../embeddings/oleObject11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95.wmf"/><Relationship Id="rId17" Type="http://schemas.openxmlformats.org/officeDocument/2006/relationships/oleObject" Target="../embeddings/oleObject11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7.wmf"/><Relationship Id="rId20" Type="http://schemas.openxmlformats.org/officeDocument/2006/relationships/image" Target="../media/image98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10" Type="http://schemas.openxmlformats.org/officeDocument/2006/relationships/image" Target="../media/image94.wmf"/><Relationship Id="rId19" Type="http://schemas.openxmlformats.org/officeDocument/2006/relationships/oleObject" Target="../embeddings/oleObject118.bin"/><Relationship Id="rId4" Type="http://schemas.openxmlformats.org/officeDocument/2006/relationships/image" Target="../media/image91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96.wmf"/><Relationship Id="rId22" Type="http://schemas.openxmlformats.org/officeDocument/2006/relationships/image" Target="../media/image99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125.bin"/><Relationship Id="rId18" Type="http://schemas.openxmlformats.org/officeDocument/2006/relationships/oleObject" Target="../embeddings/oleObject128.bin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3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95.wmf"/><Relationship Id="rId17" Type="http://schemas.openxmlformats.org/officeDocument/2006/relationships/oleObject" Target="../embeddings/oleObject12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7.wmf"/><Relationship Id="rId20" Type="http://schemas.openxmlformats.org/officeDocument/2006/relationships/image" Target="../media/image98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10" Type="http://schemas.openxmlformats.org/officeDocument/2006/relationships/image" Target="../media/image94.wmf"/><Relationship Id="rId19" Type="http://schemas.openxmlformats.org/officeDocument/2006/relationships/oleObject" Target="../embeddings/oleObject129.bin"/><Relationship Id="rId4" Type="http://schemas.openxmlformats.org/officeDocument/2006/relationships/image" Target="../media/image91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00.wmf"/><Relationship Id="rId22" Type="http://schemas.openxmlformats.org/officeDocument/2006/relationships/image" Target="../media/image10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Support Vector Machine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Parinya Sanguansat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VC dimension of a model f is h' where h' is the maximum h such that some data point set of cardinality h can be shattered by f. (binary)</a:t>
            </a:r>
          </a:p>
          <a:p>
            <a:r>
              <a:rPr lang="en-US" sz="2000" dirty="0"/>
              <a:t>It can predict a probabilistic upper bound on the test error of a classification model.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VC dimension of Straight line = 3</a:t>
            </a:r>
          </a:p>
          <a:p>
            <a:r>
              <a:rPr lang="en-US" sz="2000" dirty="0"/>
              <a:t>VC dimension of Rectangle = ? </a:t>
            </a:r>
          </a:p>
          <a:p>
            <a:r>
              <a:rPr lang="en-US" sz="2000" dirty="0"/>
              <a:t>What has the highest VC dimension?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2590800"/>
            <a:ext cx="743902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Hyperplane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1-D space, we use dot to classify the features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2-D space, we use line to classify the features</a:t>
            </a:r>
          </a:p>
          <a:p>
            <a:endParaRPr lang="en-US" dirty="0"/>
          </a:p>
          <a:p>
            <a:endParaRPr lang="th-TH" dirty="0"/>
          </a:p>
        </p:txBody>
      </p:sp>
      <p:grpSp>
        <p:nvGrpSpPr>
          <p:cNvPr id="43" name="Group 42"/>
          <p:cNvGrpSpPr/>
          <p:nvPr/>
        </p:nvGrpSpPr>
        <p:grpSpPr>
          <a:xfrm>
            <a:off x="1142976" y="1927213"/>
            <a:ext cx="6786610" cy="1073159"/>
            <a:chOff x="1142976" y="2143116"/>
            <a:chExt cx="6786610" cy="1073159"/>
          </a:xfrm>
        </p:grpSpPr>
        <p:grpSp>
          <p:nvGrpSpPr>
            <p:cNvPr id="33" name="Group 32"/>
            <p:cNvGrpSpPr/>
            <p:nvPr/>
          </p:nvGrpSpPr>
          <p:grpSpPr>
            <a:xfrm>
              <a:off x="1142976" y="2143116"/>
              <a:ext cx="6786610" cy="1073159"/>
              <a:chOff x="1142976" y="2143116"/>
              <a:chExt cx="6786610" cy="1073159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142976" y="2143116"/>
                <a:ext cx="6786610" cy="785818"/>
                <a:chOff x="1142976" y="2143116"/>
                <a:chExt cx="6786610" cy="785818"/>
              </a:xfrm>
            </p:grpSpPr>
            <p:sp>
              <p:nvSpPr>
                <p:cNvPr id="8" name="Right Brace 7"/>
                <p:cNvSpPr/>
                <p:nvPr/>
              </p:nvSpPr>
              <p:spPr>
                <a:xfrm rot="16200000">
                  <a:off x="2035951" y="1678769"/>
                  <a:ext cx="357190" cy="2000264"/>
                </a:xfrm>
                <a:prstGeom prst="rightBrace">
                  <a:avLst>
                    <a:gd name="adj1" fmla="val 58576"/>
                    <a:gd name="adj2" fmla="val 49573"/>
                  </a:avLst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9" name="Right Brace 8"/>
                <p:cNvSpPr/>
                <p:nvPr/>
              </p:nvSpPr>
              <p:spPr>
                <a:xfrm rot="16200000">
                  <a:off x="5357818" y="357167"/>
                  <a:ext cx="357190" cy="4643470"/>
                </a:xfrm>
                <a:prstGeom prst="rightBrace">
                  <a:avLst>
                    <a:gd name="adj1" fmla="val 58576"/>
                    <a:gd name="adj2" fmla="val 49573"/>
                  </a:avLst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1861493" y="2143116"/>
                  <a:ext cx="8531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Class 1</a:t>
                  </a:r>
                  <a:endParaRPr lang="th-TH" dirty="0"/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5147641" y="2143116"/>
                  <a:ext cx="8531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Class 2</a:t>
                  </a:r>
                  <a:endParaRPr lang="th-TH" dirty="0"/>
                </a:p>
              </p:txBody>
            </p:sp>
            <p:cxnSp>
              <p:nvCxnSpPr>
                <p:cNvPr id="5" name="Straight Arrow Connector 4"/>
                <p:cNvCxnSpPr/>
                <p:nvPr/>
              </p:nvCxnSpPr>
              <p:spPr>
                <a:xfrm>
                  <a:off x="1142976" y="2857496"/>
                  <a:ext cx="6786610" cy="1588"/>
                </a:xfrm>
                <a:prstGeom prst="straightConnector1">
                  <a:avLst/>
                </a:prstGeom>
                <a:ln>
                  <a:headEnd type="arrow"/>
                  <a:tailEnd type="arrow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Oval 5"/>
                <p:cNvSpPr/>
                <p:nvPr/>
              </p:nvSpPr>
              <p:spPr>
                <a:xfrm>
                  <a:off x="1714480" y="2786058"/>
                  <a:ext cx="142876" cy="142876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/>
                </a:p>
              </p:txBody>
            </p:sp>
          </p:grpSp>
          <p:graphicFrame>
            <p:nvGraphicFramePr>
              <p:cNvPr id="30" name="Object 2"/>
              <p:cNvGraphicFramePr>
                <a:graphicFrameLocks noChangeAspect="1"/>
              </p:cNvGraphicFramePr>
              <p:nvPr/>
            </p:nvGraphicFramePr>
            <p:xfrm>
              <a:off x="2984500" y="3040063"/>
              <a:ext cx="487363" cy="176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568" name="Equation" r:id="rId3" imgW="355320" imgH="139680" progId="Equation.DSMT4">
                      <p:embed/>
                    </p:oleObj>
                  </mc:Choice>
                  <mc:Fallback>
                    <p:oleObj name="Equation" r:id="rId3" imgW="355320" imgH="139680" progId="Equation.DSMT4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84500" y="3040063"/>
                            <a:ext cx="487363" cy="1762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468" name="Object 4"/>
              <p:cNvGraphicFramePr>
                <a:graphicFrameLocks noChangeAspect="1"/>
              </p:cNvGraphicFramePr>
              <p:nvPr/>
            </p:nvGraphicFramePr>
            <p:xfrm>
              <a:off x="5299083" y="3038474"/>
              <a:ext cx="487363" cy="176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569" name="Equation" r:id="rId5" imgW="355320" imgH="139680" progId="Equation.DSMT4">
                      <p:embed/>
                    </p:oleObj>
                  </mc:Choice>
                  <mc:Fallback>
                    <p:oleObj name="Equation" r:id="rId5" imgW="355320" imgH="139680" progId="Equation.DSMT4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99083" y="3038474"/>
                            <a:ext cx="487363" cy="1762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469" name="Object 5"/>
              <p:cNvGraphicFramePr>
                <a:graphicFrameLocks noChangeAspect="1"/>
              </p:cNvGraphicFramePr>
              <p:nvPr/>
            </p:nvGraphicFramePr>
            <p:xfrm>
              <a:off x="1928794" y="3038473"/>
              <a:ext cx="487363" cy="176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570" name="Equation" r:id="rId7" imgW="355320" imgH="139680" progId="Equation.DSMT4">
                      <p:embed/>
                    </p:oleObj>
                  </mc:Choice>
                  <mc:Fallback>
                    <p:oleObj name="Equation" r:id="rId7" imgW="355320" imgH="139680" progId="Equation.DSMT4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8794" y="3038473"/>
                            <a:ext cx="487363" cy="1762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4" name="Oval 33"/>
            <p:cNvSpPr/>
            <p:nvPr/>
          </p:nvSpPr>
          <p:spPr>
            <a:xfrm>
              <a:off x="2000232" y="2786058"/>
              <a:ext cx="142876" cy="142876"/>
            </a:xfrm>
            <a:prstGeom prst="ellipse">
              <a:avLst/>
            </a:prstGeom>
            <a:solidFill>
              <a:srgbClr val="FF0000"/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5" name="Oval 34"/>
            <p:cNvSpPr/>
            <p:nvPr/>
          </p:nvSpPr>
          <p:spPr>
            <a:xfrm>
              <a:off x="2571736" y="2786058"/>
              <a:ext cx="142876" cy="142876"/>
            </a:xfrm>
            <a:prstGeom prst="ellipse">
              <a:avLst/>
            </a:prstGeom>
            <a:solidFill>
              <a:srgbClr val="FF0000"/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7" name="Oval 36"/>
            <p:cNvSpPr/>
            <p:nvPr/>
          </p:nvSpPr>
          <p:spPr>
            <a:xfrm>
              <a:off x="4071934" y="2786058"/>
              <a:ext cx="142876" cy="142876"/>
            </a:xfrm>
            <a:prstGeom prst="ellipse">
              <a:avLst/>
            </a:prstGeom>
            <a:solidFill>
              <a:srgbClr val="00B050"/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38" name="Oval 37"/>
            <p:cNvSpPr/>
            <p:nvPr/>
          </p:nvSpPr>
          <p:spPr>
            <a:xfrm>
              <a:off x="5000628" y="2786058"/>
              <a:ext cx="142876" cy="142876"/>
            </a:xfrm>
            <a:prstGeom prst="ellipse">
              <a:avLst/>
            </a:prstGeom>
            <a:solidFill>
              <a:srgbClr val="00B050"/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1" name="Oval 40"/>
            <p:cNvSpPr/>
            <p:nvPr/>
          </p:nvSpPr>
          <p:spPr>
            <a:xfrm>
              <a:off x="3143240" y="2786058"/>
              <a:ext cx="142876" cy="142876"/>
            </a:xfrm>
            <a:prstGeom prst="ellipse">
              <a:avLst/>
            </a:prstGeom>
            <a:solidFill>
              <a:schemeClr val="accent4"/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2" name="Oval 41"/>
            <p:cNvSpPr/>
            <p:nvPr/>
          </p:nvSpPr>
          <p:spPr>
            <a:xfrm>
              <a:off x="6858016" y="2786058"/>
              <a:ext cx="142876" cy="142876"/>
            </a:xfrm>
            <a:prstGeom prst="ellipse">
              <a:avLst/>
            </a:prstGeom>
            <a:solidFill>
              <a:srgbClr val="00B050"/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857488" y="3429000"/>
            <a:ext cx="3857652" cy="2857520"/>
            <a:chOff x="2857488" y="3357562"/>
            <a:chExt cx="3857652" cy="2857520"/>
          </a:xfrm>
        </p:grpSpPr>
        <p:grpSp>
          <p:nvGrpSpPr>
            <p:cNvPr id="28" name="Group 27"/>
            <p:cNvGrpSpPr/>
            <p:nvPr/>
          </p:nvGrpSpPr>
          <p:grpSpPr>
            <a:xfrm>
              <a:off x="2857488" y="3357562"/>
              <a:ext cx="3857652" cy="2857520"/>
              <a:chOff x="2133600" y="1219200"/>
              <a:chExt cx="5816600" cy="4724400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 rot="5400000" flipH="1" flipV="1">
                <a:off x="2326881" y="3769119"/>
                <a:ext cx="4343400" cy="556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2133600" y="3732212"/>
                <a:ext cx="4800600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6873052" y="351686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557159" y="1219200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5105400" y="2514600"/>
                <a:ext cx="304800" cy="3048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5410200" y="3200400"/>
                <a:ext cx="304800" cy="3048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4648200" y="2743200"/>
                <a:ext cx="304800" cy="3048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3429000" y="411480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3810000" y="472440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4800600" y="4724400"/>
                <a:ext cx="304800" cy="3048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2542822" y="2526030"/>
                <a:ext cx="4114800" cy="2590800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graphicFrame>
            <p:nvGraphicFramePr>
              <p:cNvPr id="27" name="Object 2"/>
              <p:cNvGraphicFramePr>
                <a:graphicFrameLocks noChangeAspect="1"/>
              </p:cNvGraphicFramePr>
              <p:nvPr/>
            </p:nvGraphicFramePr>
            <p:xfrm>
              <a:off x="6400800" y="5181600"/>
              <a:ext cx="1549400" cy="422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571" name="Equation" r:id="rId9" imgW="748975" imgH="203112" progId="Equation.DSMT4">
                      <p:embed/>
                    </p:oleObj>
                  </mc:Choice>
                  <mc:Fallback>
                    <p:oleObj name="Equation" r:id="rId9" imgW="748975" imgH="203112" progId="Equation.DSMT4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00800" y="5181600"/>
                            <a:ext cx="1549400" cy="4222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4" name="Object 2"/>
            <p:cNvGraphicFramePr>
              <a:graphicFrameLocks noChangeAspect="1"/>
            </p:cNvGraphicFramePr>
            <p:nvPr/>
          </p:nvGraphicFramePr>
          <p:xfrm>
            <a:off x="5214942" y="4071942"/>
            <a:ext cx="1027584" cy="255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72" name="Equation" r:id="rId11" imgW="749160" imgH="203040" progId="Equation.DSMT4">
                    <p:embed/>
                  </p:oleObj>
                </mc:Choice>
                <mc:Fallback>
                  <p:oleObj name="Equation" r:id="rId11" imgW="749160" imgH="20304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4942" y="4071942"/>
                          <a:ext cx="1027584" cy="2554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471" name="Object 7"/>
            <p:cNvGraphicFramePr>
              <a:graphicFrameLocks noChangeAspect="1"/>
            </p:cNvGraphicFramePr>
            <p:nvPr/>
          </p:nvGraphicFramePr>
          <p:xfrm>
            <a:off x="3008313" y="5715000"/>
            <a:ext cx="1009650" cy="25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73" name="Equation" r:id="rId13" imgW="736560" imgH="203040" progId="Equation.DSMT4">
                    <p:embed/>
                  </p:oleObj>
                </mc:Choice>
                <mc:Fallback>
                  <p:oleObj name="Equation" r:id="rId13" imgW="736560" imgH="20304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8313" y="5715000"/>
                          <a:ext cx="1009650" cy="2555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yperplane.tif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600" y="2895600"/>
            <a:ext cx="4191000" cy="31432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Hyperplane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2-D space, we use line to classify the features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n-D space, we use </a:t>
            </a:r>
            <a:r>
              <a:rPr lang="en-US" dirty="0" err="1"/>
              <a:t>hyperplane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        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209800" y="1981200"/>
          <a:ext cx="1478868" cy="390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Equation" r:id="rId4" imgW="672516" imgH="177646" progId="Equation.DSMT4">
                  <p:embed/>
                </p:oleObj>
              </mc:Choice>
              <mc:Fallback>
                <p:oleObj name="Equation" r:id="rId4" imgW="672516" imgH="177646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81200"/>
                        <a:ext cx="1478868" cy="3906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4724400" y="1905000"/>
          <a:ext cx="1981200" cy="447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Equation" r:id="rId6" imgW="901309" imgH="203112" progId="Equation.DSMT4">
                  <p:embed/>
                </p:oleObj>
              </mc:Choice>
              <mc:Fallback>
                <p:oleObj name="Equation" r:id="rId6" imgW="901309" imgH="203112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905000"/>
                        <a:ext cx="1981200" cy="4474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838200" y="3200400"/>
          <a:ext cx="3810363" cy="289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Equation" r:id="rId8" imgW="1841500" imgH="1397000" progId="Equation.DSMT4">
                  <p:embed/>
                </p:oleObj>
              </mc:Choice>
              <mc:Fallback>
                <p:oleObj name="Equation" r:id="rId8" imgW="1841500" imgH="13970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200400"/>
                        <a:ext cx="3810363" cy="289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Recall the </a:t>
            </a:r>
            <a:r>
              <a:rPr lang="en-US" dirty="0" err="1">
                <a:solidFill>
                  <a:srgbClr val="00B0F0"/>
                </a:solidFill>
              </a:rPr>
              <a:t>perceptron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Depend on initialization</a:t>
            </a:r>
            <a:endParaRPr lang="en-US" dirty="0">
              <a:solidFill>
                <a:srgbClr val="00B0F0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2326881" y="3769119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133600" y="3732212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34200" y="35168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7374" y="1219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5105400" y="2514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410200" y="3200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648200" y="2743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429000" y="4114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8100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8006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>
            <a:off x="2590800" y="2514600"/>
            <a:ext cx="4114800" cy="2590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6400800" y="5181600"/>
          <a:ext cx="15494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3" imgW="748975" imgH="203112" progId="Equation.DSMT4">
                  <p:embed/>
                </p:oleObj>
              </mc:Choice>
              <mc:Fallback>
                <p:oleObj name="Equation" r:id="rId3" imgW="748975" imgH="203112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5181600"/>
                        <a:ext cx="1549400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</a:t>
            </a:r>
            <a:r>
              <a:rPr lang="en-US" dirty="0" err="1"/>
              <a:t>hyperplane</a:t>
            </a:r>
            <a:r>
              <a:rPr lang="en-US" dirty="0"/>
              <a:t> is the best?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is the criterion?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2326881" y="4121531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133600" y="4084624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34200" y="386928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7374" y="157161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5105400" y="2867012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3552812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648200" y="3095612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429000" y="4467212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810000" y="5076812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00600" y="5076812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2590800" y="2867012"/>
            <a:ext cx="4114800" cy="2590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6200000" flipH="1">
            <a:off x="2971800" y="2790812"/>
            <a:ext cx="2971800" cy="25146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6200000" flipH="1">
            <a:off x="3086100" y="3286112"/>
            <a:ext cx="3429000" cy="12192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819400" y="3781412"/>
            <a:ext cx="3657600" cy="9906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2895600" y="3857612"/>
            <a:ext cx="3505200" cy="6096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2743200" y="3324212"/>
            <a:ext cx="3886200" cy="1828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Best = Most generalization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2326881" y="3821525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133600" y="3784618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34200" y="356927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7374" y="1219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5105400" y="2567006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3252806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648200" y="2795606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429000" y="4167206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810000" y="4776806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00600" y="4776806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 rot="16200000" flipH="1">
            <a:off x="2781300" y="3748106"/>
            <a:ext cx="4191000" cy="4572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124456" y="5286388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ultiply 27"/>
          <p:cNvSpPr/>
          <p:nvPr/>
        </p:nvSpPr>
        <p:spPr>
          <a:xfrm>
            <a:off x="4962532" y="5105416"/>
            <a:ext cx="609600" cy="609600"/>
          </a:xfrm>
          <a:prstGeom prst="mathMultiply">
            <a:avLst>
              <a:gd name="adj1" fmla="val 12611"/>
            </a:avLst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</a:t>
            </a:r>
            <a:r>
              <a:rPr lang="en-US" dirty="0" err="1"/>
              <a:t>hyperplanes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Maximal margin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2326881" y="3769119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133600" y="3732212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34200" y="35168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7374" y="1219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5105400" y="2514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3200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648200" y="2743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429000" y="4114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8100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006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2057400" y="2971800"/>
            <a:ext cx="4114800" cy="2590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5" name="Object 2"/>
          <p:cNvGraphicFramePr>
            <a:graphicFrameLocks noChangeAspect="1"/>
          </p:cNvGraphicFramePr>
          <p:nvPr/>
        </p:nvGraphicFramePr>
        <p:xfrm>
          <a:off x="6705600" y="4800600"/>
          <a:ext cx="15494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3" name="Equation" r:id="rId3" imgW="748975" imgH="203112" progId="Equation.DSMT4">
                  <p:embed/>
                </p:oleObj>
              </mc:Choice>
              <mc:Fallback>
                <p:oleObj name="Equation" r:id="rId3" imgW="748975" imgH="203112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800600"/>
                        <a:ext cx="1549400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Connector 15"/>
          <p:cNvCxnSpPr/>
          <p:nvPr/>
        </p:nvCxnSpPr>
        <p:spPr>
          <a:xfrm>
            <a:off x="3048000" y="1752600"/>
            <a:ext cx="4114800" cy="2590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514600" y="2362200"/>
            <a:ext cx="4114800" cy="25908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6183313" y="5410200"/>
          <a:ext cx="16795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" name="Equation" r:id="rId5" imgW="812447" imgH="203112" progId="Equation.DSMT4">
                  <p:embed/>
                </p:oleObj>
              </mc:Choice>
              <mc:Fallback>
                <p:oleObj name="Equation" r:id="rId5" imgW="812447" imgH="203112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3313" y="5410200"/>
                        <a:ext cx="1679575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Straight Arrow Connector 19"/>
          <p:cNvCxnSpPr/>
          <p:nvPr/>
        </p:nvCxnSpPr>
        <p:spPr>
          <a:xfrm rot="5400000" flipH="1" flipV="1">
            <a:off x="2247900" y="2095500"/>
            <a:ext cx="1295400" cy="914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2547938" y="2249488"/>
          <a:ext cx="2635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5" name="Equation" r:id="rId7" imgW="126780" imgH="164814" progId="Equation.DSMT4">
                  <p:embed/>
                </p:oleObj>
              </mc:Choice>
              <mc:Fallback>
                <p:oleObj name="Equation" r:id="rId7" imgW="126780" imgH="164814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2249488"/>
                        <a:ext cx="2635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7313613" y="4149725"/>
          <a:ext cx="149701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6" name="Equation" r:id="rId9" imgW="723586" imgH="203112" progId="Equation.DSMT4">
                  <p:embed/>
                </p:oleObj>
              </mc:Choice>
              <mc:Fallback>
                <p:oleObj name="Equation" r:id="rId9" imgW="723586" imgH="203112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3613" y="4149725"/>
                        <a:ext cx="1497012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Donut 26"/>
          <p:cNvSpPr/>
          <p:nvPr/>
        </p:nvSpPr>
        <p:spPr>
          <a:xfrm>
            <a:off x="4572000" y="2667000"/>
            <a:ext cx="457200" cy="4572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5334000" y="3124200"/>
            <a:ext cx="457200" cy="4572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Donut 28"/>
          <p:cNvSpPr/>
          <p:nvPr/>
        </p:nvSpPr>
        <p:spPr>
          <a:xfrm>
            <a:off x="4724400" y="4648200"/>
            <a:ext cx="457200" cy="4572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0" y="2362200"/>
            <a:ext cx="167686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Support Vectors</a:t>
            </a:r>
          </a:p>
        </p:txBody>
      </p:sp>
      <p:cxnSp>
        <p:nvCxnSpPr>
          <p:cNvPr id="32" name="Elbow Connector 31"/>
          <p:cNvCxnSpPr>
            <a:stCxn id="30" idx="1"/>
            <a:endCxn id="27" idx="6"/>
          </p:cNvCxnSpPr>
          <p:nvPr/>
        </p:nvCxnSpPr>
        <p:spPr>
          <a:xfrm rot="10800000" flipV="1">
            <a:off x="5029200" y="2546866"/>
            <a:ext cx="914400" cy="34873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Shape 36"/>
          <p:cNvCxnSpPr>
            <a:stCxn id="30" idx="2"/>
            <a:endCxn id="29" idx="6"/>
          </p:cNvCxnSpPr>
          <p:nvPr/>
        </p:nvCxnSpPr>
        <p:spPr>
          <a:xfrm rot="5400000">
            <a:off x="4909184" y="3003949"/>
            <a:ext cx="2145268" cy="16004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hape 38"/>
          <p:cNvCxnSpPr>
            <a:stCxn id="30" idx="2"/>
            <a:endCxn id="28" idx="6"/>
          </p:cNvCxnSpPr>
          <p:nvPr/>
        </p:nvCxnSpPr>
        <p:spPr>
          <a:xfrm rot="5400000">
            <a:off x="5975984" y="2546749"/>
            <a:ext cx="621268" cy="9908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562600" y="1371600"/>
            <a:ext cx="242386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Support Vector Machine</a:t>
            </a:r>
          </a:p>
        </p:txBody>
      </p:sp>
      <p:sp>
        <p:nvSpPr>
          <p:cNvPr id="41" name="Up Arrow 40"/>
          <p:cNvSpPr/>
          <p:nvPr/>
        </p:nvSpPr>
        <p:spPr>
          <a:xfrm>
            <a:off x="6553200" y="1828800"/>
            <a:ext cx="381000" cy="45720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1147763" y="4684713"/>
          <a:ext cx="7112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7" name="Equation" r:id="rId11" imgW="342751" imgH="203112" progId="Equation.DSMT4">
                  <p:embed/>
                </p:oleObj>
              </mc:Choice>
              <mc:Fallback>
                <p:oleObj name="Equation" r:id="rId11" imgW="342751" imgH="203112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4684713"/>
                        <a:ext cx="711200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40" grpId="0" animBg="1"/>
      <p:bldP spid="4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Margin</a:t>
            </a:r>
            <a:r>
              <a:rPr lang="en-US" dirty="0"/>
              <a:t> is the shortest distance between lines</a:t>
            </a: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6242050" y="5441950"/>
          <a:ext cx="18351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9" name="Equation" r:id="rId3" imgW="888614" imgH="241195" progId="Equation.DSMT4">
                  <p:embed/>
                </p:oleObj>
              </mc:Choice>
              <mc:Fallback>
                <p:oleObj name="Equation" r:id="rId3" imgW="888614" imgH="241195" progId="Equation.DSMT4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5441950"/>
                        <a:ext cx="18351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7259638" y="4222750"/>
          <a:ext cx="16271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0" name="Equation" r:id="rId5" imgW="787400" imgH="241300" progId="Equation.DSMT4">
                  <p:embed/>
                </p:oleObj>
              </mc:Choice>
              <mc:Fallback>
                <p:oleObj name="Equation" r:id="rId5" imgW="787400" imgH="241300" progId="Equation.DSMT4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9638" y="4222750"/>
                        <a:ext cx="1627187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rot="5400000" flipH="1" flipV="1">
            <a:off x="2326881" y="3769119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133600" y="3732212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34200" y="35168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800" y="1600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5105400" y="2514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410200" y="3200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648200" y="2743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429000" y="4114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8100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8006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2057400" y="2971800"/>
            <a:ext cx="4114800" cy="2590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048000" y="1752600"/>
            <a:ext cx="4114800" cy="2590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514600" y="2362200"/>
            <a:ext cx="4114800" cy="25908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5400000" flipH="1" flipV="1">
            <a:off x="2247900" y="2095500"/>
            <a:ext cx="1295400" cy="914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32" name="Object 4"/>
          <p:cNvGraphicFramePr>
            <a:graphicFrameLocks noChangeAspect="1"/>
          </p:cNvGraphicFramePr>
          <p:nvPr/>
        </p:nvGraphicFramePr>
        <p:xfrm>
          <a:off x="1447800" y="1905000"/>
          <a:ext cx="10541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1" name="Equation" r:id="rId7" imgW="507780" imgH="444307" progId="Equation.DSMT4">
                  <p:embed/>
                </p:oleObj>
              </mc:Choice>
              <mc:Fallback>
                <p:oleObj name="Equation" r:id="rId7" imgW="507780" imgH="444307" progId="Equation.DSMT4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905000"/>
                        <a:ext cx="1054100" cy="9239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Donut 32"/>
          <p:cNvSpPr/>
          <p:nvPr/>
        </p:nvSpPr>
        <p:spPr>
          <a:xfrm>
            <a:off x="4572000" y="2667000"/>
            <a:ext cx="457200" cy="4572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Donut 34"/>
          <p:cNvSpPr/>
          <p:nvPr/>
        </p:nvSpPr>
        <p:spPr>
          <a:xfrm>
            <a:off x="4724400" y="4648200"/>
            <a:ext cx="457200" cy="4572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rot="5400000" flipH="1" flipV="1">
            <a:off x="4717473" y="2453641"/>
            <a:ext cx="479367" cy="296487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 flipH="1" flipV="1">
            <a:off x="4903817" y="4362104"/>
            <a:ext cx="525087" cy="335280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4572000" y="3259137"/>
          <a:ext cx="3683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2" name="Equation" r:id="rId9" imgW="177646" imgH="228402" progId="Equation.DSMT4">
                  <p:embed/>
                </p:oleObj>
              </mc:Choice>
              <mc:Fallback>
                <p:oleObj name="Equation" r:id="rId9" imgW="177646" imgH="228402" progId="Equation.DSMT4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59137"/>
                        <a:ext cx="368300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8"/>
          <p:cNvGraphicFramePr>
            <a:graphicFrameLocks noChangeAspect="1"/>
          </p:cNvGraphicFramePr>
          <p:nvPr/>
        </p:nvGraphicFramePr>
        <p:xfrm>
          <a:off x="4508500" y="4173537"/>
          <a:ext cx="3683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3" name="Equation" r:id="rId11" imgW="177646" imgH="228402" progId="Equation.DSMT4">
                  <p:embed/>
                </p:oleObj>
              </mc:Choice>
              <mc:Fallback>
                <p:oleObj name="Equation" r:id="rId11" imgW="177646" imgH="228402" progId="Equation.DSMT4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4173537"/>
                        <a:ext cx="368300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9"/>
          <p:cNvGraphicFramePr>
            <a:graphicFrameLocks noChangeAspect="1"/>
          </p:cNvGraphicFramePr>
          <p:nvPr/>
        </p:nvGraphicFramePr>
        <p:xfrm>
          <a:off x="4687888" y="2224087"/>
          <a:ext cx="341312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4" name="Equation" r:id="rId13" imgW="164957" imgH="139579" progId="Equation.DSMT4">
                  <p:embed/>
                </p:oleObj>
              </mc:Choice>
              <mc:Fallback>
                <p:oleObj name="Equation" r:id="rId13" imgW="164957" imgH="139579" progId="Equation.DSMT4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888" y="2224087"/>
                        <a:ext cx="341312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10"/>
          <p:cNvGraphicFramePr>
            <a:graphicFrameLocks noChangeAspect="1"/>
          </p:cNvGraphicFramePr>
          <p:nvPr/>
        </p:nvGraphicFramePr>
        <p:xfrm>
          <a:off x="5257800" y="4433887"/>
          <a:ext cx="34131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5" name="Equation" r:id="rId15" imgW="164957" imgH="139579" progId="Equation.DSMT4">
                  <p:embed/>
                </p:oleObj>
              </mc:Choice>
              <mc:Fallback>
                <p:oleObj name="Equation" r:id="rId15" imgW="164957" imgH="139579" progId="Equation.DSMT4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433887"/>
                        <a:ext cx="341313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Straight Arrow Connector 50"/>
          <p:cNvCxnSpPr/>
          <p:nvPr/>
        </p:nvCxnSpPr>
        <p:spPr>
          <a:xfrm rot="16200000" flipH="1">
            <a:off x="4189616" y="4039986"/>
            <a:ext cx="1104207" cy="491834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rot="5400000" flipH="1" flipV="1">
            <a:off x="4229103" y="3162301"/>
            <a:ext cx="838196" cy="304802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6200000" flipV="1">
            <a:off x="3918758" y="3777442"/>
            <a:ext cx="1925782" cy="162098"/>
          </a:xfrm>
          <a:prstGeom prst="straightConnector1">
            <a:avLst/>
          </a:prstGeom>
          <a:ln>
            <a:solidFill>
              <a:srgbClr val="15FF42"/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5131" name="Object 11"/>
          <p:cNvGraphicFramePr>
            <a:graphicFrameLocks noChangeAspect="1"/>
          </p:cNvGraphicFramePr>
          <p:nvPr/>
        </p:nvGraphicFramePr>
        <p:xfrm>
          <a:off x="4919663" y="4278312"/>
          <a:ext cx="26193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" name="Equation" r:id="rId17" imgW="126725" imgH="177415" progId="Equation.DSMT4">
                  <p:embed/>
                </p:oleObj>
              </mc:Choice>
              <mc:Fallback>
                <p:oleObj name="Equation" r:id="rId17" imgW="126725" imgH="177415" progId="Equation.DSMT4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663" y="4278312"/>
                        <a:ext cx="261937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2" name="Object 12"/>
          <p:cNvGraphicFramePr>
            <a:graphicFrameLocks noChangeAspect="1"/>
          </p:cNvGraphicFramePr>
          <p:nvPr/>
        </p:nvGraphicFramePr>
        <p:xfrm>
          <a:off x="6019800" y="2286000"/>
          <a:ext cx="97313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" name="Equation" r:id="rId19" imgW="469900" imgH="228600" progId="Equation.DSMT4">
                  <p:embed/>
                </p:oleObj>
              </mc:Choice>
              <mc:Fallback>
                <p:oleObj name="Equation" r:id="rId19" imgW="469900" imgH="228600" progId="Equation.DSMT4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286000"/>
                        <a:ext cx="973138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6" name="Curved Connector 65"/>
          <p:cNvCxnSpPr/>
          <p:nvPr/>
        </p:nvCxnSpPr>
        <p:spPr>
          <a:xfrm rot="10800000" flipV="1">
            <a:off x="4876800" y="2590800"/>
            <a:ext cx="1143000" cy="8382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rot="5400000" flipH="1" flipV="1">
            <a:off x="4724400" y="3733800"/>
            <a:ext cx="1295400" cy="838200"/>
          </a:xfrm>
          <a:prstGeom prst="straightConnector1">
            <a:avLst/>
          </a:prstGeom>
          <a:ln w="73025">
            <a:solidFill>
              <a:srgbClr val="0070C0"/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aphicFrame>
        <p:nvGraphicFramePr>
          <p:cNvPr id="51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807006"/>
              </p:ext>
            </p:extLst>
          </p:nvPr>
        </p:nvGraphicFramePr>
        <p:xfrm>
          <a:off x="6959600" y="2895600"/>
          <a:ext cx="18669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8" name="Equation" r:id="rId21" imgW="901440" imgH="253800" progId="Equation.DSMT4">
                  <p:embed/>
                </p:oleObj>
              </mc:Choice>
              <mc:Fallback>
                <p:oleObj name="Equation" r:id="rId21" imgW="901440" imgH="253800" progId="Equation.DSMT4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2895600"/>
                        <a:ext cx="18669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2" name="Curved Connector 71"/>
          <p:cNvCxnSpPr/>
          <p:nvPr/>
        </p:nvCxnSpPr>
        <p:spPr>
          <a:xfrm rot="10800000" flipV="1">
            <a:off x="5562600" y="3200400"/>
            <a:ext cx="1371600" cy="8382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34" name="Object 14"/>
          <p:cNvGraphicFramePr>
            <a:graphicFrameLocks noChangeAspect="1"/>
          </p:cNvGraphicFramePr>
          <p:nvPr/>
        </p:nvGraphicFramePr>
        <p:xfrm>
          <a:off x="533400" y="4419600"/>
          <a:ext cx="162718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9" name="Equation" r:id="rId23" imgW="787400" imgH="241300" progId="Equation.DSMT4">
                  <p:embed/>
                </p:oleObj>
              </mc:Choice>
              <mc:Fallback>
                <p:oleObj name="Equation" r:id="rId23" imgW="787400" imgH="241300" progId="Equation.DSMT4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419600"/>
                        <a:ext cx="1627188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5" name="Object 15"/>
          <p:cNvGraphicFramePr>
            <a:graphicFrameLocks noChangeAspect="1"/>
          </p:cNvGraphicFramePr>
          <p:nvPr/>
        </p:nvGraphicFramePr>
        <p:xfrm>
          <a:off x="533400" y="4953000"/>
          <a:ext cx="18351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0" name="Equation" r:id="rId25" imgW="888614" imgH="241195" progId="Equation.DSMT4">
                  <p:embed/>
                </p:oleObj>
              </mc:Choice>
              <mc:Fallback>
                <p:oleObj name="Equation" r:id="rId25" imgW="888614" imgH="241195" progId="Equation.DSMT4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953000"/>
                        <a:ext cx="18351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833430"/>
              </p:ext>
            </p:extLst>
          </p:nvPr>
        </p:nvGraphicFramePr>
        <p:xfrm>
          <a:off x="533400" y="5486400"/>
          <a:ext cx="214947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1" name="Equation" r:id="rId27" imgW="1041120" imgH="253800" progId="Equation.DSMT4">
                  <p:embed/>
                </p:oleObj>
              </mc:Choice>
              <mc:Fallback>
                <p:oleObj name="Equation" r:id="rId27" imgW="1041120" imgH="253800" progId="Equation.DSMT4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486400"/>
                        <a:ext cx="2149475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7" name="Object 17"/>
          <p:cNvGraphicFramePr>
            <a:graphicFrameLocks noChangeAspect="1"/>
          </p:cNvGraphicFramePr>
          <p:nvPr/>
        </p:nvGraphicFramePr>
        <p:xfrm>
          <a:off x="2286000" y="4876800"/>
          <a:ext cx="261937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" name="Equation" r:id="rId29" imgW="126780" imgH="101424" progId="Equation.DSMT4">
                  <p:embed/>
                </p:oleObj>
              </mc:Choice>
              <mc:Fallback>
                <p:oleObj name="Equation" r:id="rId29" imgW="126780" imgH="101424" progId="Equation.DSMT4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876800"/>
                        <a:ext cx="261937" cy="211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8" name="Object 18"/>
          <p:cNvGraphicFramePr>
            <a:graphicFrameLocks noChangeAspect="1"/>
          </p:cNvGraphicFramePr>
          <p:nvPr/>
        </p:nvGraphicFramePr>
        <p:xfrm>
          <a:off x="7772400" y="1905000"/>
          <a:ext cx="1147762" cy="658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3" name="Equation" r:id="rId31" imgW="825500" imgH="469900" progId="Equation.DSMT4">
                  <p:embed/>
                </p:oleObj>
              </mc:Choice>
              <mc:Fallback>
                <p:oleObj name="Equation" r:id="rId31" imgW="825500" imgH="469900" progId="Equation.DSMT4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905000"/>
                        <a:ext cx="1147762" cy="6583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Up Arrow 87"/>
          <p:cNvSpPr/>
          <p:nvPr/>
        </p:nvSpPr>
        <p:spPr>
          <a:xfrm>
            <a:off x="8305800" y="2667000"/>
            <a:ext cx="228600" cy="30480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8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Two classes, 1 and -1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2326881" y="3769119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133600" y="3732212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34200" y="35168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800" y="15240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5105400" y="2514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3200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648200" y="2743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429000" y="4114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8100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006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2057400" y="2971800"/>
            <a:ext cx="4114800" cy="2590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5" name="Object 2"/>
          <p:cNvGraphicFramePr>
            <a:graphicFrameLocks noChangeAspect="1"/>
          </p:cNvGraphicFramePr>
          <p:nvPr/>
        </p:nvGraphicFramePr>
        <p:xfrm>
          <a:off x="6705600" y="4800600"/>
          <a:ext cx="15494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8" name="Equation" r:id="rId3" imgW="748975" imgH="203112" progId="Equation.DSMT4">
                  <p:embed/>
                </p:oleObj>
              </mc:Choice>
              <mc:Fallback>
                <p:oleObj name="Equation" r:id="rId3" imgW="748975" imgH="203112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800600"/>
                        <a:ext cx="1549400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Connector 15"/>
          <p:cNvCxnSpPr/>
          <p:nvPr/>
        </p:nvCxnSpPr>
        <p:spPr>
          <a:xfrm>
            <a:off x="3048000" y="1752600"/>
            <a:ext cx="4114800" cy="2590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514600" y="2362200"/>
            <a:ext cx="4114800" cy="25908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6183313" y="5410200"/>
          <a:ext cx="16795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9" name="Equation" r:id="rId5" imgW="812447" imgH="203112" progId="Equation.DSMT4">
                  <p:embed/>
                </p:oleObj>
              </mc:Choice>
              <mc:Fallback>
                <p:oleObj name="Equation" r:id="rId5" imgW="812447" imgH="203112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3313" y="5410200"/>
                        <a:ext cx="1679575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Straight Arrow Connector 18"/>
          <p:cNvCxnSpPr/>
          <p:nvPr/>
        </p:nvCxnSpPr>
        <p:spPr>
          <a:xfrm rot="5400000" flipH="1" flipV="1">
            <a:off x="2247900" y="2095500"/>
            <a:ext cx="1295400" cy="914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2547938" y="2249488"/>
          <a:ext cx="2635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0" name="Equation" r:id="rId7" imgW="126780" imgH="164814" progId="Equation.DSMT4">
                  <p:embed/>
                </p:oleObj>
              </mc:Choice>
              <mc:Fallback>
                <p:oleObj name="Equation" r:id="rId7" imgW="126780" imgH="164814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2249488"/>
                        <a:ext cx="2635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/>
          <p:cNvGraphicFramePr>
            <a:graphicFrameLocks noChangeAspect="1"/>
          </p:cNvGraphicFramePr>
          <p:nvPr/>
        </p:nvGraphicFramePr>
        <p:xfrm>
          <a:off x="7313613" y="4149725"/>
          <a:ext cx="149701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1" name="Equation" r:id="rId9" imgW="723586" imgH="203112" progId="Equation.DSMT4">
                  <p:embed/>
                </p:oleObj>
              </mc:Choice>
              <mc:Fallback>
                <p:oleObj name="Equation" r:id="rId9" imgW="723586" imgH="203112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3613" y="4149725"/>
                        <a:ext cx="1497012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Donut 21"/>
          <p:cNvSpPr/>
          <p:nvPr/>
        </p:nvSpPr>
        <p:spPr>
          <a:xfrm>
            <a:off x="4572000" y="2667000"/>
            <a:ext cx="457200" cy="4572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Donut 22"/>
          <p:cNvSpPr/>
          <p:nvPr/>
        </p:nvSpPr>
        <p:spPr>
          <a:xfrm>
            <a:off x="5334000" y="3124200"/>
            <a:ext cx="457200" cy="4572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Donut 23"/>
          <p:cNvSpPr/>
          <p:nvPr/>
        </p:nvSpPr>
        <p:spPr>
          <a:xfrm>
            <a:off x="4724400" y="4648200"/>
            <a:ext cx="457200" cy="4572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ight Triangle 31"/>
          <p:cNvSpPr/>
          <p:nvPr/>
        </p:nvSpPr>
        <p:spPr>
          <a:xfrm>
            <a:off x="2057400" y="2971800"/>
            <a:ext cx="4114800" cy="2590800"/>
          </a:xfrm>
          <a:prstGeom prst="rtTriangle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Triangle 32"/>
          <p:cNvSpPr/>
          <p:nvPr/>
        </p:nvSpPr>
        <p:spPr>
          <a:xfrm rot="10800000">
            <a:off x="3048000" y="1752600"/>
            <a:ext cx="4114800" cy="2590800"/>
          </a:xfrm>
          <a:prstGeom prst="rtTriangle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151" name="Object 7"/>
          <p:cNvGraphicFramePr>
            <a:graphicFrameLocks noChangeAspect="1"/>
          </p:cNvGraphicFramePr>
          <p:nvPr/>
        </p:nvGraphicFramePr>
        <p:xfrm>
          <a:off x="2106613" y="4989513"/>
          <a:ext cx="18891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2" name="Equation" r:id="rId11" imgW="914400" imgH="241300" progId="Equation.DSMT4">
                  <p:embed/>
                </p:oleObj>
              </mc:Choice>
              <mc:Fallback>
                <p:oleObj name="Equation" r:id="rId11" imgW="914400" imgH="24130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4989513"/>
                        <a:ext cx="1889125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8"/>
          <p:cNvGraphicFramePr>
            <a:graphicFrameLocks noChangeAspect="1"/>
          </p:cNvGraphicFramePr>
          <p:nvPr/>
        </p:nvGraphicFramePr>
        <p:xfrm>
          <a:off x="5410200" y="1789113"/>
          <a:ext cx="16811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3" name="Equation" r:id="rId13" imgW="812447" imgH="241195" progId="Equation.DSMT4">
                  <p:embed/>
                </p:oleObj>
              </mc:Choice>
              <mc:Fallback>
                <p:oleObj name="Equation" r:id="rId13" imgW="812447" imgH="241195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789113"/>
                        <a:ext cx="1681163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9"/>
          <p:cNvGraphicFramePr>
            <a:graphicFrameLocks noChangeAspect="1"/>
          </p:cNvGraphicFramePr>
          <p:nvPr/>
        </p:nvGraphicFramePr>
        <p:xfrm>
          <a:off x="6223000" y="2336800"/>
          <a:ext cx="8937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4" name="Equation" r:id="rId15" imgW="431613" imgH="228501" progId="Equation.DSMT4">
                  <p:embed/>
                </p:oleObj>
              </mc:Choice>
              <mc:Fallback>
                <p:oleObj name="Equation" r:id="rId15" imgW="431613" imgH="228501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2336800"/>
                        <a:ext cx="893763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4" name="Object 10"/>
          <p:cNvGraphicFramePr>
            <a:graphicFrameLocks noChangeAspect="1"/>
          </p:cNvGraphicFramePr>
          <p:nvPr/>
        </p:nvGraphicFramePr>
        <p:xfrm>
          <a:off x="2133600" y="4572000"/>
          <a:ext cx="107791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5" name="Equation" r:id="rId17" imgW="520700" imgH="228600" progId="Equation.DSMT4">
                  <p:embed/>
                </p:oleObj>
              </mc:Choice>
              <mc:Fallback>
                <p:oleObj name="Equation" r:id="rId17" imgW="520700" imgH="22860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572000"/>
                        <a:ext cx="1077913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5" name="Object 11"/>
          <p:cNvGraphicFramePr>
            <a:graphicFrameLocks noChangeAspect="1"/>
          </p:cNvGraphicFramePr>
          <p:nvPr/>
        </p:nvGraphicFramePr>
        <p:xfrm>
          <a:off x="304800" y="1905000"/>
          <a:ext cx="210026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6" name="Equation" r:id="rId19" imgW="1016000" imgH="279400" progId="Equation.DSMT4">
                  <p:embed/>
                </p:oleObj>
              </mc:Choice>
              <mc:Fallback>
                <p:oleObj name="Equation" r:id="rId19" imgW="1016000" imgH="27940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905000"/>
                        <a:ext cx="2100263" cy="5810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" name="Curved Connector 39"/>
          <p:cNvCxnSpPr/>
          <p:nvPr/>
        </p:nvCxnSpPr>
        <p:spPr>
          <a:xfrm rot="10800000">
            <a:off x="2438400" y="2133600"/>
            <a:ext cx="3962400" cy="2286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5" name="Curved Connector 44"/>
          <p:cNvCxnSpPr/>
          <p:nvPr/>
        </p:nvCxnSpPr>
        <p:spPr>
          <a:xfrm rot="16200000" flipV="1">
            <a:off x="1066800" y="2971800"/>
            <a:ext cx="2438400" cy="15240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Maximize the margin over the training samples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minimize this criterion</a:t>
            </a: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2743200" y="1828800"/>
          <a:ext cx="3725863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Equation" r:id="rId3" imgW="1803400" imgH="736600" progId="Equation.DSMT4">
                  <p:embed/>
                </p:oleObj>
              </mc:Choice>
              <mc:Fallback>
                <p:oleObj name="Equation" r:id="rId3" imgW="1803400" imgH="7366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828800"/>
                        <a:ext cx="3725863" cy="15303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2743200" y="4291013"/>
          <a:ext cx="3725863" cy="142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Equation" r:id="rId5" imgW="1803400" imgH="685800" progId="Equation.DSMT4">
                  <p:embed/>
                </p:oleObj>
              </mc:Choice>
              <mc:Fallback>
                <p:oleObj name="Equation" r:id="rId5" imgW="1803400" imgH="6858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291013"/>
                        <a:ext cx="3725863" cy="14239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General form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 close-form solution!</a:t>
            </a:r>
          </a:p>
          <a:p>
            <a:r>
              <a:rPr lang="en-US" dirty="0"/>
              <a:t>Many iterative methods are available</a:t>
            </a:r>
          </a:p>
          <a:p>
            <a:pPr lvl="1"/>
            <a:r>
              <a:rPr lang="en-US" dirty="0"/>
              <a:t>Interior-point</a:t>
            </a:r>
          </a:p>
          <a:p>
            <a:pPr lvl="1"/>
            <a:r>
              <a:rPr lang="en-US" dirty="0"/>
              <a:t>Active-set</a:t>
            </a:r>
          </a:p>
          <a:p>
            <a:pPr lvl="1"/>
            <a:r>
              <a:rPr lang="en-US" dirty="0"/>
              <a:t>Trust-region-reflective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2646363" y="1676400"/>
          <a:ext cx="3568700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5" name="Equation" r:id="rId3" imgW="1726451" imgH="634725" progId="Equation.DSMT4">
                  <p:embed/>
                </p:oleObj>
              </mc:Choice>
              <mc:Fallback>
                <p:oleObj name="Equation" r:id="rId3" imgW="1726451" imgH="634725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363" y="1676400"/>
                        <a:ext cx="3568700" cy="1319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4" name="Object 6"/>
          <p:cNvGraphicFramePr>
            <a:graphicFrameLocks noChangeAspect="1"/>
          </p:cNvGraphicFramePr>
          <p:nvPr/>
        </p:nvGraphicFramePr>
        <p:xfrm>
          <a:off x="2209800" y="1804988"/>
          <a:ext cx="5327650" cy="13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7" name="Equation" r:id="rId3" imgW="2578100" imgH="635000" progId="Equation.DSMT4">
                  <p:embed/>
                </p:oleObj>
              </mc:Choice>
              <mc:Fallback>
                <p:oleObj name="Equation" r:id="rId3" imgW="2578100" imgH="6350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804988"/>
                        <a:ext cx="5327650" cy="1319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with MATLAB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Solve via </a:t>
            </a:r>
            <a:r>
              <a:rPr lang="en-US" dirty="0" err="1">
                <a:solidFill>
                  <a:srgbClr val="00B0F0"/>
                </a:solidFill>
              </a:rPr>
              <a:t>quadprog</a:t>
            </a:r>
            <a:endParaRPr lang="en-US" dirty="0">
              <a:solidFill>
                <a:srgbClr val="00B0F0"/>
              </a:solidFill>
            </a:endParaRPr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1752600" y="3581400"/>
          <a:ext cx="3725863" cy="142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8" name="Equation" r:id="rId5" imgW="1803400" imgH="685800" progId="Equation.DSMT4">
                  <p:embed/>
                </p:oleObj>
              </mc:Choice>
              <mc:Fallback>
                <p:oleObj name="Equation" r:id="rId5" imgW="1803400" imgH="6858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581400"/>
                        <a:ext cx="3725863" cy="14239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6629400" y="3505200"/>
          <a:ext cx="787400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9" name="Equation" r:id="rId7" imgW="380835" imgH="863225" progId="Equation.DSMT4">
                  <p:embed/>
                </p:oleObj>
              </mc:Choice>
              <mc:Fallback>
                <p:oleObj name="Equation" r:id="rId7" imgW="380835" imgH="863225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505200"/>
                        <a:ext cx="787400" cy="179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Multiply 8"/>
          <p:cNvSpPr/>
          <p:nvPr/>
        </p:nvSpPr>
        <p:spPr>
          <a:xfrm>
            <a:off x="3733800" y="2514600"/>
            <a:ext cx="4343400" cy="609600"/>
          </a:xfrm>
          <a:prstGeom prst="mathMultiply">
            <a:avLst>
              <a:gd name="adj1" fmla="val 12611"/>
            </a:avLst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773" name="Object 5"/>
          <p:cNvGraphicFramePr>
            <a:graphicFrameLocks noChangeAspect="1"/>
          </p:cNvGraphicFramePr>
          <p:nvPr/>
        </p:nvGraphicFramePr>
        <p:xfrm>
          <a:off x="7512050" y="3479800"/>
          <a:ext cx="102235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" name="Equation" r:id="rId9" imgW="495085" imgH="888614" progId="Equation.DSMT4">
                  <p:embed/>
                </p:oleObj>
              </mc:Choice>
              <mc:Fallback>
                <p:oleObj name="Equation" r:id="rId9" imgW="495085" imgH="888614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050" y="3479800"/>
                        <a:ext cx="1022350" cy="18462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Donut 10"/>
          <p:cNvSpPr/>
          <p:nvPr/>
        </p:nvSpPr>
        <p:spPr>
          <a:xfrm>
            <a:off x="3733800" y="4343400"/>
            <a:ext cx="838200" cy="7620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</a:t>
            </a:r>
            <a:r>
              <a:rPr lang="en-US" dirty="0" err="1"/>
              <a:t>Lagrangian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Generalize for both inequality and equality constraints by </a:t>
            </a:r>
            <a:r>
              <a:rPr lang="en-US" dirty="0" err="1">
                <a:solidFill>
                  <a:srgbClr val="00B0F0"/>
                </a:solidFill>
              </a:rPr>
              <a:t>Karush</a:t>
            </a:r>
            <a:r>
              <a:rPr lang="en-US" dirty="0">
                <a:solidFill>
                  <a:srgbClr val="00B0F0"/>
                </a:solidFill>
              </a:rPr>
              <a:t>-Kuhn-Tucker (KKT) </a:t>
            </a:r>
            <a:r>
              <a:rPr lang="en-US" dirty="0"/>
              <a:t>condition</a:t>
            </a:r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1612900" y="2438400"/>
          <a:ext cx="572293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1" name="Equation" r:id="rId3" imgW="2768600" imgH="419100" progId="Equation.DSMT4">
                  <p:embed/>
                </p:oleObj>
              </mc:Choice>
              <mc:Fallback>
                <p:oleObj name="Equation" r:id="rId3" imgW="2768600" imgH="4191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2438400"/>
                        <a:ext cx="5722938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2633663" y="3557587"/>
          <a:ext cx="38322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2" name="Equation" r:id="rId5" imgW="1854200" imgH="304800" progId="Equation.DSMT4">
                  <p:embed/>
                </p:oleObj>
              </mc:Choice>
              <mc:Fallback>
                <p:oleObj name="Equation" r:id="rId5" imgW="1854200" imgH="3048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663" y="3557587"/>
                        <a:ext cx="3832225" cy="633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3821113" y="4627563"/>
          <a:ext cx="1522412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3" name="Equation" r:id="rId7" imgW="736600" imgH="228600" progId="Equation.DSMT4">
                  <p:embed/>
                </p:oleObj>
              </mc:Choice>
              <mc:Fallback>
                <p:oleObj name="Equation" r:id="rId7" imgW="736600" imgH="2286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1113" y="4627563"/>
                        <a:ext cx="1522412" cy="47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Differentiating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Substituting into the </a:t>
            </a:r>
            <a:r>
              <a:rPr lang="en-US" dirty="0" err="1"/>
              <a:t>Lagrangian</a:t>
            </a:r>
            <a:endParaRPr lang="en-US" dirty="0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1995488" y="1828800"/>
          <a:ext cx="51562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Equation" r:id="rId3" imgW="2933700" imgH="863600" progId="Equation.DSMT4">
                  <p:embed/>
                </p:oleObj>
              </mc:Choice>
              <mc:Fallback>
                <p:oleObj name="Equation" r:id="rId3" imgW="2933700" imgH="8636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488" y="1828800"/>
                        <a:ext cx="5156200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1762125" y="4038600"/>
          <a:ext cx="5811838" cy="217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Equation" r:id="rId5" imgW="3543300" imgH="1320800" progId="Equation.DSMT4">
                  <p:embed/>
                </p:oleObj>
              </mc:Choice>
              <mc:Fallback>
                <p:oleObj name="Equation" r:id="rId5" imgW="3543300" imgH="13208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4038600"/>
                        <a:ext cx="5811838" cy="2176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Optimization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Dual problem </a:t>
            </a:r>
            <a:r>
              <a:rPr lang="en-US" dirty="0">
                <a:sym typeface="Wingdings" pitchFamily="2" charset="2"/>
              </a:rPr>
              <a:t> Quadratic problem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The solution:</a:t>
            </a:r>
            <a:endParaRPr lang="en-US" dirty="0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062163" y="1854200"/>
          <a:ext cx="5275262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0" name="Equation" r:id="rId4" imgW="2552700" imgH="787400" progId="Equation.DSMT4">
                  <p:embed/>
                </p:oleObj>
              </mc:Choice>
              <mc:Fallback>
                <p:oleObj name="Equation" r:id="rId4" imgW="2552700" imgH="7874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1854200"/>
                        <a:ext cx="5275262" cy="16367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484187" y="4191000"/>
          <a:ext cx="8126413" cy="170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name="Equation" r:id="rId6" imgW="4622800" imgH="965200" progId="Equation.DSMT4">
                  <p:embed/>
                </p:oleObj>
              </mc:Choice>
              <mc:Fallback>
                <p:oleObj name="Equation" r:id="rId6" imgW="4622800" imgH="965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7" y="4191000"/>
                        <a:ext cx="8126413" cy="17033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nut 6"/>
          <p:cNvSpPr/>
          <p:nvPr/>
        </p:nvSpPr>
        <p:spPr>
          <a:xfrm>
            <a:off x="6553200" y="1905000"/>
            <a:ext cx="838200" cy="7620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22" name="Object 6"/>
          <p:cNvGraphicFramePr>
            <a:graphicFrameLocks noChangeAspect="1"/>
          </p:cNvGraphicFramePr>
          <p:nvPr/>
        </p:nvGraphicFramePr>
        <p:xfrm>
          <a:off x="2438400" y="1804987"/>
          <a:ext cx="5327650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5" name="Equation" r:id="rId3" imgW="2578100" imgH="635000" progId="Equation.DSMT4">
                  <p:embed/>
                </p:oleObj>
              </mc:Choice>
              <mc:Fallback>
                <p:oleObj name="Equation" r:id="rId3" imgW="2578100" imgH="63500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804987"/>
                        <a:ext cx="5327650" cy="1319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QP of dual problem with MATLAB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Solve via </a:t>
            </a:r>
            <a:r>
              <a:rPr lang="en-US" dirty="0" err="1">
                <a:solidFill>
                  <a:srgbClr val="00B0F0"/>
                </a:solidFill>
              </a:rPr>
              <a:t>quadprog</a:t>
            </a:r>
            <a:endParaRPr lang="en-US" dirty="0">
              <a:solidFill>
                <a:srgbClr val="00B0F0"/>
              </a:solidFill>
            </a:endParaRP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6524625" y="3148013"/>
          <a:ext cx="996950" cy="279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6" name="Equation" r:id="rId5" imgW="482600" imgH="1346200" progId="Equation.DSMT4">
                  <p:embed/>
                </p:oleObj>
              </mc:Choice>
              <mc:Fallback>
                <p:oleObj name="Equation" r:id="rId5" imgW="482600" imgH="134620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25" y="3148013"/>
                        <a:ext cx="996950" cy="2795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927100" y="3581400"/>
          <a:ext cx="5276850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7" name="Equation" r:id="rId7" imgW="2552700" imgH="787400" progId="Equation.DSMT4">
                  <p:embed/>
                </p:oleObj>
              </mc:Choice>
              <mc:Fallback>
                <p:oleObj name="Equation" r:id="rId7" imgW="2552700" imgH="78740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3581400"/>
                        <a:ext cx="5276850" cy="16367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Donut 9"/>
          <p:cNvSpPr/>
          <p:nvPr/>
        </p:nvSpPr>
        <p:spPr>
          <a:xfrm>
            <a:off x="838200" y="3657600"/>
            <a:ext cx="838200" cy="7620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393700" y="2743200"/>
          <a:ext cx="18367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8" name="Equation" r:id="rId9" imgW="888614" imgH="203112" progId="Equation.DSMT4">
                  <p:embed/>
                </p:oleObj>
              </mc:Choice>
              <mc:Fallback>
                <p:oleObj name="Equation" r:id="rId9" imgW="888614" imgH="203112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2743200"/>
                        <a:ext cx="1836738" cy="4222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Up Arrow 14"/>
          <p:cNvSpPr/>
          <p:nvPr/>
        </p:nvSpPr>
        <p:spPr>
          <a:xfrm>
            <a:off x="1066800" y="3200400"/>
            <a:ext cx="381000" cy="304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824" name="Object 8"/>
          <p:cNvGraphicFramePr>
            <a:graphicFrameLocks noChangeAspect="1"/>
          </p:cNvGraphicFramePr>
          <p:nvPr/>
        </p:nvGraphicFramePr>
        <p:xfrm>
          <a:off x="7602538" y="3095625"/>
          <a:ext cx="1389062" cy="284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9" name="Equation" r:id="rId11" imgW="673100" imgH="1371600" progId="Equation.DSMT4">
                  <p:embed/>
                </p:oleObj>
              </mc:Choice>
              <mc:Fallback>
                <p:oleObj name="Equation" r:id="rId11" imgW="673100" imgH="1371600" progId="Equation.DSMT4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2538" y="3095625"/>
                        <a:ext cx="1389062" cy="28479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Only SVs are kept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2326881" y="3769119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133600" y="3732212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34200" y="35168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7374" y="12192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5105400" y="2514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410200" y="3200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648200" y="2743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429000" y="4114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8100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006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2057400" y="2971800"/>
            <a:ext cx="4114800" cy="2590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5" name="Object 2"/>
          <p:cNvGraphicFramePr>
            <a:graphicFrameLocks noChangeAspect="1"/>
          </p:cNvGraphicFramePr>
          <p:nvPr/>
        </p:nvGraphicFramePr>
        <p:xfrm>
          <a:off x="6705600" y="4800600"/>
          <a:ext cx="15494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9" name="Equation" r:id="rId3" imgW="748975" imgH="203112" progId="Equation.DSMT4">
                  <p:embed/>
                </p:oleObj>
              </mc:Choice>
              <mc:Fallback>
                <p:oleObj name="Equation" r:id="rId3" imgW="748975" imgH="203112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800600"/>
                        <a:ext cx="1549400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Connector 15"/>
          <p:cNvCxnSpPr/>
          <p:nvPr/>
        </p:nvCxnSpPr>
        <p:spPr>
          <a:xfrm>
            <a:off x="3048000" y="1752600"/>
            <a:ext cx="4114800" cy="2590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514600" y="2362200"/>
            <a:ext cx="4114800" cy="25908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6183313" y="5410200"/>
          <a:ext cx="16795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0" name="Equation" r:id="rId5" imgW="812447" imgH="203112" progId="Equation.DSMT4">
                  <p:embed/>
                </p:oleObj>
              </mc:Choice>
              <mc:Fallback>
                <p:oleObj name="Equation" r:id="rId5" imgW="812447" imgH="203112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3313" y="5410200"/>
                        <a:ext cx="1679575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Straight Arrow Connector 19"/>
          <p:cNvCxnSpPr/>
          <p:nvPr/>
        </p:nvCxnSpPr>
        <p:spPr>
          <a:xfrm rot="5400000" flipH="1" flipV="1">
            <a:off x="2247900" y="2095500"/>
            <a:ext cx="1295400" cy="9144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7313613" y="4149725"/>
          <a:ext cx="149701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1" name="Equation" r:id="rId7" imgW="723586" imgH="203112" progId="Equation.DSMT4">
                  <p:embed/>
                </p:oleObj>
              </mc:Choice>
              <mc:Fallback>
                <p:oleObj name="Equation" r:id="rId7" imgW="723586" imgH="203112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3613" y="4149725"/>
                        <a:ext cx="1497012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Donut 26"/>
          <p:cNvSpPr/>
          <p:nvPr/>
        </p:nvSpPr>
        <p:spPr>
          <a:xfrm>
            <a:off x="4572000" y="2667000"/>
            <a:ext cx="457200" cy="4572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Donut 27"/>
          <p:cNvSpPr/>
          <p:nvPr/>
        </p:nvSpPr>
        <p:spPr>
          <a:xfrm>
            <a:off x="5334000" y="3124200"/>
            <a:ext cx="457200" cy="4572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Donut 28"/>
          <p:cNvSpPr/>
          <p:nvPr/>
        </p:nvSpPr>
        <p:spPr>
          <a:xfrm>
            <a:off x="4724400" y="4648200"/>
            <a:ext cx="457200" cy="4572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0" y="2362200"/>
            <a:ext cx="167686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Support Vectors</a:t>
            </a:r>
          </a:p>
        </p:txBody>
      </p:sp>
      <p:cxnSp>
        <p:nvCxnSpPr>
          <p:cNvPr id="32" name="Elbow Connector 31"/>
          <p:cNvCxnSpPr>
            <a:stCxn id="30" idx="1"/>
            <a:endCxn id="27" idx="6"/>
          </p:cNvCxnSpPr>
          <p:nvPr/>
        </p:nvCxnSpPr>
        <p:spPr>
          <a:xfrm rot="10800000" flipV="1">
            <a:off x="5029200" y="2546866"/>
            <a:ext cx="914400" cy="34873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Shape 36"/>
          <p:cNvCxnSpPr>
            <a:stCxn id="30" idx="2"/>
            <a:endCxn id="29" idx="6"/>
          </p:cNvCxnSpPr>
          <p:nvPr/>
        </p:nvCxnSpPr>
        <p:spPr>
          <a:xfrm rot="5400000">
            <a:off x="4909184" y="3003949"/>
            <a:ext cx="2145268" cy="16004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hape 38"/>
          <p:cNvCxnSpPr>
            <a:stCxn id="30" idx="2"/>
            <a:endCxn id="28" idx="6"/>
          </p:cNvCxnSpPr>
          <p:nvPr/>
        </p:nvCxnSpPr>
        <p:spPr>
          <a:xfrm rot="5400000">
            <a:off x="5975984" y="2546749"/>
            <a:ext cx="621268" cy="9908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562600" y="1371600"/>
            <a:ext cx="242386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Support Vector Machine</a:t>
            </a:r>
          </a:p>
        </p:txBody>
      </p:sp>
      <p:sp>
        <p:nvSpPr>
          <p:cNvPr id="41" name="Up Arrow 40"/>
          <p:cNvSpPr/>
          <p:nvPr/>
        </p:nvSpPr>
        <p:spPr>
          <a:xfrm>
            <a:off x="6553200" y="1828800"/>
            <a:ext cx="381000" cy="457200"/>
          </a:xfrm>
          <a:prstGeom prst="up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411163" y="4114800"/>
          <a:ext cx="18748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2" name="Equation" r:id="rId9" imgW="1066800" imgH="228600" progId="Equation.DSMT4">
                  <p:embed/>
                </p:oleObj>
              </mc:Choice>
              <mc:Fallback>
                <p:oleObj name="Equation" r:id="rId9" imgW="1066800" imgH="22860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3" y="4114800"/>
                        <a:ext cx="18748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457200" y="3357563"/>
          <a:ext cx="16510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3" name="Equation" r:id="rId11" imgW="939392" imgH="342751" progId="Equation.DSMT4">
                  <p:embed/>
                </p:oleObj>
              </mc:Choice>
              <mc:Fallback>
                <p:oleObj name="Equation" r:id="rId11" imgW="939392" imgH="342751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357563"/>
                        <a:ext cx="16510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457200" y="4953000"/>
          <a:ext cx="2633662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4" name="Equation" r:id="rId13" imgW="1497950" imgH="710891" progId="Equation.DSMT4">
                  <p:embed/>
                </p:oleObj>
              </mc:Choice>
              <mc:Fallback>
                <p:oleObj name="Equation" r:id="rId13" imgW="1497950" imgH="710891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953000"/>
                        <a:ext cx="2633662" cy="12557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2" name="Straight Arrow Connector 41"/>
          <p:cNvCxnSpPr/>
          <p:nvPr/>
        </p:nvCxnSpPr>
        <p:spPr>
          <a:xfrm>
            <a:off x="609600" y="3733800"/>
            <a:ext cx="685800" cy="4572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Down Arrow 42"/>
          <p:cNvSpPr/>
          <p:nvPr/>
        </p:nvSpPr>
        <p:spPr>
          <a:xfrm>
            <a:off x="609600" y="4572000"/>
            <a:ext cx="3810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804" name="Object 12"/>
          <p:cNvGraphicFramePr>
            <a:graphicFrameLocks noChangeAspect="1"/>
          </p:cNvGraphicFramePr>
          <p:nvPr/>
        </p:nvGraphicFramePr>
        <p:xfrm>
          <a:off x="3200400" y="4333875"/>
          <a:ext cx="668337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5" name="Equation" r:id="rId15" imgW="380670" imgH="177646" progId="Equation.DSMT4">
                  <p:embed/>
                </p:oleObj>
              </mc:Choice>
              <mc:Fallback>
                <p:oleObj name="Equation" r:id="rId15" imgW="380670" imgH="177646" progId="Equation.DSMT4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33875"/>
                        <a:ext cx="668337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/>
          <p:cNvGraphicFramePr>
            <a:graphicFrameLocks noChangeAspect="1"/>
          </p:cNvGraphicFramePr>
          <p:nvPr/>
        </p:nvGraphicFramePr>
        <p:xfrm>
          <a:off x="3581400" y="4953000"/>
          <a:ext cx="66833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6" name="Equation" r:id="rId17" imgW="380670" imgH="177646" progId="Equation.DSMT4">
                  <p:embed/>
                </p:oleObj>
              </mc:Choice>
              <mc:Fallback>
                <p:oleObj name="Equation" r:id="rId17" imgW="380670" imgH="177646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953000"/>
                        <a:ext cx="66833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14"/>
          <p:cNvGraphicFramePr>
            <a:graphicFrameLocks noChangeAspect="1"/>
          </p:cNvGraphicFramePr>
          <p:nvPr/>
        </p:nvGraphicFramePr>
        <p:xfrm>
          <a:off x="4953000" y="2286000"/>
          <a:ext cx="66833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7" name="Equation" r:id="rId18" imgW="380670" imgH="177646" progId="Equation.DSMT4">
                  <p:embed/>
                </p:oleObj>
              </mc:Choice>
              <mc:Fallback>
                <p:oleObj name="Equation" r:id="rId18" imgW="380670" imgH="177646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286000"/>
                        <a:ext cx="66833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40" grpId="0" animBg="1"/>
      <p:bldP spid="41" grpId="0" animBg="1"/>
      <p:bldP spid="4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Margin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Noisy data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rot="5400000" flipH="1" flipV="1">
            <a:off x="2660256" y="3616719"/>
            <a:ext cx="4343400" cy="55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466975" y="3579812"/>
            <a:ext cx="48006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267575" y="33644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749" y="10668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5438775" y="2362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743575" y="30480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981575" y="25908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62375" y="3962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143375" y="4572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133975" y="45720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2390775" y="2819400"/>
            <a:ext cx="4114800" cy="2590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5" name="Object 2"/>
          <p:cNvGraphicFramePr>
            <a:graphicFrameLocks noChangeAspect="1"/>
          </p:cNvGraphicFramePr>
          <p:nvPr/>
        </p:nvGraphicFramePr>
        <p:xfrm>
          <a:off x="7038975" y="4648200"/>
          <a:ext cx="15494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2" name="Equation" r:id="rId3" imgW="748975" imgH="203112" progId="Equation.DSMT4">
                  <p:embed/>
                </p:oleObj>
              </mc:Choice>
              <mc:Fallback>
                <p:oleObj name="Equation" r:id="rId3" imgW="748975" imgH="203112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975" y="4648200"/>
                        <a:ext cx="1549400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Connector 15"/>
          <p:cNvCxnSpPr/>
          <p:nvPr/>
        </p:nvCxnSpPr>
        <p:spPr>
          <a:xfrm>
            <a:off x="3381375" y="1600200"/>
            <a:ext cx="4114800" cy="2590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847975" y="2209800"/>
            <a:ext cx="4114800" cy="25908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6516688" y="5257800"/>
          <a:ext cx="16795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3" name="Equation" r:id="rId5" imgW="812447" imgH="203112" progId="Equation.DSMT4">
                  <p:embed/>
                </p:oleObj>
              </mc:Choice>
              <mc:Fallback>
                <p:oleObj name="Equation" r:id="rId5" imgW="812447" imgH="203112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5257800"/>
                        <a:ext cx="1679575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7646988" y="3997325"/>
          <a:ext cx="149701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4" name="Equation" r:id="rId7" imgW="723586" imgH="203112" progId="Equation.DSMT4">
                  <p:embed/>
                </p:oleObj>
              </mc:Choice>
              <mc:Fallback>
                <p:oleObj name="Equation" r:id="rId7" imgW="723586" imgH="203112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6988" y="3997325"/>
                        <a:ext cx="1497012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Oval 37"/>
          <p:cNvSpPr/>
          <p:nvPr/>
        </p:nvSpPr>
        <p:spPr>
          <a:xfrm>
            <a:off x="6657975" y="29718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2771775" y="4038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 rot="5400000" flipH="1" flipV="1">
            <a:off x="5362575" y="3429000"/>
            <a:ext cx="1752600" cy="1143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5400000">
            <a:off x="2574738" y="2483037"/>
            <a:ext cx="2025837" cy="132696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35851" name="Object 11"/>
          <p:cNvGraphicFramePr>
            <a:graphicFrameLocks noChangeAspect="1"/>
          </p:cNvGraphicFramePr>
          <p:nvPr/>
        </p:nvGraphicFramePr>
        <p:xfrm>
          <a:off x="3381375" y="2743200"/>
          <a:ext cx="26828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5" name="Equation" r:id="rId9" imgW="152334" imgH="228501" progId="Equation.DSMT4">
                  <p:embed/>
                </p:oleObj>
              </mc:Choice>
              <mc:Fallback>
                <p:oleObj name="Equation" r:id="rId9" imgW="152334" imgH="228501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2743200"/>
                        <a:ext cx="26828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12"/>
          <p:cNvGraphicFramePr>
            <a:graphicFrameLocks noChangeAspect="1"/>
          </p:cNvGraphicFramePr>
          <p:nvPr/>
        </p:nvGraphicFramePr>
        <p:xfrm>
          <a:off x="6276975" y="3862387"/>
          <a:ext cx="29051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6" name="Equation" r:id="rId11" imgW="165028" imgH="228501" progId="Equation.DSMT4">
                  <p:embed/>
                </p:oleObj>
              </mc:Choice>
              <mc:Fallback>
                <p:oleObj name="Equation" r:id="rId11" imgW="165028" imgH="228501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6975" y="3862387"/>
                        <a:ext cx="290512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3" name="Object 13"/>
          <p:cNvGraphicFramePr>
            <a:graphicFrameLocks noChangeAspect="1"/>
          </p:cNvGraphicFramePr>
          <p:nvPr/>
        </p:nvGraphicFramePr>
        <p:xfrm>
          <a:off x="533400" y="3859213"/>
          <a:ext cx="162877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67" name="Equation" r:id="rId13" imgW="787058" imgH="342751" progId="Equation.DSMT4">
                  <p:embed/>
                </p:oleObj>
              </mc:Choice>
              <mc:Fallback>
                <p:oleObj name="Equation" r:id="rId13" imgW="787058" imgH="342751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59213"/>
                        <a:ext cx="1628775" cy="7127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Margin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5181600"/>
            <a:ext cx="8229600" cy="975360"/>
          </a:xfrm>
        </p:spPr>
        <p:txBody>
          <a:bodyPr/>
          <a:lstStyle/>
          <a:p>
            <a:r>
              <a:rPr lang="en-US" dirty="0"/>
              <a:t>C is the tradeoff parameter </a:t>
            </a:r>
          </a:p>
          <a:p>
            <a:pPr lvl="1"/>
            <a:r>
              <a:rPr lang="en-US" dirty="0"/>
              <a:t>Can be viewed as a way to control </a:t>
            </a:r>
            <a:r>
              <a:rPr lang="en-US" dirty="0">
                <a:solidFill>
                  <a:srgbClr val="FF0000"/>
                </a:solidFill>
              </a:rPr>
              <a:t>over-fitting</a:t>
            </a:r>
            <a:r>
              <a:rPr lang="en-US" dirty="0"/>
              <a:t>.</a:t>
            </a:r>
          </a:p>
        </p:txBody>
      </p:sp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1981200" y="3657600"/>
          <a:ext cx="5299075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3" name="Equation" r:id="rId3" imgW="2565400" imgH="711200" progId="Equation.DSMT4">
                  <p:embed/>
                </p:oleObj>
              </mc:Choice>
              <mc:Fallback>
                <p:oleObj name="Equation" r:id="rId3" imgW="2565400" imgH="7112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657600"/>
                        <a:ext cx="5299075" cy="14779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5638800" y="1600200"/>
          <a:ext cx="162877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4" name="Equation" r:id="rId5" imgW="787058" imgH="342751" progId="Equation.DSMT4">
                  <p:embed/>
                </p:oleObj>
              </mc:Choice>
              <mc:Fallback>
                <p:oleObj name="Equation" r:id="rId5" imgW="787058" imgH="342751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600200"/>
                        <a:ext cx="1628775" cy="7127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762000" y="1295400"/>
          <a:ext cx="3725863" cy="142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5" name="Equation" r:id="rId7" imgW="1803400" imgH="685800" progId="Equation.DSMT4">
                  <p:embed/>
                </p:oleObj>
              </mc:Choice>
              <mc:Fallback>
                <p:oleObj name="Equation" r:id="rId7" imgW="1803400" imgH="6858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295400"/>
                        <a:ext cx="3725863" cy="14239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ross 7"/>
          <p:cNvSpPr/>
          <p:nvPr/>
        </p:nvSpPr>
        <p:spPr>
          <a:xfrm>
            <a:off x="4800600" y="1676400"/>
            <a:ext cx="533400" cy="533400"/>
          </a:xfrm>
          <a:prstGeom prst="plus">
            <a:avLst>
              <a:gd name="adj" fmla="val 4027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4876800" y="2514600"/>
            <a:ext cx="381000" cy="99060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2754868"/>
            <a:ext cx="135299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Hard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362200"/>
            <a:ext cx="148309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Training error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Primal: Soft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Lagrange multipliers with KKT</a:t>
            </a:r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609600" y="4249737"/>
          <a:ext cx="8140700" cy="793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7" name="Equation" r:id="rId3" imgW="4318000" imgH="419100" progId="Equation.DSMT4">
                  <p:embed/>
                </p:oleObj>
              </mc:Choice>
              <mc:Fallback>
                <p:oleObj name="Equation" r:id="rId3" imgW="4318000" imgH="4191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249737"/>
                        <a:ext cx="8140700" cy="7933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4725988" y="5316537"/>
          <a:ext cx="1522412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8" name="Equation" r:id="rId5" imgW="736600" imgH="228600" progId="Equation.DSMT4">
                  <p:embed/>
                </p:oleObj>
              </mc:Choice>
              <mc:Fallback>
                <p:oleObj name="Equation" r:id="rId5" imgW="736600" imgH="2286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988" y="5316537"/>
                        <a:ext cx="1522412" cy="47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/>
          <p:cNvGraphicFramePr>
            <a:graphicFrameLocks noChangeAspect="1"/>
          </p:cNvGraphicFramePr>
          <p:nvPr/>
        </p:nvGraphicFramePr>
        <p:xfrm>
          <a:off x="2697163" y="5316537"/>
          <a:ext cx="1417637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9" name="Equation" r:id="rId7" imgW="685800" imgH="228600" progId="Equation.DSMT4">
                  <p:embed/>
                </p:oleObj>
              </mc:Choice>
              <mc:Fallback>
                <p:oleObj name="Equation" r:id="rId7" imgW="685800" imgH="22860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5316537"/>
                        <a:ext cx="1417637" cy="474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/>
          <p:cNvGraphicFramePr>
            <a:graphicFrameLocks noChangeAspect="1"/>
          </p:cNvGraphicFramePr>
          <p:nvPr/>
        </p:nvGraphicFramePr>
        <p:xfrm>
          <a:off x="2016125" y="1646237"/>
          <a:ext cx="5299075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70" name="Equation" r:id="rId9" imgW="2565400" imgH="711200" progId="Equation.DSMT4">
                  <p:embed/>
                </p:oleObj>
              </mc:Choice>
              <mc:Fallback>
                <p:oleObj name="Equation" r:id="rId9" imgW="2565400" imgH="71120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1646237"/>
                        <a:ext cx="5299075" cy="14779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Dual: Soft Margin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Differentiating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Substituting into the </a:t>
            </a:r>
            <a:r>
              <a:rPr lang="en-US" dirty="0" err="1"/>
              <a:t>Lagrangian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2239963" y="1686414"/>
          <a:ext cx="4770437" cy="195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3" name="Equation" r:id="rId3" imgW="3175000" imgH="1295400" progId="Equation.DSMT4">
                  <p:embed/>
                </p:oleObj>
              </mc:Choice>
              <mc:Fallback>
                <p:oleObj name="Equation" r:id="rId3" imgW="3175000" imgH="12954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1686414"/>
                        <a:ext cx="4770437" cy="1953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1162884" y="4038600"/>
          <a:ext cx="7447716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4" name="Equation" r:id="rId5" imgW="5930900" imgH="1752600" progId="Equation.DSMT4">
                  <p:embed/>
                </p:oleObj>
              </mc:Choice>
              <mc:Fallback>
                <p:oleObj name="Equation" r:id="rId5" imgW="5930900" imgH="17526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884" y="4038600"/>
                        <a:ext cx="7447716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99289" y="5791200"/>
            <a:ext cx="2587311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Same as hard margin</a:t>
            </a:r>
            <a:r>
              <a:rPr lang="en-US" dirty="0">
                <a:solidFill>
                  <a:srgbClr val="15FF42"/>
                </a:solidFill>
              </a:rPr>
              <a:t>!!!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???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Optimization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Dual problem </a:t>
            </a:r>
            <a:r>
              <a:rPr lang="en-US" dirty="0">
                <a:sym typeface="Wingdings" pitchFamily="2" charset="2"/>
              </a:rPr>
              <a:t> Quadratic problem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The solution:</a:t>
            </a:r>
            <a:endParaRPr lang="en-US" dirty="0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062163" y="1854200"/>
          <a:ext cx="5275262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6" name="Equation" r:id="rId4" imgW="2552700" imgH="787400" progId="Equation.DSMT4">
                  <p:embed/>
                </p:oleObj>
              </mc:Choice>
              <mc:Fallback>
                <p:oleObj name="Equation" r:id="rId4" imgW="2552700" imgH="7874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1854200"/>
                        <a:ext cx="5275262" cy="16367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484187" y="4191000"/>
          <a:ext cx="8126413" cy="170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7" name="Equation" r:id="rId6" imgW="4622800" imgH="965200" progId="Equation.DSMT4">
                  <p:embed/>
                </p:oleObj>
              </mc:Choice>
              <mc:Fallback>
                <p:oleObj name="Equation" r:id="rId6" imgW="4622800" imgH="965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7" y="4191000"/>
                        <a:ext cx="8126413" cy="17033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nut 6"/>
          <p:cNvSpPr/>
          <p:nvPr/>
        </p:nvSpPr>
        <p:spPr>
          <a:xfrm>
            <a:off x="6553200" y="1905000"/>
            <a:ext cx="838200" cy="7620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Donut 7"/>
          <p:cNvSpPr/>
          <p:nvPr/>
        </p:nvSpPr>
        <p:spPr>
          <a:xfrm>
            <a:off x="4495800" y="2667000"/>
            <a:ext cx="838200" cy="7620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22" name="Object 6"/>
          <p:cNvGraphicFramePr>
            <a:graphicFrameLocks noChangeAspect="1"/>
          </p:cNvGraphicFramePr>
          <p:nvPr/>
        </p:nvGraphicFramePr>
        <p:xfrm>
          <a:off x="2438400" y="1804987"/>
          <a:ext cx="5327650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7" name="Equation" r:id="rId3" imgW="2578100" imgH="635000" progId="Equation.DSMT4">
                  <p:embed/>
                </p:oleObj>
              </mc:Choice>
              <mc:Fallback>
                <p:oleObj name="Equation" r:id="rId3" imgW="2578100" imgH="6350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804987"/>
                        <a:ext cx="5327650" cy="1319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QP of Soft Margin with MATLAB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Solve via </a:t>
            </a:r>
            <a:r>
              <a:rPr lang="en-US" dirty="0" err="1">
                <a:solidFill>
                  <a:srgbClr val="00B0F0"/>
                </a:solidFill>
              </a:rPr>
              <a:t>quadprog</a:t>
            </a:r>
            <a:endParaRPr lang="en-US" dirty="0">
              <a:solidFill>
                <a:srgbClr val="00B0F0"/>
              </a:solidFill>
            </a:endParaRP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6524625" y="3148013"/>
          <a:ext cx="996950" cy="279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8" name="Equation" r:id="rId5" imgW="482600" imgH="1346200" progId="Equation.DSMT4">
                  <p:embed/>
                </p:oleObj>
              </mc:Choice>
              <mc:Fallback>
                <p:oleObj name="Equation" r:id="rId5" imgW="482600" imgH="134620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25" y="3148013"/>
                        <a:ext cx="996950" cy="2795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927100" y="3581400"/>
          <a:ext cx="5276850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9" name="Equation" r:id="rId7" imgW="2552700" imgH="787400" progId="Equation.DSMT4">
                  <p:embed/>
                </p:oleObj>
              </mc:Choice>
              <mc:Fallback>
                <p:oleObj name="Equation" r:id="rId7" imgW="2552700" imgH="78740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3581400"/>
                        <a:ext cx="5276850" cy="16367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Donut 9"/>
          <p:cNvSpPr/>
          <p:nvPr/>
        </p:nvSpPr>
        <p:spPr>
          <a:xfrm>
            <a:off x="838200" y="3657600"/>
            <a:ext cx="838200" cy="762000"/>
          </a:xfrm>
          <a:prstGeom prst="donut">
            <a:avLst>
              <a:gd name="adj" fmla="val 7742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393700" y="2743200"/>
          <a:ext cx="18367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0" name="Equation" r:id="rId9" imgW="888614" imgH="203112" progId="Equation.DSMT4">
                  <p:embed/>
                </p:oleObj>
              </mc:Choice>
              <mc:Fallback>
                <p:oleObj name="Equation" r:id="rId9" imgW="888614" imgH="203112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2743200"/>
                        <a:ext cx="1836738" cy="4222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Up Arrow 14"/>
          <p:cNvSpPr/>
          <p:nvPr/>
        </p:nvSpPr>
        <p:spPr>
          <a:xfrm>
            <a:off x="1066800" y="3200400"/>
            <a:ext cx="381000" cy="304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824" name="Object 8"/>
          <p:cNvGraphicFramePr>
            <a:graphicFrameLocks noChangeAspect="1"/>
          </p:cNvGraphicFramePr>
          <p:nvPr/>
        </p:nvGraphicFramePr>
        <p:xfrm>
          <a:off x="7602538" y="3070225"/>
          <a:ext cx="1389062" cy="290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1" name="Equation" r:id="rId11" imgW="672808" imgH="1396394" progId="Equation.DSMT4">
                  <p:embed/>
                </p:oleObj>
              </mc:Choice>
              <mc:Fallback>
                <p:oleObj name="Equation" r:id="rId11" imgW="672808" imgH="1396394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2538" y="3070225"/>
                        <a:ext cx="1389062" cy="29003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We cannot use a line (linear) to classify them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Some curve (nonlinear) can do it</a:t>
            </a:r>
          </a:p>
        </p:txBody>
      </p:sp>
      <p:sp>
        <p:nvSpPr>
          <p:cNvPr id="4" name="Oval 3"/>
          <p:cNvSpPr/>
          <p:nvPr/>
        </p:nvSpPr>
        <p:spPr>
          <a:xfrm>
            <a:off x="3276600" y="2362200"/>
            <a:ext cx="914400" cy="91440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105400" y="4114800"/>
            <a:ext cx="914400" cy="914400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105400" y="2362200"/>
            <a:ext cx="914400" cy="914400"/>
          </a:xfrm>
          <a:prstGeom prst="ellipse">
            <a:avLst/>
          </a:prstGeom>
          <a:solidFill>
            <a:srgbClr val="00B05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76600" y="4114800"/>
            <a:ext cx="914400" cy="914400"/>
          </a:xfrm>
          <a:prstGeom prst="ellipse">
            <a:avLst/>
          </a:prstGeom>
          <a:solidFill>
            <a:srgbClr val="00B05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/>
          <p:cNvSpPr/>
          <p:nvPr/>
        </p:nvSpPr>
        <p:spPr>
          <a:xfrm>
            <a:off x="3048000" y="2133600"/>
            <a:ext cx="3276600" cy="3184832"/>
          </a:xfrm>
          <a:custGeom>
            <a:avLst/>
            <a:gdLst>
              <a:gd name="connsiteX0" fmla="*/ 0 w 3778864"/>
              <a:gd name="connsiteY0" fmla="*/ 1061884 h 3565832"/>
              <a:gd name="connsiteX1" fmla="*/ 2595716 w 3778864"/>
              <a:gd name="connsiteY1" fmla="*/ 3323303 h 3565832"/>
              <a:gd name="connsiteX2" fmla="*/ 3539612 w 3778864"/>
              <a:gd name="connsiteY2" fmla="*/ 2517058 h 3565832"/>
              <a:gd name="connsiteX3" fmla="*/ 1160206 w 3778864"/>
              <a:gd name="connsiteY3" fmla="*/ 0 h 356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8864" h="3565832">
                <a:moveTo>
                  <a:pt x="0" y="1061884"/>
                </a:moveTo>
                <a:cubicBezTo>
                  <a:pt x="1002890" y="2071329"/>
                  <a:pt x="2005781" y="3080774"/>
                  <a:pt x="2595716" y="3323303"/>
                </a:cubicBezTo>
                <a:cubicBezTo>
                  <a:pt x="3185651" y="3565832"/>
                  <a:pt x="3778864" y="3070942"/>
                  <a:pt x="3539612" y="2517058"/>
                </a:cubicBezTo>
                <a:cubicBezTo>
                  <a:pt x="3300360" y="1963174"/>
                  <a:pt x="2230283" y="981587"/>
                  <a:pt x="1160206" y="0"/>
                </a:cubicBezTo>
              </a:path>
            </a:pathLst>
          </a:custGeom>
          <a:ln>
            <a:solidFill>
              <a:srgbClr val="0070C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in nonlinear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All we learned is how to classify in linear space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How to deal with nonlinear space?</a:t>
            </a:r>
          </a:p>
          <a:p>
            <a:r>
              <a:rPr lang="en-US" dirty="0"/>
              <a:t>2 steps approach</a:t>
            </a:r>
          </a:p>
          <a:p>
            <a:pPr lvl="1"/>
            <a:r>
              <a:rPr lang="en-US" dirty="0"/>
              <a:t>Transform to linear space</a:t>
            </a:r>
          </a:p>
          <a:p>
            <a:pPr lvl="1"/>
            <a:r>
              <a:rPr lang="en-US" dirty="0"/>
              <a:t>Perform linear classifier</a:t>
            </a:r>
          </a:p>
          <a:p>
            <a:r>
              <a:rPr lang="en-US" dirty="0"/>
              <a:t>1 step approach</a:t>
            </a:r>
          </a:p>
          <a:p>
            <a:pPr lvl="1"/>
            <a:r>
              <a:rPr lang="en-US" dirty="0"/>
              <a:t>Kernel machine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Nonlinear to linear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Same dimension</a:t>
            </a:r>
          </a:p>
          <a:p>
            <a:pPr lvl="1"/>
            <a:r>
              <a:rPr lang="en-US" dirty="0"/>
              <a:t>#attribute = #feature</a:t>
            </a:r>
          </a:p>
        </p:txBody>
      </p:sp>
      <p:sp>
        <p:nvSpPr>
          <p:cNvPr id="10" name="Arc 9"/>
          <p:cNvSpPr/>
          <p:nvPr/>
        </p:nvSpPr>
        <p:spPr>
          <a:xfrm flipV="1">
            <a:off x="685800" y="1600200"/>
            <a:ext cx="2209800" cy="3429000"/>
          </a:xfrm>
          <a:prstGeom prst="arc">
            <a:avLst>
              <a:gd name="adj1" fmla="val 16200000"/>
              <a:gd name="adj2" fmla="val 2152614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40"/>
          <p:cNvGrpSpPr/>
          <p:nvPr/>
        </p:nvGrpSpPr>
        <p:grpSpPr>
          <a:xfrm>
            <a:off x="1751806" y="2896394"/>
            <a:ext cx="2210594" cy="2134394"/>
            <a:chOff x="1751806" y="2896394"/>
            <a:chExt cx="2210594" cy="2134394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1752600" y="5029200"/>
              <a:ext cx="2209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rot="5400000" flipH="1" flipV="1">
              <a:off x="685800" y="3962400"/>
              <a:ext cx="2133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2209800" y="42672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2362200" y="46482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2514600" y="43434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590800" y="41148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2362200" y="41148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2133600" y="47244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1981200" y="42672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1905000" y="45720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2286000" y="38100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2362200" y="44196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362200" y="48006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2743200" y="42672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2590800" y="45720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743200" y="47244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2895600" y="48768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2743200" y="44958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590800" y="48006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2895600" y="44196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048000" y="45720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2819400" y="41148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2895600" y="46482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Curved Connector 34"/>
            <p:cNvCxnSpPr/>
            <p:nvPr/>
          </p:nvCxnSpPr>
          <p:spPr>
            <a:xfrm rot="10800000" flipV="1">
              <a:off x="2895600" y="3352800"/>
              <a:ext cx="381000" cy="228600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73"/>
          <p:cNvGrpSpPr/>
          <p:nvPr/>
        </p:nvGrpSpPr>
        <p:grpSpPr>
          <a:xfrm>
            <a:off x="4191000" y="2896394"/>
            <a:ext cx="3205118" cy="2134394"/>
            <a:chOff x="4191000" y="2896394"/>
            <a:chExt cx="3205118" cy="2134394"/>
          </a:xfrm>
        </p:grpSpPr>
        <p:cxnSp>
          <p:nvCxnSpPr>
            <p:cNvPr id="42" name="Straight Arrow Connector 41"/>
            <p:cNvCxnSpPr/>
            <p:nvPr/>
          </p:nvCxnSpPr>
          <p:spPr>
            <a:xfrm>
              <a:off x="5186318" y="5029200"/>
              <a:ext cx="2209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rot="5400000" flipH="1" flipV="1">
              <a:off x="4119518" y="3962400"/>
              <a:ext cx="2133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5643518" y="42672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5334000" y="43434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5943600" y="39624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6024518" y="38100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5795918" y="41148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5562600" y="44196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5486400" y="41910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5338718" y="45720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5719718" y="38100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410200" y="3962400"/>
              <a:ext cx="76200" cy="76200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5715000" y="47244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6477000" y="43434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5867400" y="44958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/>
            <p:cNvSpPr/>
            <p:nvPr/>
          </p:nvSpPr>
          <p:spPr>
            <a:xfrm>
              <a:off x="6019800" y="48006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/>
            <p:cNvSpPr/>
            <p:nvPr/>
          </p:nvSpPr>
          <p:spPr>
            <a:xfrm>
              <a:off x="5638800" y="48768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6096000" y="43434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5867400" y="46482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6248400" y="44196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6481718" y="45720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6248400" y="41910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6172200" y="4648200"/>
              <a:ext cx="76200" cy="762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Connector 69"/>
            <p:cNvCxnSpPr/>
            <p:nvPr/>
          </p:nvCxnSpPr>
          <p:spPr>
            <a:xfrm flipV="1">
              <a:off x="5181600" y="3352800"/>
              <a:ext cx="1752600" cy="16764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1" name="Curved Connector 70"/>
            <p:cNvCxnSpPr/>
            <p:nvPr/>
          </p:nvCxnSpPr>
          <p:spPr>
            <a:xfrm rot="10800000" flipV="1">
              <a:off x="6781800" y="3264932"/>
              <a:ext cx="381000" cy="228600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ight Arrow 72"/>
            <p:cNvSpPr/>
            <p:nvPr/>
          </p:nvSpPr>
          <p:spPr>
            <a:xfrm>
              <a:off x="4191000" y="3733800"/>
              <a:ext cx="685800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304460"/>
              </p:ext>
            </p:extLst>
          </p:nvPr>
        </p:nvGraphicFramePr>
        <p:xfrm>
          <a:off x="3995936" y="4846612"/>
          <a:ext cx="255588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4"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4846612"/>
                        <a:ext cx="255588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574396"/>
              </p:ext>
            </p:extLst>
          </p:nvPr>
        </p:nvGraphicFramePr>
        <p:xfrm>
          <a:off x="1619672" y="2564904"/>
          <a:ext cx="2762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5" name="Equation" r:id="rId6" imgW="164880" imgH="228600" progId="Equation.DSMT4">
                  <p:embed/>
                </p:oleObj>
              </mc:Choice>
              <mc:Fallback>
                <p:oleObj name="Equation" r:id="rId6" imgW="16488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2564904"/>
                        <a:ext cx="27622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965439"/>
              </p:ext>
            </p:extLst>
          </p:nvPr>
        </p:nvGraphicFramePr>
        <p:xfrm>
          <a:off x="3293285" y="3080543"/>
          <a:ext cx="10445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6" name="Equation" r:id="rId8" imgW="622080" imgH="279360" progId="Equation.DSMT4">
                  <p:embed/>
                </p:oleObj>
              </mc:Choice>
              <mc:Fallback>
                <p:oleObj name="Equation" r:id="rId8" imgW="62208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3285" y="3080543"/>
                        <a:ext cx="104457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834871"/>
              </p:ext>
            </p:extLst>
          </p:nvPr>
        </p:nvGraphicFramePr>
        <p:xfrm>
          <a:off x="5076056" y="2565400"/>
          <a:ext cx="76517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7" name="Equation" r:id="rId10" imgW="457200" imgH="228600" progId="Equation.DSMT4">
                  <p:embed/>
                </p:oleObj>
              </mc:Choice>
              <mc:Fallback>
                <p:oleObj name="Equation" r:id="rId10" imgW="457200" imgH="228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2565400"/>
                        <a:ext cx="76517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004973"/>
              </p:ext>
            </p:extLst>
          </p:nvPr>
        </p:nvGraphicFramePr>
        <p:xfrm>
          <a:off x="7380312" y="4803775"/>
          <a:ext cx="10223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8" name="Equation" r:id="rId12" imgW="609480" imgH="279360" progId="Equation.DSMT4">
                  <p:embed/>
                </p:oleObj>
              </mc:Choice>
              <mc:Fallback>
                <p:oleObj name="Equation" r:id="rId12" imgW="60948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4803775"/>
                        <a:ext cx="10223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733452"/>
              </p:ext>
            </p:extLst>
          </p:nvPr>
        </p:nvGraphicFramePr>
        <p:xfrm>
          <a:off x="7277100" y="3074988"/>
          <a:ext cx="746125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9" name="Equation" r:id="rId14" imgW="444240" imgH="228600" progId="Equation.DSMT4">
                  <p:embed/>
                </p:oleObj>
              </mc:Choice>
              <mc:Fallback>
                <p:oleObj name="Equation" r:id="rId14" imgW="444240" imgH="2286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7100" y="3074988"/>
                        <a:ext cx="746125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Dimension</a:t>
            </a:r>
            <a:endParaRPr lang="th-TH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800073" y="1918404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15830" y="315263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647" y="153740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968838" y="2847836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351199" y="2164819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747827" y="2847836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663109" y="2118729"/>
            <a:ext cx="1552721" cy="181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 flipV="1">
            <a:off x="1500818" y="2627853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785604" y="4057684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201361" y="529191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38" name="Oval 37"/>
          <p:cNvSpPr/>
          <p:nvPr/>
        </p:nvSpPr>
        <p:spPr>
          <a:xfrm>
            <a:off x="954369" y="4987116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336730" y="4304099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733358" y="4987116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648640" y="4258009"/>
            <a:ext cx="1552721" cy="181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rot="5400000" flipV="1">
            <a:off x="1486349" y="4767133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11560" y="368278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flipV="1">
            <a:off x="2709361" y="1918404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125118" y="315263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60935" y="153740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61" name="Oval 60"/>
          <p:cNvSpPr/>
          <p:nvPr/>
        </p:nvSpPr>
        <p:spPr>
          <a:xfrm>
            <a:off x="2878126" y="2847836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3260487" y="2164819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3657115" y="2847836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/>
          <p:cNvCxnSpPr/>
          <p:nvPr/>
        </p:nvCxnSpPr>
        <p:spPr>
          <a:xfrm flipV="1">
            <a:off x="2572397" y="2687717"/>
            <a:ext cx="1552721" cy="181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rot="5400000" flipV="1">
            <a:off x="3410106" y="2627853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2694892" y="4057684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110649" y="529191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68" name="Oval 67"/>
          <p:cNvSpPr/>
          <p:nvPr/>
        </p:nvSpPr>
        <p:spPr>
          <a:xfrm>
            <a:off x="2863657" y="4987116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3246018" y="4304099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3642646" y="4987116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/>
          <p:cNvCxnSpPr/>
          <p:nvPr/>
        </p:nvCxnSpPr>
        <p:spPr>
          <a:xfrm flipV="1">
            <a:off x="2557928" y="4777764"/>
            <a:ext cx="1552721" cy="181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rot="5400000" flipV="1">
            <a:off x="3395637" y="4767133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520848" y="368278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74" name="Straight Arrow Connector 73"/>
          <p:cNvCxnSpPr/>
          <p:nvPr/>
        </p:nvCxnSpPr>
        <p:spPr>
          <a:xfrm flipV="1">
            <a:off x="4616497" y="1918404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032254" y="315263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68071" y="153740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77" name="Oval 76"/>
          <p:cNvSpPr/>
          <p:nvPr/>
        </p:nvSpPr>
        <p:spPr>
          <a:xfrm>
            <a:off x="4785262" y="2847836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5167623" y="2164819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5564251" y="2847836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/>
          <p:cNvCxnSpPr/>
          <p:nvPr/>
        </p:nvCxnSpPr>
        <p:spPr>
          <a:xfrm flipV="1">
            <a:off x="5067567" y="2085778"/>
            <a:ext cx="787015" cy="129898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5400000" flipV="1">
            <a:off x="5317242" y="2627853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V="1">
            <a:off x="4602028" y="4057684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017785" y="529191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84" name="Oval 83"/>
          <p:cNvSpPr/>
          <p:nvPr/>
        </p:nvSpPr>
        <p:spPr>
          <a:xfrm>
            <a:off x="4770793" y="4987116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5153154" y="4304099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5549782" y="4987116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Arrow Connector 87"/>
          <p:cNvCxnSpPr/>
          <p:nvPr/>
        </p:nvCxnSpPr>
        <p:spPr>
          <a:xfrm rot="5400000" flipV="1">
            <a:off x="5302773" y="4767133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427984" y="368278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90" name="Straight Arrow Connector 89"/>
          <p:cNvCxnSpPr/>
          <p:nvPr/>
        </p:nvCxnSpPr>
        <p:spPr>
          <a:xfrm flipV="1">
            <a:off x="6597793" y="1918404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8013550" y="315263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49367" y="153740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93" name="Oval 92"/>
          <p:cNvSpPr/>
          <p:nvPr/>
        </p:nvSpPr>
        <p:spPr>
          <a:xfrm>
            <a:off x="6766558" y="2847836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7148919" y="2164819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7545547" y="2847836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/>
          <p:cNvCxnSpPr/>
          <p:nvPr/>
        </p:nvCxnSpPr>
        <p:spPr>
          <a:xfrm rot="5400000" flipV="1">
            <a:off x="7298538" y="2627853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 flipV="1">
            <a:off x="6583324" y="4057684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7999081" y="529191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00" name="Oval 99"/>
          <p:cNvSpPr/>
          <p:nvPr/>
        </p:nvSpPr>
        <p:spPr>
          <a:xfrm>
            <a:off x="6752089" y="4987116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7134450" y="4304099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7531078" y="4987116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/>
          <p:cNvCxnSpPr/>
          <p:nvPr/>
        </p:nvCxnSpPr>
        <p:spPr>
          <a:xfrm rot="5400000" flipV="1">
            <a:off x="7284069" y="4767133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6409280" y="368278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08" name="Straight Connector 107"/>
          <p:cNvCxnSpPr/>
          <p:nvPr/>
        </p:nvCxnSpPr>
        <p:spPr>
          <a:xfrm flipV="1">
            <a:off x="5041128" y="4201700"/>
            <a:ext cx="787015" cy="129898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H="1" flipV="1">
            <a:off x="6774393" y="2082936"/>
            <a:ext cx="787015" cy="129898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 flipV="1">
            <a:off x="6747954" y="4198858"/>
            <a:ext cx="787015" cy="129898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668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Dimension</a:t>
            </a:r>
            <a:endParaRPr lang="th-TH" dirty="0"/>
          </a:p>
        </p:txBody>
      </p:sp>
      <p:sp>
        <p:nvSpPr>
          <p:cNvPr id="7" name="TextBox 6"/>
          <p:cNvSpPr txBox="1"/>
          <p:nvPr/>
        </p:nvSpPr>
        <p:spPr>
          <a:xfrm>
            <a:off x="3786964" y="235524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3923928" y="2708920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39685" y="394315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38" name="Oval 37"/>
          <p:cNvSpPr/>
          <p:nvPr/>
        </p:nvSpPr>
        <p:spPr>
          <a:xfrm>
            <a:off x="4092693" y="3304372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4475054" y="3304372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4871682" y="3304372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 rot="5400000" flipV="1">
            <a:off x="4624673" y="3418369"/>
            <a:ext cx="5562" cy="142446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23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dimension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Ex: 2D </a:t>
            </a:r>
            <a:r>
              <a:rPr lang="en-US" dirty="0">
                <a:sym typeface="Wingdings" pitchFamily="2" charset="2"/>
              </a:rPr>
              <a:t> 3D transformation</a:t>
            </a:r>
            <a:endParaRPr lang="en-US" dirty="0"/>
          </a:p>
        </p:txBody>
      </p:sp>
      <p:pic>
        <p:nvPicPr>
          <p:cNvPr id="45058" name="Picture 2" descr="G:\DriveC\Desktop\31_05_2009\ML\MyPPT\Nonlinear.gif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8400" y="2286000"/>
            <a:ext cx="4133851" cy="3267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trick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Mercer's theorem</a:t>
            </a:r>
            <a:endParaRPr lang="en-US" dirty="0"/>
          </a:p>
          <a:p>
            <a:pPr lvl="1"/>
            <a:r>
              <a:rPr lang="en-US" dirty="0"/>
              <a:t>Any </a:t>
            </a:r>
            <a:r>
              <a:rPr lang="en-US" dirty="0">
                <a:solidFill>
                  <a:srgbClr val="FFC000"/>
                </a:solidFill>
              </a:rPr>
              <a:t>continuous, symmetric, positive semi-definite kernel function </a:t>
            </a:r>
            <a:r>
              <a:rPr lang="en-US" dirty="0"/>
              <a:t>can be expressed as a </a:t>
            </a:r>
            <a:r>
              <a:rPr lang="en-US" dirty="0">
                <a:solidFill>
                  <a:srgbClr val="7030A0"/>
                </a:solidFill>
              </a:rPr>
              <a:t>dot product</a:t>
            </a:r>
            <a:r>
              <a:rPr lang="en-US" dirty="0"/>
              <a:t> in a high-dimensional space.</a:t>
            </a:r>
          </a:p>
          <a:p>
            <a:pPr lvl="1"/>
            <a:r>
              <a:rPr lang="en-US" dirty="0"/>
              <a:t>Inner product is only </a:t>
            </a:r>
            <a:r>
              <a:rPr lang="en-US" dirty="0">
                <a:solidFill>
                  <a:srgbClr val="FF0000"/>
                </a:solidFill>
              </a:rPr>
              <a:t>scalar</a:t>
            </a:r>
          </a:p>
          <a:p>
            <a:r>
              <a:rPr lang="en-US" dirty="0"/>
              <a:t>Kernel trick </a:t>
            </a:r>
          </a:p>
          <a:p>
            <a:pPr lvl="1"/>
            <a:r>
              <a:rPr lang="en-US" dirty="0"/>
              <a:t>Wherever a dot product is used, it is replaced with the kernel function.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/>
              <a:t>          is the mapping function from </a:t>
            </a:r>
            <a:r>
              <a:rPr lang="en-US" dirty="0">
                <a:solidFill>
                  <a:srgbClr val="00B050"/>
                </a:solidFill>
              </a:rPr>
              <a:t>lower dimensional </a:t>
            </a:r>
            <a:r>
              <a:rPr lang="en-US" dirty="0">
                <a:solidFill>
                  <a:srgbClr val="FFC000"/>
                </a:solidFill>
              </a:rPr>
              <a:t>nonlinear</a:t>
            </a:r>
            <a:r>
              <a:rPr lang="en-US" dirty="0"/>
              <a:t> space to </a:t>
            </a:r>
            <a:r>
              <a:rPr lang="en-US" dirty="0">
                <a:solidFill>
                  <a:srgbClr val="00B050"/>
                </a:solidFill>
              </a:rPr>
              <a:t>higher dimensional </a:t>
            </a:r>
            <a:r>
              <a:rPr lang="en-US" dirty="0">
                <a:solidFill>
                  <a:srgbClr val="FFC000"/>
                </a:solidFill>
              </a:rPr>
              <a:t>linear</a:t>
            </a:r>
            <a:r>
              <a:rPr lang="en-US" dirty="0"/>
              <a:t> space</a:t>
            </a:r>
          </a:p>
        </p:txBody>
      </p:sp>
      <p:graphicFrame>
        <p:nvGraphicFramePr>
          <p:cNvPr id="43010" name="Object 2"/>
          <p:cNvGraphicFramePr>
            <a:graphicFrameLocks noChangeAspect="1"/>
          </p:cNvGraphicFramePr>
          <p:nvPr/>
        </p:nvGraphicFramePr>
        <p:xfrm>
          <a:off x="2422525" y="4602163"/>
          <a:ext cx="405447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4" name="Equation" r:id="rId4" imgW="2413000" imgH="304800" progId="Equation.DSMT4">
                  <p:embed/>
                </p:oleObj>
              </mc:Choice>
              <mc:Fallback>
                <p:oleObj name="Equation" r:id="rId4" imgW="2413000" imgH="3048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4602163"/>
                        <a:ext cx="4054475" cy="512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1331912" y="5287963"/>
          <a:ext cx="725488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5" name="Equation" r:id="rId6" imgW="431613" imgH="253890" progId="Equation.DSMT4">
                  <p:embed/>
                </p:oleObj>
              </mc:Choice>
              <mc:Fallback>
                <p:oleObj name="Equation" r:id="rId6" imgW="431613" imgH="25389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2" y="5287963"/>
                        <a:ext cx="725488" cy="427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kernel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Linear</a:t>
            </a:r>
          </a:p>
          <a:p>
            <a:endParaRPr lang="en-US" dirty="0"/>
          </a:p>
          <a:p>
            <a:r>
              <a:rPr lang="en-US" dirty="0"/>
              <a:t>Polynomial</a:t>
            </a:r>
          </a:p>
          <a:p>
            <a:endParaRPr lang="en-US" dirty="0"/>
          </a:p>
          <a:p>
            <a:r>
              <a:rPr lang="en-US" dirty="0"/>
              <a:t>Radial Basis Function (RBF)</a:t>
            </a:r>
          </a:p>
          <a:p>
            <a:endParaRPr lang="en-US" dirty="0"/>
          </a:p>
          <a:p>
            <a:r>
              <a:rPr lang="en-US" dirty="0"/>
              <a:t>Gaussian RBF</a:t>
            </a:r>
          </a:p>
          <a:p>
            <a:endParaRPr lang="en-US" dirty="0"/>
          </a:p>
          <a:p>
            <a:r>
              <a:rPr lang="en-US" dirty="0"/>
              <a:t>Sigmoid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352800" y="2133600"/>
          <a:ext cx="2667001" cy="554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6" name="Equation" r:id="rId4" imgW="1587500" imgH="330200" progId="Equation.DSMT4">
                  <p:embed/>
                </p:oleObj>
              </mc:Choice>
              <mc:Fallback>
                <p:oleObj name="Equation" r:id="rId4" imgW="1587500" imgH="3302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2667001" cy="5547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4876800" y="3048000"/>
          <a:ext cx="27940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7" name="Equation" r:id="rId6" imgW="1663700" imgH="330200" progId="Equation.DSMT4">
                  <p:embed/>
                </p:oleObj>
              </mc:Choice>
              <mc:Fallback>
                <p:oleObj name="Equation" r:id="rId6" imgW="1663700" imgH="33020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048000"/>
                        <a:ext cx="2794000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3505200" y="3932238"/>
          <a:ext cx="23463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8" name="Equation" r:id="rId8" imgW="1397000" imgH="381000" progId="Equation.DSMT4">
                  <p:embed/>
                </p:oleObj>
              </mc:Choice>
              <mc:Fallback>
                <p:oleObj name="Equation" r:id="rId8" imgW="1397000" imgH="38100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932238"/>
                        <a:ext cx="2346325" cy="639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2209800" y="5029200"/>
          <a:ext cx="49482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9" name="Equation" r:id="rId10" imgW="2946400" imgH="304800" progId="Equation.DSMT4">
                  <p:embed/>
                </p:oleObj>
              </mc:Choice>
              <mc:Fallback>
                <p:oleObj name="Equation" r:id="rId10" imgW="2946400" imgH="30480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029200"/>
                        <a:ext cx="4948238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3581400" y="1295400"/>
          <a:ext cx="20478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10" name="Equation" r:id="rId12" imgW="1219200" imgH="279400" progId="Equation.DSMT4">
                  <p:embed/>
                </p:oleObj>
              </mc:Choice>
              <mc:Fallback>
                <p:oleObj name="Equation" r:id="rId12" imgW="1219200" imgH="27940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295400"/>
                        <a:ext cx="2047875" cy="468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implementation for RBF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From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Thus</a:t>
            </a:r>
          </a:p>
        </p:txBody>
      </p:sp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2430463" y="1262062"/>
          <a:ext cx="3817937" cy="247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2" name="Equation" r:id="rId4" imgW="2273300" imgH="1473200" progId="Equation.DSMT4">
                  <p:embed/>
                </p:oleObj>
              </mc:Choice>
              <mc:Fallback>
                <p:oleObj name="Equation" r:id="rId4" imgW="2273300" imgH="1473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3" y="1262062"/>
                        <a:ext cx="3817937" cy="2471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2514600" y="4114800"/>
          <a:ext cx="32829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3" name="Equation" r:id="rId6" imgW="1954951" imgH="304668" progId="Equation.DSMT4">
                  <p:embed/>
                </p:oleObj>
              </mc:Choice>
              <mc:Fallback>
                <p:oleObj name="Equation" r:id="rId6" imgW="1954951" imgH="304668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114800"/>
                        <a:ext cx="3282950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2057400" y="4867870"/>
            <a:ext cx="5029200" cy="923330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/>
              </a:rPr>
              <a:t>XX = ones(size(Y,2),1)*sum(X.^2,1);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YY = ones(N,1)* sum(Y.^2,1);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K  = XX+YY' - 2*Y'*X;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Dual problem </a:t>
            </a:r>
            <a:r>
              <a:rPr lang="en-US" dirty="0">
                <a:sym typeface="Wingdings" pitchFamily="2" charset="2"/>
              </a:rPr>
              <a:t> Quadratic problem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The solution: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pPr lvl="1">
              <a:buNone/>
            </a:pPr>
            <a:r>
              <a:rPr lang="en-US" dirty="0">
                <a:sym typeface="Wingdings" pitchFamily="2" charset="2"/>
              </a:rPr>
              <a:t>			where        chosen so that </a:t>
            </a:r>
            <a:endParaRPr lang="en-US" dirty="0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1643063" y="1905000"/>
          <a:ext cx="5800725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8" name="Equation" r:id="rId4" imgW="2806700" imgH="787400" progId="Equation.DSMT4">
                  <p:embed/>
                </p:oleObj>
              </mc:Choice>
              <mc:Fallback>
                <p:oleObj name="Equation" r:id="rId4" imgW="2806700" imgH="7874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1905000"/>
                        <a:ext cx="5800725" cy="16367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3103562" y="4114800"/>
          <a:ext cx="299243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9" name="Equation" r:id="rId6" imgW="1701800" imgH="342900" progId="Equation.DSMT4">
                  <p:embed/>
                </p:oleObj>
              </mc:Choice>
              <mc:Fallback>
                <p:oleObj name="Equation" r:id="rId6" imgW="1701800" imgH="3429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2" y="4114800"/>
                        <a:ext cx="2992438" cy="6048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nut 6"/>
          <p:cNvSpPr/>
          <p:nvPr/>
        </p:nvSpPr>
        <p:spPr>
          <a:xfrm>
            <a:off x="6172200" y="1752600"/>
            <a:ext cx="1295400" cy="1143000"/>
          </a:xfrm>
          <a:prstGeom prst="donut">
            <a:avLst>
              <a:gd name="adj" fmla="val 3371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3352800" y="5029200"/>
          <a:ext cx="29051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0" name="Equation" r:id="rId8" imgW="164957" imgH="203024" progId="Equation.DSMT4">
                  <p:embed/>
                </p:oleObj>
              </mc:Choice>
              <mc:Fallback>
                <p:oleObj name="Equation" r:id="rId8" imgW="164957" imgH="203024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029200"/>
                        <a:ext cx="290512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5715000" y="5006975"/>
          <a:ext cx="12287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1" name="Equation" r:id="rId10" imgW="698500" imgH="228600" progId="Equation.DSMT4">
                  <p:embed/>
                </p:oleObj>
              </mc:Choice>
              <mc:Fallback>
                <p:oleObj name="Equation" r:id="rId10" imgW="698500" imgH="22860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006975"/>
                        <a:ext cx="12287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SVM only considers </a:t>
            </a:r>
            <a:r>
              <a:rPr lang="en-US" dirty="0">
                <a:solidFill>
                  <a:srgbClr val="FF0000"/>
                </a:solidFill>
              </a:rPr>
              <a:t>two classes</a:t>
            </a:r>
          </a:p>
          <a:p>
            <a:r>
              <a:rPr lang="en-US" dirty="0"/>
              <a:t>Use </a:t>
            </a:r>
            <a:r>
              <a:rPr lang="en-US" dirty="0">
                <a:solidFill>
                  <a:srgbClr val="00B0F0"/>
                </a:solidFill>
              </a:rPr>
              <a:t>N</a:t>
            </a:r>
            <a:r>
              <a:rPr lang="en-US" dirty="0"/>
              <a:t> SVMs </a:t>
            </a:r>
          </a:p>
          <a:p>
            <a:pPr lvl="2"/>
            <a:r>
              <a:rPr lang="en-US" dirty="0"/>
              <a:t>N = number of classes</a:t>
            </a:r>
          </a:p>
          <a:p>
            <a:pPr lvl="1"/>
            <a:r>
              <a:rPr lang="en-US" dirty="0"/>
              <a:t>SVM-1 learns “Class1” </a:t>
            </a:r>
            <a:r>
              <a:rPr lang="en-US" dirty="0" err="1"/>
              <a:t>vs</a:t>
            </a:r>
            <a:r>
              <a:rPr lang="en-US" dirty="0"/>
              <a:t> “Not Class1”</a:t>
            </a:r>
          </a:p>
          <a:p>
            <a:pPr lvl="1"/>
            <a:r>
              <a:rPr lang="en-US" dirty="0"/>
              <a:t>SVM-2 learns “Class2” </a:t>
            </a:r>
            <a:r>
              <a:rPr lang="en-US" dirty="0" err="1"/>
              <a:t>vs</a:t>
            </a:r>
            <a:r>
              <a:rPr lang="en-US" dirty="0"/>
              <a:t> “Not Class2”</a:t>
            </a:r>
          </a:p>
          <a:p>
            <a:pPr lvl="1"/>
            <a:r>
              <a:rPr lang="en-US" dirty="0"/>
              <a:t>:</a:t>
            </a:r>
          </a:p>
          <a:p>
            <a:pPr lvl="1"/>
            <a:r>
              <a:rPr lang="en-US" dirty="0"/>
              <a:t>SVM-N learns “</a:t>
            </a:r>
            <a:r>
              <a:rPr lang="en-US" dirty="0" err="1"/>
              <a:t>ClassN</a:t>
            </a:r>
            <a:r>
              <a:rPr lang="en-US" dirty="0"/>
              <a:t>” </a:t>
            </a:r>
            <a:r>
              <a:rPr lang="en-US" dirty="0" err="1"/>
              <a:t>vs</a:t>
            </a:r>
            <a:r>
              <a:rPr lang="en-US" dirty="0"/>
              <a:t> “Not </a:t>
            </a:r>
            <a:r>
              <a:rPr lang="en-US" dirty="0" err="1"/>
              <a:t>ClassN</a:t>
            </a:r>
            <a:r>
              <a:rPr lang="en-US" dirty="0"/>
              <a:t>”</a:t>
            </a:r>
          </a:p>
          <a:p>
            <a:r>
              <a:rPr lang="en-US" dirty="0"/>
              <a:t>Predict the output for a new input by all SVMs and find out which one puts the prediction the furthest into the positive region.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Multiclass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Multi class </a:t>
            </a:r>
            <a:r>
              <a:rPr lang="en-US" dirty="0">
                <a:sym typeface="Wingdings" pitchFamily="2" charset="2"/>
              </a:rPr>
              <a:t> M</a:t>
            </a:r>
            <a:r>
              <a:rPr lang="en-US" dirty="0"/>
              <a:t>ulti </a:t>
            </a:r>
            <a:r>
              <a:rPr lang="en-US" dirty="0" err="1"/>
              <a:t>Hyperplanes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105400" y="25146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410200" y="3200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648200" y="27432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352800" y="38862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810000" y="47244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895600" y="46482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3048000" y="2362200"/>
            <a:ext cx="4724400" cy="26670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715000" y="4191000"/>
            <a:ext cx="304800" cy="304800"/>
          </a:xfrm>
          <a:prstGeom prst="ellipse">
            <a:avLst/>
          </a:prstGeom>
          <a:solidFill>
            <a:srgbClr val="00B0F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096000" y="4724400"/>
            <a:ext cx="304800" cy="304800"/>
          </a:xfrm>
          <a:prstGeom prst="ellipse">
            <a:avLst/>
          </a:prstGeom>
          <a:solidFill>
            <a:srgbClr val="00B0F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105400" y="4800600"/>
            <a:ext cx="304800" cy="304800"/>
          </a:xfrm>
          <a:prstGeom prst="ellipse">
            <a:avLst/>
          </a:prstGeom>
          <a:solidFill>
            <a:srgbClr val="00B0F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638800" y="5105400"/>
            <a:ext cx="304800" cy="304800"/>
          </a:xfrm>
          <a:prstGeom prst="ellipse">
            <a:avLst/>
          </a:prstGeom>
          <a:solidFill>
            <a:srgbClr val="00B0F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962400" y="3657600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419600" y="22098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3505200" y="2819400"/>
            <a:ext cx="3581400" cy="29718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16200000" flipH="1">
            <a:off x="2667000" y="3352800"/>
            <a:ext cx="3810000" cy="121920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16200000" flipH="1">
            <a:off x="3162300" y="2095500"/>
            <a:ext cx="1981200" cy="1600200"/>
          </a:xfrm>
          <a:prstGeom prst="line">
            <a:avLst/>
          </a:prstGeom>
          <a:ln>
            <a:solidFill>
              <a:srgbClr val="7030A0"/>
            </a:solidFill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 flipH="1" flipV="1">
            <a:off x="3771900" y="4686300"/>
            <a:ext cx="1981200" cy="381000"/>
          </a:xfrm>
          <a:prstGeom prst="line">
            <a:avLst/>
          </a:prstGeom>
          <a:ln>
            <a:solidFill>
              <a:srgbClr val="7030A0"/>
            </a:solidFill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10800000">
            <a:off x="4953000" y="3886200"/>
            <a:ext cx="3048000" cy="1588"/>
          </a:xfrm>
          <a:prstGeom prst="line">
            <a:avLst/>
          </a:prstGeom>
          <a:ln>
            <a:solidFill>
              <a:srgbClr val="7030A0"/>
            </a:solidFill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481" y="116632"/>
            <a:ext cx="8229600" cy="990600"/>
          </a:xfrm>
        </p:spPr>
        <p:txBody>
          <a:bodyPr/>
          <a:lstStyle/>
          <a:p>
            <a:r>
              <a:rPr lang="en-US" dirty="0"/>
              <a:t>DAG SVM</a:t>
            </a:r>
            <a:endParaRPr lang="th-TH" dirty="0"/>
          </a:p>
        </p:txBody>
      </p:sp>
      <p:sp>
        <p:nvSpPr>
          <p:cNvPr id="4" name="Oval 3"/>
          <p:cNvSpPr/>
          <p:nvPr/>
        </p:nvSpPr>
        <p:spPr>
          <a:xfrm>
            <a:off x="4283968" y="2204864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1v3</a:t>
            </a:r>
            <a:endParaRPr lang="th-TH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Oval 4"/>
          <p:cNvSpPr/>
          <p:nvPr/>
        </p:nvSpPr>
        <p:spPr>
          <a:xfrm>
            <a:off x="3635896" y="2908570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1v2</a:t>
            </a:r>
            <a:endParaRPr lang="th-TH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Oval 5"/>
          <p:cNvSpPr/>
          <p:nvPr/>
        </p:nvSpPr>
        <p:spPr>
          <a:xfrm>
            <a:off x="2987824" y="3628650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Oval 6"/>
          <p:cNvSpPr/>
          <p:nvPr/>
        </p:nvSpPr>
        <p:spPr>
          <a:xfrm>
            <a:off x="4932040" y="2908570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 anchorCtr="0">
            <a:noAutofit/>
          </a:bodyPr>
          <a:lstStyle/>
          <a:p>
            <a:pPr algn="ctr"/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2v3</a:t>
            </a:r>
            <a:endParaRPr lang="th-TH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Oval 7"/>
          <p:cNvSpPr/>
          <p:nvPr/>
        </p:nvSpPr>
        <p:spPr>
          <a:xfrm>
            <a:off x="4283968" y="3628650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 anchorCtr="0">
            <a:noAutofit/>
          </a:bodyPr>
          <a:lstStyle/>
          <a:p>
            <a:pPr algn="ctr"/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endParaRPr lang="th-TH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Oval 8"/>
          <p:cNvSpPr/>
          <p:nvPr/>
        </p:nvSpPr>
        <p:spPr>
          <a:xfrm>
            <a:off x="5580112" y="3628650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 anchorCtr="0">
            <a:noAutofit/>
          </a:bodyPr>
          <a:lstStyle/>
          <a:p>
            <a:pPr algn="ctr"/>
            <a:r>
              <a:rPr lang="en-US" sz="1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endParaRPr lang="th-TH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1" name="Straight Arrow Connector 10"/>
          <p:cNvCxnSpPr>
            <a:stCxn id="4" idx="3"/>
            <a:endCxn id="5" idx="7"/>
          </p:cNvCxnSpPr>
          <p:nvPr/>
        </p:nvCxnSpPr>
        <p:spPr>
          <a:xfrm flipH="1">
            <a:off x="3943209" y="2526153"/>
            <a:ext cx="393486" cy="437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3"/>
            <a:endCxn id="6" idx="7"/>
          </p:cNvCxnSpPr>
          <p:nvPr/>
        </p:nvCxnSpPr>
        <p:spPr>
          <a:xfrm flipH="1">
            <a:off x="3295137" y="3229859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4" idx="5"/>
            <a:endCxn id="7" idx="1"/>
          </p:cNvCxnSpPr>
          <p:nvPr/>
        </p:nvCxnSpPr>
        <p:spPr>
          <a:xfrm>
            <a:off x="4591281" y="2526153"/>
            <a:ext cx="393486" cy="437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5"/>
            <a:endCxn id="9" idx="1"/>
          </p:cNvCxnSpPr>
          <p:nvPr/>
        </p:nvCxnSpPr>
        <p:spPr>
          <a:xfrm>
            <a:off x="5239353" y="3229859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3"/>
            <a:endCxn id="8" idx="7"/>
          </p:cNvCxnSpPr>
          <p:nvPr/>
        </p:nvCxnSpPr>
        <p:spPr>
          <a:xfrm flipH="1">
            <a:off x="4591281" y="3229859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5" idx="5"/>
            <a:endCxn id="8" idx="1"/>
          </p:cNvCxnSpPr>
          <p:nvPr/>
        </p:nvCxnSpPr>
        <p:spPr>
          <a:xfrm>
            <a:off x="3943209" y="3229859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51920" y="2226350"/>
            <a:ext cx="486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1,2,3</a:t>
            </a:r>
            <a:endParaRPr lang="th-TH" sz="1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310294" y="2920928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1,2</a:t>
            </a:r>
            <a:endParaRPr lang="th-TH" sz="1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38242" y="2921607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2,3</a:t>
            </a:r>
            <a:endParaRPr lang="th-TH" sz="1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905084" y="2586390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Not 3</a:t>
            </a:r>
            <a:endParaRPr lang="th-TH" sz="1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572000" y="2586390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Not 1</a:t>
            </a:r>
            <a:endParaRPr lang="th-TH" sz="1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57012" y="3306470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Not 2</a:t>
            </a:r>
            <a:endParaRPr lang="th-TH" sz="1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923928" y="3306470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Not 1</a:t>
            </a:r>
            <a:endParaRPr lang="th-TH" sz="1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201228" y="3284984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Not 2</a:t>
            </a:r>
            <a:endParaRPr lang="th-TH" sz="1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572000" y="3284984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Not 3</a:t>
            </a:r>
            <a:endParaRPr lang="th-TH" sz="16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070295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481" y="116632"/>
            <a:ext cx="8229600" cy="990600"/>
          </a:xfrm>
        </p:spPr>
        <p:txBody>
          <a:bodyPr/>
          <a:lstStyle/>
          <a:p>
            <a:r>
              <a:rPr lang="en-US" dirty="0"/>
              <a:t>DAG SVM</a:t>
            </a:r>
            <a:endParaRPr lang="th-TH" dirty="0"/>
          </a:p>
        </p:txBody>
      </p:sp>
      <p:sp>
        <p:nvSpPr>
          <p:cNvPr id="4" name="Oval 3"/>
          <p:cNvSpPr/>
          <p:nvPr/>
        </p:nvSpPr>
        <p:spPr>
          <a:xfrm>
            <a:off x="4283968" y="2204864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sz="1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Oval 4"/>
          <p:cNvSpPr/>
          <p:nvPr/>
        </p:nvSpPr>
        <p:spPr>
          <a:xfrm>
            <a:off x="3635896" y="2908570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endParaRPr lang="th-TH" sz="1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Oval 5"/>
          <p:cNvSpPr/>
          <p:nvPr/>
        </p:nvSpPr>
        <p:spPr>
          <a:xfrm>
            <a:off x="2987824" y="3628650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endParaRPr lang="th-TH" sz="1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Oval 6"/>
          <p:cNvSpPr/>
          <p:nvPr/>
        </p:nvSpPr>
        <p:spPr>
          <a:xfrm>
            <a:off x="4932040" y="2908570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 anchorCtr="0">
            <a:noAutofit/>
          </a:bodyPr>
          <a:lstStyle/>
          <a:p>
            <a:pPr algn="ctr"/>
            <a:r>
              <a:rPr lang="en-US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endParaRPr lang="th-TH" sz="1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Oval 7"/>
          <p:cNvSpPr/>
          <p:nvPr/>
        </p:nvSpPr>
        <p:spPr>
          <a:xfrm>
            <a:off x="4283968" y="3628650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 anchorCtr="0">
            <a:noAutofit/>
          </a:bodyPr>
          <a:lstStyle/>
          <a:p>
            <a:pPr algn="ctr"/>
            <a:r>
              <a:rPr lang="en-US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5</a:t>
            </a:r>
            <a:endParaRPr lang="th-TH" sz="1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Oval 8"/>
          <p:cNvSpPr/>
          <p:nvPr/>
        </p:nvSpPr>
        <p:spPr>
          <a:xfrm>
            <a:off x="5580112" y="3628650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 anchorCtr="0">
            <a:noAutofit/>
          </a:bodyPr>
          <a:lstStyle/>
          <a:p>
            <a:pPr algn="ctr"/>
            <a:r>
              <a:rPr lang="en-US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6</a:t>
            </a:r>
            <a:endParaRPr lang="th-TH" sz="1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11" name="Straight Arrow Connector 10"/>
          <p:cNvCxnSpPr>
            <a:stCxn id="4" idx="3"/>
            <a:endCxn id="5" idx="7"/>
          </p:cNvCxnSpPr>
          <p:nvPr/>
        </p:nvCxnSpPr>
        <p:spPr>
          <a:xfrm flipH="1">
            <a:off x="3943209" y="2526153"/>
            <a:ext cx="393486" cy="437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3"/>
            <a:endCxn id="6" idx="7"/>
          </p:cNvCxnSpPr>
          <p:nvPr/>
        </p:nvCxnSpPr>
        <p:spPr>
          <a:xfrm flipH="1">
            <a:off x="3295137" y="3229859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4" idx="5"/>
            <a:endCxn id="7" idx="1"/>
          </p:cNvCxnSpPr>
          <p:nvPr/>
        </p:nvCxnSpPr>
        <p:spPr>
          <a:xfrm>
            <a:off x="4591281" y="2526153"/>
            <a:ext cx="393486" cy="437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5"/>
            <a:endCxn id="9" idx="1"/>
          </p:cNvCxnSpPr>
          <p:nvPr/>
        </p:nvCxnSpPr>
        <p:spPr>
          <a:xfrm>
            <a:off x="5239353" y="3229859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3"/>
            <a:endCxn id="8" idx="7"/>
          </p:cNvCxnSpPr>
          <p:nvPr/>
        </p:nvCxnSpPr>
        <p:spPr>
          <a:xfrm flipH="1">
            <a:off x="4591281" y="3229859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5" idx="5"/>
            <a:endCxn id="8" idx="1"/>
          </p:cNvCxnSpPr>
          <p:nvPr/>
        </p:nvCxnSpPr>
        <p:spPr>
          <a:xfrm>
            <a:off x="3943209" y="3229859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777767" y="221194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K=1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91780" y="2912111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K=2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51486" y="362865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K=3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67992" y="2526153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+1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38811" y="2529694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+2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78543" y="325931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+2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900617" y="326916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+3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65046" y="3286693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+2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13118" y="3269165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+3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2351820" y="4310307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7</a:t>
            </a:r>
            <a:endParaRPr lang="th-TH" sz="1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36" name="Straight Arrow Connector 35"/>
          <p:cNvCxnSpPr>
            <a:stCxn id="33" idx="3"/>
          </p:cNvCxnSpPr>
          <p:nvPr/>
        </p:nvCxnSpPr>
        <p:spPr>
          <a:xfrm flipH="1">
            <a:off x="2011061" y="4631596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3" idx="5"/>
          </p:cNvCxnSpPr>
          <p:nvPr/>
        </p:nvCxnSpPr>
        <p:spPr>
          <a:xfrm>
            <a:off x="2659133" y="4631596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955930" y="4317714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K=k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994467" y="4670902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7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+k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616541" y="467090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7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+k+1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3653769" y="4309455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8</a:t>
            </a:r>
            <a:endParaRPr lang="th-TH" sz="1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44" name="Straight Arrow Connector 43"/>
          <p:cNvCxnSpPr>
            <a:stCxn id="41" idx="3"/>
          </p:cNvCxnSpPr>
          <p:nvPr/>
        </p:nvCxnSpPr>
        <p:spPr>
          <a:xfrm flipH="1">
            <a:off x="3313010" y="4630744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1" idx="5"/>
          </p:cNvCxnSpPr>
          <p:nvPr/>
        </p:nvCxnSpPr>
        <p:spPr>
          <a:xfrm>
            <a:off x="3961082" y="4630744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296416" y="4670902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8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+k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918490" y="467090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8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+k+1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951873" y="4309455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9</a:t>
            </a:r>
            <a:endParaRPr lang="th-TH" sz="1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61" name="Straight Arrow Connector 60"/>
          <p:cNvCxnSpPr>
            <a:stCxn id="58" idx="3"/>
          </p:cNvCxnSpPr>
          <p:nvPr/>
        </p:nvCxnSpPr>
        <p:spPr>
          <a:xfrm flipH="1">
            <a:off x="4611114" y="4630744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8" idx="5"/>
          </p:cNvCxnSpPr>
          <p:nvPr/>
        </p:nvCxnSpPr>
        <p:spPr>
          <a:xfrm>
            <a:off x="5259186" y="4630744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594520" y="4670902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9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+k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216594" y="467090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9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+k+1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6249977" y="4309455"/>
            <a:ext cx="360040" cy="3764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10</a:t>
            </a:r>
            <a:endParaRPr lang="th-TH" sz="1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69" name="Straight Arrow Connector 68"/>
          <p:cNvCxnSpPr>
            <a:stCxn id="66" idx="3"/>
          </p:cNvCxnSpPr>
          <p:nvPr/>
        </p:nvCxnSpPr>
        <p:spPr>
          <a:xfrm flipH="1">
            <a:off x="5909218" y="4630744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66" idx="5"/>
          </p:cNvCxnSpPr>
          <p:nvPr/>
        </p:nvCxnSpPr>
        <p:spPr>
          <a:xfrm>
            <a:off x="6557290" y="4630744"/>
            <a:ext cx="393486" cy="45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892624" y="467090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10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+k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514698" y="467090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10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+k+1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5" name="Straight Arrow Connector 74"/>
          <p:cNvCxnSpPr>
            <a:stCxn id="6" idx="3"/>
            <a:endCxn id="33" idx="7"/>
          </p:cNvCxnSpPr>
          <p:nvPr/>
        </p:nvCxnSpPr>
        <p:spPr>
          <a:xfrm flipH="1">
            <a:off x="2659133" y="3949939"/>
            <a:ext cx="381418" cy="415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616175" y="3990560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+3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77" name="Straight Arrow Connector 76"/>
          <p:cNvCxnSpPr>
            <a:stCxn id="6" idx="5"/>
            <a:endCxn id="41" idx="1"/>
          </p:cNvCxnSpPr>
          <p:nvPr/>
        </p:nvCxnSpPr>
        <p:spPr>
          <a:xfrm>
            <a:off x="3295137" y="3949939"/>
            <a:ext cx="411359" cy="414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8" idx="3"/>
            <a:endCxn id="41" idx="7"/>
          </p:cNvCxnSpPr>
          <p:nvPr/>
        </p:nvCxnSpPr>
        <p:spPr>
          <a:xfrm flipH="1">
            <a:off x="3961082" y="3949939"/>
            <a:ext cx="375613" cy="414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8" idx="5"/>
            <a:endCxn id="58" idx="1"/>
          </p:cNvCxnSpPr>
          <p:nvPr/>
        </p:nvCxnSpPr>
        <p:spPr>
          <a:xfrm>
            <a:off x="4591281" y="3949939"/>
            <a:ext cx="413319" cy="414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9" idx="3"/>
            <a:endCxn id="58" idx="7"/>
          </p:cNvCxnSpPr>
          <p:nvPr/>
        </p:nvCxnSpPr>
        <p:spPr>
          <a:xfrm flipH="1">
            <a:off x="5259186" y="3949939"/>
            <a:ext cx="373653" cy="414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9" idx="5"/>
            <a:endCxn id="66" idx="1"/>
          </p:cNvCxnSpPr>
          <p:nvPr/>
        </p:nvCxnSpPr>
        <p:spPr>
          <a:xfrm>
            <a:off x="5887425" y="3949939"/>
            <a:ext cx="415279" cy="414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3267900" y="399056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+4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941205" y="3990560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5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+3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530472" y="3990560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5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+4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260670" y="3990560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6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+3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845723" y="3990560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6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+4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513510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</a:t>
            </a:r>
            <a:endParaRPr lang="th-TH" dirty="0"/>
          </a:p>
        </p:txBody>
      </p:sp>
      <p:grpSp>
        <p:nvGrpSpPr>
          <p:cNvPr id="98" name="Group 97"/>
          <p:cNvGrpSpPr/>
          <p:nvPr/>
        </p:nvGrpSpPr>
        <p:grpSpPr>
          <a:xfrm>
            <a:off x="1270000" y="1916832"/>
            <a:ext cx="6614368" cy="3888432"/>
            <a:chOff x="1270000" y="1916832"/>
            <a:chExt cx="6614368" cy="3888432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1558430" y="4382220"/>
              <a:ext cx="2209005" cy="473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 rot="5400000" flipH="1" flipV="1">
              <a:off x="490835" y="3313832"/>
              <a:ext cx="2133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9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8895685"/>
                </p:ext>
              </p:extLst>
            </p:nvPr>
          </p:nvGraphicFramePr>
          <p:xfrm>
            <a:off x="3780135" y="4198070"/>
            <a:ext cx="296863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59" name="Equation" r:id="rId3" imgW="177480" imgH="228600" progId="Equation.DSMT4">
                    <p:embed/>
                  </p:oleObj>
                </mc:Choice>
                <mc:Fallback>
                  <p:oleObj name="Equation" r:id="rId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0135" y="4198070"/>
                          <a:ext cx="296863" cy="382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5789749"/>
                </p:ext>
              </p:extLst>
            </p:nvPr>
          </p:nvGraphicFramePr>
          <p:xfrm>
            <a:off x="1403648" y="1916832"/>
            <a:ext cx="319087" cy="382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60" name="Equation" r:id="rId5" imgW="190440" imgH="228600" progId="Equation.DSMT4">
                    <p:embed/>
                  </p:oleObj>
                </mc:Choice>
                <mc:Fallback>
                  <p:oleObj name="Equation" r:id="rId5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1916832"/>
                          <a:ext cx="319087" cy="382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3" name="Straight Connector 32"/>
            <p:cNvCxnSpPr/>
            <p:nvPr/>
          </p:nvCxnSpPr>
          <p:spPr>
            <a:xfrm>
              <a:off x="1558430" y="2571728"/>
              <a:ext cx="18104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2463676" y="3476975"/>
              <a:ext cx="18104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1558430" y="2571728"/>
              <a:ext cx="1104105" cy="1000792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5365005" y="4381103"/>
              <a:ext cx="2209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5365799" y="2248297"/>
              <a:ext cx="0" cy="355696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39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1703987"/>
                </p:ext>
              </p:extLst>
            </p:nvPr>
          </p:nvGraphicFramePr>
          <p:xfrm>
            <a:off x="7587505" y="4198541"/>
            <a:ext cx="296863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61" name="Equation" r:id="rId7" imgW="177480" imgH="228600" progId="Equation.DSMT4">
                    <p:embed/>
                  </p:oleObj>
                </mc:Choice>
                <mc:Fallback>
                  <p:oleObj name="Equation" r:id="rId7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87505" y="4198541"/>
                          <a:ext cx="296863" cy="382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1524966"/>
                </p:ext>
              </p:extLst>
            </p:nvPr>
          </p:nvGraphicFramePr>
          <p:xfrm>
            <a:off x="5211018" y="1916832"/>
            <a:ext cx="319087" cy="382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62" name="Equation" r:id="rId9" imgW="190440" imgH="228600" progId="Equation.DSMT4">
                    <p:embed/>
                  </p:oleObj>
                </mc:Choice>
                <mc:Fallback>
                  <p:oleObj name="Equation" r:id="rId9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1018" y="1916832"/>
                          <a:ext cx="319087" cy="382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1" name="Straight Connector 40"/>
            <p:cNvCxnSpPr/>
            <p:nvPr/>
          </p:nvCxnSpPr>
          <p:spPr>
            <a:xfrm>
              <a:off x="5364088" y="2572199"/>
              <a:ext cx="18104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6271046" y="3477446"/>
              <a:ext cx="18104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V="1">
              <a:off x="6072188" y="3284984"/>
              <a:ext cx="1102393" cy="109771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5364088" y="4382694"/>
              <a:ext cx="706390" cy="702491"/>
            </a:xfrm>
            <a:prstGeom prst="line">
              <a:avLst/>
            </a:prstGeom>
            <a:ln>
              <a:solidFill>
                <a:srgbClr val="0070C0"/>
              </a:solidFill>
              <a:prstDash val="sysDas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55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9343309"/>
                </p:ext>
              </p:extLst>
            </p:nvPr>
          </p:nvGraphicFramePr>
          <p:xfrm>
            <a:off x="5151363" y="4858742"/>
            <a:ext cx="212725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63" name="Equation" r:id="rId11" imgW="126720" imgH="177480" progId="Equation.DSMT4">
                    <p:embed/>
                  </p:oleObj>
                </mc:Choice>
                <mc:Fallback>
                  <p:oleObj name="Equation" r:id="rId11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1363" y="4858742"/>
                          <a:ext cx="212725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6" name="Straight Connector 55"/>
            <p:cNvCxnSpPr/>
            <p:nvPr/>
          </p:nvCxnSpPr>
          <p:spPr>
            <a:xfrm>
              <a:off x="5364088" y="3284984"/>
              <a:ext cx="18104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/>
            <p:cNvSpPr/>
            <p:nvPr/>
          </p:nvSpPr>
          <p:spPr>
            <a:xfrm>
              <a:off x="2040384" y="3057625"/>
              <a:ext cx="76200" cy="76200"/>
            </a:xfrm>
            <a:prstGeom prst="ellipse">
              <a:avLst/>
            </a:prstGeom>
            <a:solidFill>
              <a:srgbClr val="FF0000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6532885" y="3851787"/>
              <a:ext cx="76200" cy="76200"/>
            </a:xfrm>
            <a:prstGeom prst="ellipse">
              <a:avLst/>
            </a:prstGeom>
            <a:solidFill>
              <a:srgbClr val="FF0000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84" name="Object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1715581"/>
                </p:ext>
              </p:extLst>
            </p:nvPr>
          </p:nvGraphicFramePr>
          <p:xfrm>
            <a:off x="1270000" y="2410470"/>
            <a:ext cx="255588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64" name="Equation" r:id="rId13" imgW="152280" imgH="177480" progId="Equation.DSMT4">
                    <p:embed/>
                  </p:oleObj>
                </mc:Choice>
                <mc:Fallback>
                  <p:oleObj name="Equation" r:id="rId13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0000" y="2410470"/>
                          <a:ext cx="255588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" name="Object 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5866978"/>
                </p:ext>
              </p:extLst>
            </p:nvPr>
          </p:nvGraphicFramePr>
          <p:xfrm>
            <a:off x="3241129" y="4417408"/>
            <a:ext cx="255588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65" name="Equation" r:id="rId15" imgW="152280" imgH="177480" progId="Equation.DSMT4">
                    <p:embed/>
                  </p:oleObj>
                </mc:Choice>
                <mc:Fallback>
                  <p:oleObj name="Equation" r:id="rId15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1129" y="4417408"/>
                          <a:ext cx="255588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2566026"/>
                </p:ext>
              </p:extLst>
            </p:nvPr>
          </p:nvGraphicFramePr>
          <p:xfrm>
            <a:off x="5076056" y="2422503"/>
            <a:ext cx="255588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66" name="Equation" r:id="rId17" imgW="152202" imgH="177569" progId="Equation.DSMT4">
                    <p:embed/>
                  </p:oleObj>
                </mc:Choice>
                <mc:Fallback>
                  <p:oleObj name="Equation" r:id="rId17" imgW="152202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056" y="2422503"/>
                          <a:ext cx="255588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" name="Object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8636644"/>
                </p:ext>
              </p:extLst>
            </p:nvPr>
          </p:nvGraphicFramePr>
          <p:xfrm>
            <a:off x="7048499" y="4417408"/>
            <a:ext cx="255588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67" name="Equation" r:id="rId18" imgW="152202" imgH="177569" progId="Equation.DSMT4">
                    <p:embed/>
                  </p:oleObj>
                </mc:Choice>
                <mc:Fallback>
                  <p:oleObj name="Equation" r:id="rId18" imgW="152202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8499" y="4417408"/>
                          <a:ext cx="255588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" name="Object 8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6091839"/>
                </p:ext>
              </p:extLst>
            </p:nvPr>
          </p:nvGraphicFramePr>
          <p:xfrm>
            <a:off x="1344116" y="3418582"/>
            <a:ext cx="212725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68" name="Equation" r:id="rId19" imgW="126720" imgH="177480" progId="Equation.DSMT4">
                    <p:embed/>
                  </p:oleObj>
                </mc:Choice>
                <mc:Fallback>
                  <p:oleObj name="Equation" r:id="rId19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116" y="3418582"/>
                          <a:ext cx="212725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" name="Right Brace 95"/>
            <p:cNvSpPr/>
            <p:nvPr/>
          </p:nvSpPr>
          <p:spPr>
            <a:xfrm>
              <a:off x="7248301" y="2571728"/>
              <a:ext cx="204019" cy="713256"/>
            </a:xfrm>
            <a:prstGeom prst="rightBrace">
              <a:avLst>
                <a:gd name="adj1" fmla="val 6809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aphicFrame>
          <p:nvGraphicFramePr>
            <p:cNvPr id="97" name="Object 9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106785"/>
                </p:ext>
              </p:extLst>
            </p:nvPr>
          </p:nvGraphicFramePr>
          <p:xfrm>
            <a:off x="7452320" y="2713931"/>
            <a:ext cx="296863" cy="427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69" name="Equation" r:id="rId21" imgW="177480" imgH="253800" progId="Equation.DSMT4">
                    <p:embed/>
                  </p:oleObj>
                </mc:Choice>
                <mc:Fallback>
                  <p:oleObj name="Equation" r:id="rId21" imgW="1774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2320" y="2713931"/>
                          <a:ext cx="296863" cy="427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48920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</a:t>
            </a:r>
            <a:endParaRPr lang="th-TH" dirty="0"/>
          </a:p>
        </p:txBody>
      </p:sp>
      <p:grpSp>
        <p:nvGrpSpPr>
          <p:cNvPr id="119" name="Group 118"/>
          <p:cNvGrpSpPr/>
          <p:nvPr/>
        </p:nvGrpSpPr>
        <p:grpSpPr>
          <a:xfrm>
            <a:off x="1270000" y="1390228"/>
            <a:ext cx="6614368" cy="3325630"/>
            <a:chOff x="1270000" y="1390228"/>
            <a:chExt cx="6614368" cy="3325630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1558430" y="4382220"/>
              <a:ext cx="2209005" cy="473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 rot="5400000" flipH="1" flipV="1">
              <a:off x="490835" y="3313832"/>
              <a:ext cx="2133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9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0607903"/>
                </p:ext>
              </p:extLst>
            </p:nvPr>
          </p:nvGraphicFramePr>
          <p:xfrm>
            <a:off x="3780135" y="4198070"/>
            <a:ext cx="296863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1" name="Equation" r:id="rId3" imgW="177480" imgH="228600" progId="Equation.DSMT4">
                    <p:embed/>
                  </p:oleObj>
                </mc:Choice>
                <mc:Fallback>
                  <p:oleObj name="Equation" r:id="rId3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0135" y="4198070"/>
                          <a:ext cx="296863" cy="382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8474752"/>
                </p:ext>
              </p:extLst>
            </p:nvPr>
          </p:nvGraphicFramePr>
          <p:xfrm>
            <a:off x="1403648" y="1916832"/>
            <a:ext cx="319087" cy="382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2" name="Equation" r:id="rId5" imgW="190440" imgH="228600" progId="Equation.DSMT4">
                    <p:embed/>
                  </p:oleObj>
                </mc:Choice>
                <mc:Fallback>
                  <p:oleObj name="Equation" r:id="rId5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1916832"/>
                          <a:ext cx="319087" cy="382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3" name="Straight Connector 32"/>
            <p:cNvCxnSpPr/>
            <p:nvPr/>
          </p:nvCxnSpPr>
          <p:spPr>
            <a:xfrm>
              <a:off x="1558430" y="2571728"/>
              <a:ext cx="18104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2463676" y="3476975"/>
              <a:ext cx="18104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558430" y="3314626"/>
              <a:ext cx="1104105" cy="1066477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5365005" y="4381103"/>
              <a:ext cx="2209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5364088" y="1700809"/>
              <a:ext cx="1711" cy="268061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39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6059706"/>
                </p:ext>
              </p:extLst>
            </p:nvPr>
          </p:nvGraphicFramePr>
          <p:xfrm>
            <a:off x="7587505" y="4198541"/>
            <a:ext cx="296863" cy="38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3" name="Equation" r:id="rId7" imgW="177480" imgH="228600" progId="Equation.DSMT4">
                    <p:embed/>
                  </p:oleObj>
                </mc:Choice>
                <mc:Fallback>
                  <p:oleObj name="Equation" r:id="rId7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87505" y="4198541"/>
                          <a:ext cx="296863" cy="382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2495947"/>
                </p:ext>
              </p:extLst>
            </p:nvPr>
          </p:nvGraphicFramePr>
          <p:xfrm>
            <a:off x="5211018" y="1390228"/>
            <a:ext cx="319087" cy="382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4" name="Equation" r:id="rId9" imgW="190440" imgH="228600" progId="Equation.DSMT4">
                    <p:embed/>
                  </p:oleObj>
                </mc:Choice>
                <mc:Fallback>
                  <p:oleObj name="Equation" r:id="rId9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1018" y="1390228"/>
                          <a:ext cx="319087" cy="382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1" name="Straight Connector 40"/>
            <p:cNvCxnSpPr/>
            <p:nvPr/>
          </p:nvCxnSpPr>
          <p:spPr>
            <a:xfrm>
              <a:off x="5364088" y="2572199"/>
              <a:ext cx="18104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6271046" y="3477446"/>
              <a:ext cx="18104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6084168" y="2572199"/>
              <a:ext cx="1090413" cy="1144833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 flipV="1">
              <a:off x="5364088" y="1844824"/>
              <a:ext cx="720081" cy="726905"/>
            </a:xfrm>
            <a:prstGeom prst="line">
              <a:avLst/>
            </a:prstGeom>
            <a:ln>
              <a:solidFill>
                <a:srgbClr val="0070C0"/>
              </a:solidFill>
              <a:prstDash val="sysDas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55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4135516"/>
                </p:ext>
              </p:extLst>
            </p:nvPr>
          </p:nvGraphicFramePr>
          <p:xfrm>
            <a:off x="5077123" y="1695599"/>
            <a:ext cx="212725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5" name="Equation" r:id="rId11" imgW="126720" imgH="177480" progId="Equation.DSMT4">
                    <p:embed/>
                  </p:oleObj>
                </mc:Choice>
                <mc:Fallback>
                  <p:oleObj name="Equation" r:id="rId11" imgW="126720" imgH="17748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7123" y="1695599"/>
                          <a:ext cx="212725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6" name="Straight Connector 55"/>
            <p:cNvCxnSpPr/>
            <p:nvPr/>
          </p:nvCxnSpPr>
          <p:spPr>
            <a:xfrm>
              <a:off x="5364088" y="3717032"/>
              <a:ext cx="18104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Oval 77"/>
            <p:cNvSpPr/>
            <p:nvPr/>
          </p:nvSpPr>
          <p:spPr>
            <a:xfrm>
              <a:off x="2034282" y="3771664"/>
              <a:ext cx="76200" cy="76200"/>
            </a:xfrm>
            <a:prstGeom prst="ellipse">
              <a:avLst/>
            </a:prstGeom>
            <a:solidFill>
              <a:srgbClr val="FF0000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6523864" y="3034234"/>
              <a:ext cx="76200" cy="76200"/>
            </a:xfrm>
            <a:prstGeom prst="ellipse">
              <a:avLst/>
            </a:prstGeom>
            <a:solidFill>
              <a:srgbClr val="FF0000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84" name="Object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022170"/>
                </p:ext>
              </p:extLst>
            </p:nvPr>
          </p:nvGraphicFramePr>
          <p:xfrm>
            <a:off x="1270000" y="2410470"/>
            <a:ext cx="255588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6" name="Equation" r:id="rId13" imgW="152280" imgH="177480" progId="Equation.DSMT4">
                    <p:embed/>
                  </p:oleObj>
                </mc:Choice>
                <mc:Fallback>
                  <p:oleObj name="Equation" r:id="rId13" imgW="152280" imgH="17748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0000" y="2410470"/>
                          <a:ext cx="255588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" name="Object 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170929"/>
                </p:ext>
              </p:extLst>
            </p:nvPr>
          </p:nvGraphicFramePr>
          <p:xfrm>
            <a:off x="3241129" y="4417408"/>
            <a:ext cx="255588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7" name="Equation" r:id="rId15" imgW="152280" imgH="177480" progId="Equation.DSMT4">
                    <p:embed/>
                  </p:oleObj>
                </mc:Choice>
                <mc:Fallback>
                  <p:oleObj name="Equation" r:id="rId15" imgW="152280" imgH="177480" progId="Equation.DSMT4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1129" y="4417408"/>
                          <a:ext cx="255588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1158020"/>
                </p:ext>
              </p:extLst>
            </p:nvPr>
          </p:nvGraphicFramePr>
          <p:xfrm>
            <a:off x="5076056" y="2422503"/>
            <a:ext cx="255588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8" name="Equation" r:id="rId17" imgW="152202" imgH="177569" progId="Equation.DSMT4">
                    <p:embed/>
                  </p:oleObj>
                </mc:Choice>
                <mc:Fallback>
                  <p:oleObj name="Equation" r:id="rId17" imgW="152202" imgH="177569" progId="Equation.DSMT4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056" y="2422503"/>
                          <a:ext cx="255588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" name="Object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7123977"/>
                </p:ext>
              </p:extLst>
            </p:nvPr>
          </p:nvGraphicFramePr>
          <p:xfrm>
            <a:off x="7048499" y="4417408"/>
            <a:ext cx="255588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89" name="Equation" r:id="rId18" imgW="152202" imgH="177569" progId="Equation.DSMT4">
                    <p:embed/>
                  </p:oleObj>
                </mc:Choice>
                <mc:Fallback>
                  <p:oleObj name="Equation" r:id="rId18" imgW="152202" imgH="177569" progId="Equation.DSMT4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8499" y="4417408"/>
                          <a:ext cx="255588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8" name="Object 8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142499"/>
                </p:ext>
              </p:extLst>
            </p:nvPr>
          </p:nvGraphicFramePr>
          <p:xfrm>
            <a:off x="1344116" y="3140968"/>
            <a:ext cx="212725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90" name="Equation" r:id="rId19" imgW="126720" imgH="177480" progId="Equation.DSMT4">
                    <p:embed/>
                  </p:oleObj>
                </mc:Choice>
                <mc:Fallback>
                  <p:oleObj name="Equation" r:id="rId19" imgW="126720" imgH="17748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116" y="3140968"/>
                          <a:ext cx="212725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" name="Right Brace 95"/>
            <p:cNvSpPr/>
            <p:nvPr/>
          </p:nvSpPr>
          <p:spPr>
            <a:xfrm>
              <a:off x="5364088" y="3717031"/>
              <a:ext cx="204019" cy="664071"/>
            </a:xfrm>
            <a:prstGeom prst="rightBrace">
              <a:avLst>
                <a:gd name="adj1" fmla="val 68092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aphicFrame>
          <p:nvGraphicFramePr>
            <p:cNvPr id="97" name="Object 9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1231728"/>
                </p:ext>
              </p:extLst>
            </p:nvPr>
          </p:nvGraphicFramePr>
          <p:xfrm>
            <a:off x="5612234" y="3861048"/>
            <a:ext cx="615950" cy="300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91" name="Equation" r:id="rId21" imgW="368280" imgH="177480" progId="Equation.DSMT4">
                    <p:embed/>
                  </p:oleObj>
                </mc:Choice>
                <mc:Fallback>
                  <p:oleObj name="Equation" r:id="rId21" imgW="368280" imgH="17748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2234" y="3861048"/>
                          <a:ext cx="615950" cy="3000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739319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7.0&quot;&gt;&lt;object type=&quot;1&quot; unique_id=&quot;10001&quot;&gt;&lt;object type=&quot;2&quot; unique_id=&quot;11016&quot;&gt;&lt;object type=&quot;3&quot; unique_id=&quot;11017&quot;&gt;&lt;property id=&quot;20148&quot; value=&quot;5&quot;/&gt;&lt;property id=&quot;20300&quot; value=&quot;Slide 1 - &amp;quot;Concept Learning&amp;quot;&quot;/&gt;&lt;property id=&quot;20307&quot; value=&quot;256&quot;/&gt;&lt;/object&gt;&lt;object type=&quot;3&quot; unique_id=&quot;11018&quot;&gt;&lt;property id=&quot;20148&quot; value=&quot;5&quot;/&gt;&lt;property id=&quot;20300&quot; value=&quot;Slide 2 - &amp;quot;VC dimension&amp;quot;&quot;/&gt;&lt;property id=&quot;20307&quot; value=&quot;257&quot;/&gt;&lt;/object&gt;&lt;/object&gt;&lt;object type=&quot;8&quot; unique_id=&quot;11022&quot;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43709EEEC435429F4CB77381565165" ma:contentTypeVersion="0" ma:contentTypeDescription="Create a new document." ma:contentTypeScope="" ma:versionID="6e01cbf3cd60125f58481046a604bdb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F4BA0B3-2968-47DC-B641-54D99B0AB64C}"/>
</file>

<file path=customXml/itemProps2.xml><?xml version="1.0" encoding="utf-8"?>
<ds:datastoreItem xmlns:ds="http://schemas.openxmlformats.org/officeDocument/2006/customXml" ds:itemID="{61D070CC-640C-459D-BA7E-13283D1FC8EA}"/>
</file>

<file path=customXml/itemProps3.xml><?xml version="1.0" encoding="utf-8"?>
<ds:datastoreItem xmlns:ds="http://schemas.openxmlformats.org/officeDocument/2006/customXml" ds:itemID="{78AF9DED-1DA3-4729-86C2-42BE016E832B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2366</TotalTime>
  <Words>723</Words>
  <Application>Microsoft Office PowerPoint</Application>
  <PresentationFormat>On-screen Show (4:3)</PresentationFormat>
  <Paragraphs>296</Paragraphs>
  <Slides>40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Bookman Old Style</vt:lpstr>
      <vt:lpstr>Browallia New</vt:lpstr>
      <vt:lpstr>Calibri</vt:lpstr>
      <vt:lpstr>Cordia New</vt:lpstr>
      <vt:lpstr>Courier New</vt:lpstr>
      <vt:lpstr>Gill Sans MT</vt:lpstr>
      <vt:lpstr>TH SarabunPSK</vt:lpstr>
      <vt:lpstr>Wingdings</vt:lpstr>
      <vt:lpstr>Wingdings 3</vt:lpstr>
      <vt:lpstr>Origin</vt:lpstr>
      <vt:lpstr>Equation</vt:lpstr>
      <vt:lpstr>Support Vector Machine</vt:lpstr>
      <vt:lpstr>VC dimension</vt:lpstr>
      <vt:lpstr>Hyperplane</vt:lpstr>
      <vt:lpstr>Hyperplane</vt:lpstr>
      <vt:lpstr>Linear Classifier</vt:lpstr>
      <vt:lpstr>Which hyperplane is the best?</vt:lpstr>
      <vt:lpstr>Misclassification</vt:lpstr>
      <vt:lpstr>Canonical hyperplanes</vt:lpstr>
      <vt:lpstr>Margin</vt:lpstr>
      <vt:lpstr>Binary Classification</vt:lpstr>
      <vt:lpstr>Linear SVM</vt:lpstr>
      <vt:lpstr>Quadratic Programming</vt:lpstr>
      <vt:lpstr>SVM with MATLAB</vt:lpstr>
      <vt:lpstr>Generalized Lagrangian</vt:lpstr>
      <vt:lpstr>Optimization</vt:lpstr>
      <vt:lpstr>Quadratic Optimization Problem</vt:lpstr>
      <vt:lpstr>QP of dual problem with MATLAB</vt:lpstr>
      <vt:lpstr>Support Vector Machines?</vt:lpstr>
      <vt:lpstr>Soft Margin</vt:lpstr>
      <vt:lpstr>Soft Margin Classification</vt:lpstr>
      <vt:lpstr>Primal: Soft Margin</vt:lpstr>
      <vt:lpstr>Dual: Soft Margin</vt:lpstr>
      <vt:lpstr>Quadratic Optimization Problem</vt:lpstr>
      <vt:lpstr>QP of Soft Margin with MATLAB</vt:lpstr>
      <vt:lpstr>Nonlinear space</vt:lpstr>
      <vt:lpstr>Classification in nonlinear space</vt:lpstr>
      <vt:lpstr>Nonlinear to linear transformation</vt:lpstr>
      <vt:lpstr>VC Dimension</vt:lpstr>
      <vt:lpstr>VC Dimension</vt:lpstr>
      <vt:lpstr>Higher dimension transformation</vt:lpstr>
      <vt:lpstr>Kernel trick </vt:lpstr>
      <vt:lpstr>Common kernel functions</vt:lpstr>
      <vt:lpstr>MATLAB implementation for RBF kernel</vt:lpstr>
      <vt:lpstr>Non-linear SVM</vt:lpstr>
      <vt:lpstr>Multiclass SVM</vt:lpstr>
      <vt:lpstr>Multiclass SVM</vt:lpstr>
      <vt:lpstr>DAG SVM</vt:lpstr>
      <vt:lpstr>DAG SVM</vt:lpstr>
      <vt:lpstr>SMO</vt:lpstr>
      <vt:lpstr>SMO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 LEARNING</dc:title>
  <dc:creator>TON</dc:creator>
  <cp:lastModifiedBy>Parinya Sanguansat</cp:lastModifiedBy>
  <cp:revision>138</cp:revision>
  <dcterms:created xsi:type="dcterms:W3CDTF">2009-05-30T17:56:23Z</dcterms:created>
  <dcterms:modified xsi:type="dcterms:W3CDTF">2020-12-20T09:51:17Z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0x010100FE43709EEEC435429F4CB77381565165</vt:lpwstr>
  </property>
</Properties>
</file>
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29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2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ags/tag1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9" r:id="rId4"/>
    <p:sldId id="260" r:id="rId5"/>
    <p:sldId id="261" r:id="rId6"/>
    <p:sldId id="308" r:id="rId7"/>
    <p:sldId id="268" r:id="rId8"/>
    <p:sldId id="262" r:id="rId9"/>
    <p:sldId id="269" r:id="rId10"/>
    <p:sldId id="270" r:id="rId11"/>
    <p:sldId id="276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90" r:id="rId22"/>
    <p:sldId id="282" r:id="rId23"/>
    <p:sldId id="281" r:id="rId24"/>
    <p:sldId id="283" r:id="rId25"/>
    <p:sldId id="285" r:id="rId26"/>
    <p:sldId id="287" r:id="rId27"/>
    <p:sldId id="286" r:id="rId28"/>
    <p:sldId id="288" r:id="rId29"/>
    <p:sldId id="289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</p:sldIdLst>
  <p:sldSz cx="9144000" cy="6858000" type="screen4x3"/>
  <p:notesSz cx="6858000" cy="9144000"/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273" autoAdjust="0"/>
  </p:normalViewPr>
  <p:slideViewPr>
    <p:cSldViewPr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2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5" Type="http://schemas.openxmlformats.org/officeDocument/2006/relationships/image" Target="../media/image48.wmf"/><Relationship Id="rId4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1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78C29-7D90-4B9D-B78D-10C7025CA937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08FC7-BC4C-4B51-B7A8-2568749377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07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37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66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585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45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561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P(AA)= (4/52)(3/51)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P(AAA)= (4/52)(4/52) (4/52)</a:t>
            </a:r>
          </a:p>
          <a:p>
            <a:r>
              <a:rPr lang="en-US" dirty="0"/>
              <a:t>P(A|K)=4/51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91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6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05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56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P(Sunny) = 5/14</a:t>
            </a:r>
          </a:p>
          <a:p>
            <a:r>
              <a:rPr lang="en-US" dirty="0"/>
              <a:t>P(Yes)</a:t>
            </a:r>
            <a:r>
              <a:rPr lang="en-US" baseline="0" dirty="0"/>
              <a:t> = 9/14</a:t>
            </a:r>
          </a:p>
          <a:p>
            <a:r>
              <a:rPr lang="en-US" baseline="0" dirty="0"/>
              <a:t>P(</a:t>
            </a:r>
            <a:r>
              <a:rPr lang="en-US" baseline="0" dirty="0" err="1"/>
              <a:t>Sunny|Yes</a:t>
            </a:r>
            <a:r>
              <a:rPr lang="en-US" baseline="0" dirty="0"/>
              <a:t>) = 2/9</a:t>
            </a:r>
          </a:p>
          <a:p>
            <a:r>
              <a:rPr lang="en-US" baseline="0" dirty="0"/>
              <a:t>P(</a:t>
            </a:r>
            <a:r>
              <a:rPr lang="en-US" baseline="0" dirty="0" err="1"/>
              <a:t>Yes|Sunny</a:t>
            </a:r>
            <a:r>
              <a:rPr lang="en-US" baseline="0" dirty="0"/>
              <a:t>) = P(</a:t>
            </a:r>
            <a:r>
              <a:rPr lang="en-US" baseline="0" dirty="0" err="1"/>
              <a:t>Sunny|Yes</a:t>
            </a:r>
            <a:r>
              <a:rPr lang="en-US" baseline="0" dirty="0"/>
              <a:t>)</a:t>
            </a:r>
            <a:r>
              <a:rPr lang="en-US" dirty="0"/>
              <a:t>P(Yes)</a:t>
            </a:r>
            <a:r>
              <a:rPr lang="en-US" baseline="0" dirty="0"/>
              <a:t>/</a:t>
            </a:r>
            <a:r>
              <a:rPr lang="en-US" dirty="0"/>
              <a:t>P(Sunny) = (2/9*9/14)/(5/14) = 2/5</a:t>
            </a:r>
            <a:endParaRPr lang="en-US" baseline="0" dirty="0"/>
          </a:p>
          <a:p>
            <a:r>
              <a:rPr lang="en-US" baseline="0" dirty="0"/>
              <a:t>P(</a:t>
            </a:r>
            <a:r>
              <a:rPr lang="en-US" baseline="0" dirty="0" err="1"/>
              <a:t>Yes|Sunny</a:t>
            </a:r>
            <a:r>
              <a:rPr lang="en-US" baseline="0" dirty="0"/>
              <a:t>) = 2/5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51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P(+|cancer)P(cancer)=.98*.008=.0078</a:t>
            </a:r>
          </a:p>
          <a:p>
            <a:r>
              <a:rPr lang="en-US" dirty="0"/>
              <a:t>P(+|~cancer)P(~cancer)=.03*.992=.0298 </a:t>
            </a:r>
            <a:r>
              <a:rPr lang="en-US" dirty="0">
                <a:sym typeface="Wingdings" pitchFamily="2" charset="2"/>
              </a:rPr>
              <a:t></a:t>
            </a:r>
            <a:r>
              <a:rPr lang="en-US" baseline="0" dirty="0">
                <a:sym typeface="Wingdings" pitchFamily="2" charset="2"/>
              </a:rPr>
              <a:t> </a:t>
            </a:r>
            <a:r>
              <a:rPr lang="en-US" baseline="0" dirty="0" err="1">
                <a:sym typeface="Wingdings" pitchFamily="2" charset="2"/>
              </a:rPr>
              <a:t>hMAP</a:t>
            </a:r>
            <a:endParaRPr lang="en-US" baseline="0" dirty="0">
              <a:sym typeface="Wingdings" pitchFamily="2" charset="2"/>
            </a:endParaRPr>
          </a:p>
          <a:p>
            <a:r>
              <a:rPr lang="en-US" baseline="0" dirty="0">
                <a:sym typeface="Wingdings" pitchFamily="2" charset="2"/>
              </a:rPr>
              <a:t>P(+) = 0.0078+0.0298</a:t>
            </a:r>
          </a:p>
          <a:p>
            <a:r>
              <a:rPr lang="en-US" baseline="0" dirty="0">
                <a:sym typeface="Wingdings" pitchFamily="2" charset="2"/>
              </a:rPr>
              <a:t>P(cancer|+) = </a:t>
            </a:r>
            <a:r>
              <a:rPr lang="en-US" dirty="0"/>
              <a:t>P(+|cancer)P(cancer)</a:t>
            </a:r>
            <a:r>
              <a:rPr lang="en-US" baseline="0" dirty="0">
                <a:sym typeface="Wingdings" pitchFamily="2" charset="2"/>
              </a:rPr>
              <a:t>/P(+) = .21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483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495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427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214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46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03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211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82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460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255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21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1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02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P(yes) = 9/14*2/9*3/9*3/9*3/9 = 0.005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P(no) = 5/14*3/5*1/5*4/5*3/5 = 0.021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145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7411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733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447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98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634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138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2363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123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10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527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43773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508FC7-BC4C-4B51-B7A8-25687493775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86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6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8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9.wmf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4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3.bin"/><Relationship Id="rId9" Type="http://schemas.openxmlformats.org/officeDocument/2006/relationships/image" Target="../media/image44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46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48.wmf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43.wmf"/><Relationship Id="rId5" Type="http://schemas.openxmlformats.org/officeDocument/2006/relationships/image" Target="../media/image45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49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51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5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56.bin"/><Relationship Id="rId5" Type="http://schemas.openxmlformats.org/officeDocument/2006/relationships/image" Target="../media/image52.wmf"/><Relationship Id="rId4" Type="http://schemas.openxmlformats.org/officeDocument/2006/relationships/oleObject" Target="../embeddings/oleObject5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57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8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5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60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59.bin"/><Relationship Id="rId9" Type="http://schemas.openxmlformats.org/officeDocument/2006/relationships/image" Target="../media/image57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62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2.wmf"/><Relationship Id="rId3" Type="http://schemas.openxmlformats.org/officeDocument/2006/relationships/notesSlide" Target="../notesSlides/notesSlide36.xml"/><Relationship Id="rId7" Type="http://schemas.openxmlformats.org/officeDocument/2006/relationships/oleObject" Target="../embeddings/oleObject65.bin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1.wmf"/><Relationship Id="rId5" Type="http://schemas.openxmlformats.org/officeDocument/2006/relationships/image" Target="../media/image59.wmf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3.bin"/><Relationship Id="rId9" Type="http://schemas.openxmlformats.org/officeDocument/2006/relationships/oleObject" Target="../embeddings/oleObject66.bin"/><Relationship Id="rId14" Type="http://schemas.openxmlformats.org/officeDocument/2006/relationships/oleObject" Target="../embeddings/oleObject6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Parinya Sanguansat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Probabilistic approach to inference</a:t>
            </a:r>
          </a:p>
          <a:p>
            <a:r>
              <a:rPr lang="en-US" dirty="0"/>
              <a:t>Based on the assumption that:</a:t>
            </a:r>
          </a:p>
          <a:p>
            <a:pPr lvl="1"/>
            <a:r>
              <a:rPr lang="en-US" dirty="0"/>
              <a:t>Quantities of interest are governed by probability distributions</a:t>
            </a:r>
          </a:p>
          <a:p>
            <a:pPr lvl="1"/>
            <a:r>
              <a:rPr lang="en-US" dirty="0"/>
              <a:t>Optimal decisions can be made by reasoning about these probabilities together with observed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probabilities between 0 and 1</a:t>
            </a:r>
          </a:p>
          <a:p>
            <a:endParaRPr lang="en-US" dirty="0"/>
          </a:p>
          <a:p>
            <a:r>
              <a:rPr lang="en-US" dirty="0"/>
              <a:t>True proposition has probability 1, false has probability 0</a:t>
            </a:r>
          </a:p>
          <a:p>
            <a:pPr>
              <a:buFontTx/>
              <a:buNone/>
            </a:pPr>
            <a:r>
              <a:rPr lang="en-US" dirty="0"/>
              <a:t>        P(true) = 1        P(false) = 0</a:t>
            </a:r>
          </a:p>
        </p:txBody>
      </p:sp>
      <p:graphicFrame>
        <p:nvGraphicFramePr>
          <p:cNvPr id="130052" name="Object 4"/>
          <p:cNvGraphicFramePr>
            <a:graphicFrameLocks noChangeAspect="1"/>
          </p:cNvGraphicFramePr>
          <p:nvPr/>
        </p:nvGraphicFramePr>
        <p:xfrm>
          <a:off x="3270250" y="1676400"/>
          <a:ext cx="19875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4" imgW="774360" imgH="203040" progId="Equation.3">
                  <p:embed/>
                </p:oleObj>
              </mc:Choice>
              <mc:Fallback>
                <p:oleObj name="Equation" r:id="rId4" imgW="7743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0" y="1676400"/>
                        <a:ext cx="198755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1676400" y="5638800"/>
          <a:ext cx="54102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6" imgW="2209680" imgH="203040" progId="Equation.3">
                  <p:embed/>
                </p:oleObj>
              </mc:Choice>
              <mc:Fallback>
                <p:oleObj name="Equation" r:id="rId6" imgW="22096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638800"/>
                        <a:ext cx="5410200" cy="496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13"/>
          <p:cNvSpPr/>
          <p:nvPr/>
        </p:nvSpPr>
        <p:spPr>
          <a:xfrm>
            <a:off x="4038600" y="3352800"/>
            <a:ext cx="1981200" cy="1828800"/>
          </a:xfrm>
          <a:prstGeom prst="ellipse">
            <a:avLst/>
          </a:prstGeom>
          <a:gradFill>
            <a:gsLst>
              <a:gs pos="0">
                <a:schemeClr val="accent3">
                  <a:tint val="61000"/>
                  <a:satMod val="200000"/>
                  <a:alpha val="30000"/>
                </a:schemeClr>
              </a:gs>
              <a:gs pos="100000">
                <a:schemeClr val="accent3">
                  <a:tint val="45000"/>
                  <a:satMod val="200000"/>
                </a:schemeClr>
              </a:gs>
            </a:gsLst>
            <a:lin ang="0" scaled="0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048000" y="3352800"/>
            <a:ext cx="1981200" cy="1828800"/>
          </a:xfrm>
          <a:prstGeom prst="ellipse">
            <a:avLst/>
          </a:prstGeom>
          <a:gradFill>
            <a:gsLst>
              <a:gs pos="0">
                <a:srgbClr val="00B0F0">
                  <a:alpha val="37000"/>
                </a:srgbClr>
              </a:gs>
              <a:gs pos="100000">
                <a:srgbClr val="00B0F0">
                  <a:alpha val="8000"/>
                </a:srgbClr>
              </a:gs>
            </a:gsLst>
            <a:lin ang="0" scaled="0"/>
          </a:gradFill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hape 16"/>
          <p:cNvCxnSpPr/>
          <p:nvPr/>
        </p:nvCxnSpPr>
        <p:spPr>
          <a:xfrm rot="10800000">
            <a:off x="4648200" y="4267200"/>
            <a:ext cx="1905000" cy="1371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hape 16"/>
          <p:cNvCxnSpPr>
            <a:endCxn id="15" idx="4"/>
          </p:cNvCxnSpPr>
          <p:nvPr/>
        </p:nvCxnSpPr>
        <p:spPr>
          <a:xfrm rot="5400000" flipH="1" flipV="1">
            <a:off x="3810000" y="5410200"/>
            <a:ext cx="457200" cy="1588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Shape 16"/>
          <p:cNvCxnSpPr>
            <a:endCxn id="14" idx="4"/>
          </p:cNvCxnSpPr>
          <p:nvPr/>
        </p:nvCxnSpPr>
        <p:spPr>
          <a:xfrm rot="16200000" flipV="1">
            <a:off x="4838700" y="5372100"/>
            <a:ext cx="457200" cy="762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15000" y="6019800"/>
            <a:ext cx="134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Joint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Conjunction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6019800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Union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Disjunction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601980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Marginal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5800" y="601980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Marginal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Conditional Probability 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</a:t>
            </a:r>
            <a:r>
              <a:rPr lang="en-US" i="1" dirty="0"/>
              <a:t>A</a:t>
            </a:r>
            <a:r>
              <a:rPr lang="en-US" dirty="0"/>
              <a:t> | </a:t>
            </a:r>
            <a:r>
              <a:rPr lang="en-US" i="1" dirty="0"/>
              <a:t>B</a:t>
            </a:r>
            <a:r>
              <a:rPr lang="en-US" dirty="0"/>
              <a:t>) is the probability of </a:t>
            </a:r>
            <a:r>
              <a:rPr lang="en-US" i="1" dirty="0"/>
              <a:t>A</a:t>
            </a:r>
            <a:r>
              <a:rPr lang="en-US" dirty="0"/>
              <a:t> given </a:t>
            </a:r>
            <a:r>
              <a:rPr lang="en-US" i="1" dirty="0"/>
              <a:t>B</a:t>
            </a:r>
          </a:p>
          <a:p>
            <a:r>
              <a:rPr lang="en-US" dirty="0"/>
              <a:t>Assumes that </a:t>
            </a:r>
            <a:r>
              <a:rPr lang="en-US" i="1" dirty="0"/>
              <a:t>B</a:t>
            </a:r>
            <a:r>
              <a:rPr lang="en-US" dirty="0"/>
              <a:t> is </a:t>
            </a:r>
            <a:r>
              <a:rPr lang="en-US" dirty="0">
                <a:solidFill>
                  <a:srgbClr val="00B050"/>
                </a:solidFill>
              </a:rPr>
              <a:t>all and only information known</a:t>
            </a:r>
            <a:r>
              <a:rPr lang="en-US" dirty="0"/>
              <a:t>.</a:t>
            </a:r>
          </a:p>
          <a:p>
            <a:r>
              <a:rPr lang="en-US" dirty="0"/>
              <a:t>Defined by:</a:t>
            </a:r>
          </a:p>
        </p:txBody>
      </p:sp>
      <p:graphicFrame>
        <p:nvGraphicFramePr>
          <p:cNvPr id="131076" name="Object 4"/>
          <p:cNvGraphicFramePr>
            <a:graphicFrameLocks noChangeAspect="1"/>
          </p:cNvGraphicFramePr>
          <p:nvPr/>
        </p:nvGraphicFramePr>
        <p:xfrm>
          <a:off x="2971800" y="2286000"/>
          <a:ext cx="28194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Equation" r:id="rId4" imgW="1282680" imgH="419040" progId="Equation.3">
                  <p:embed/>
                </p:oleObj>
              </mc:Choice>
              <mc:Fallback>
                <p:oleObj name="Equation" r:id="rId4" imgW="128268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86000"/>
                        <a:ext cx="2819400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Oval 11"/>
          <p:cNvSpPr/>
          <p:nvPr/>
        </p:nvSpPr>
        <p:spPr>
          <a:xfrm>
            <a:off x="4038600" y="3352800"/>
            <a:ext cx="1981200" cy="1828800"/>
          </a:xfrm>
          <a:prstGeom prst="ellipse">
            <a:avLst/>
          </a:prstGeom>
          <a:gradFill>
            <a:gsLst>
              <a:gs pos="0">
                <a:schemeClr val="accent3">
                  <a:tint val="61000"/>
                  <a:satMod val="200000"/>
                  <a:alpha val="30000"/>
                </a:schemeClr>
              </a:gs>
              <a:gs pos="100000">
                <a:schemeClr val="accent3">
                  <a:tint val="45000"/>
                  <a:satMod val="200000"/>
                </a:schemeClr>
              </a:gs>
            </a:gsLst>
            <a:lin ang="0" scaled="0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3048000" y="3352800"/>
            <a:ext cx="1981200" cy="1828800"/>
          </a:xfrm>
          <a:prstGeom prst="ellipse">
            <a:avLst/>
          </a:prstGeom>
          <a:gradFill>
            <a:gsLst>
              <a:gs pos="0">
                <a:srgbClr val="00B0F0">
                  <a:alpha val="37000"/>
                </a:srgbClr>
              </a:gs>
              <a:gs pos="100000">
                <a:srgbClr val="00B0F0">
                  <a:alpha val="8000"/>
                </a:srgbClr>
              </a:gs>
            </a:gsLst>
            <a:lin ang="0" scaled="0"/>
          </a:gradFill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hape 16"/>
          <p:cNvCxnSpPr/>
          <p:nvPr/>
        </p:nvCxnSpPr>
        <p:spPr>
          <a:xfrm rot="5400000">
            <a:off x="3962400" y="3124200"/>
            <a:ext cx="1676400" cy="7620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Shape 16"/>
          <p:cNvCxnSpPr>
            <a:endCxn id="12" idx="7"/>
          </p:cNvCxnSpPr>
          <p:nvPr/>
        </p:nvCxnSpPr>
        <p:spPr>
          <a:xfrm rot="16200000" flipH="1">
            <a:off x="5283620" y="3174580"/>
            <a:ext cx="496421" cy="39566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CFC39F-3E03-4DB8-8955-94A68EE7CC1B}" type="slidenum">
              <a:rPr lang="en-US"/>
              <a:pPr/>
              <a:t>5</a:t>
            </a:fld>
            <a:endParaRPr lang="en-US">
              <a:latin typeface="Times New Roman" pitchFamily="18" charset="0"/>
            </a:endParaRP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Independence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</a:t>
            </a:r>
            <a:r>
              <a:rPr lang="en-US" i="1" dirty="0"/>
              <a:t>independent </a:t>
            </a:r>
            <a:r>
              <a:rPr lang="en-US" dirty="0" err="1"/>
              <a:t>iff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Therefore, if </a:t>
            </a:r>
            <a:r>
              <a:rPr lang="en-US" i="1" dirty="0"/>
              <a:t>A</a:t>
            </a:r>
            <a:r>
              <a:rPr lang="en-US" dirty="0"/>
              <a:t> and </a:t>
            </a:r>
            <a:r>
              <a:rPr lang="en-US" i="1" dirty="0"/>
              <a:t>B</a:t>
            </a:r>
            <a:r>
              <a:rPr lang="en-US" dirty="0"/>
              <a:t> are independent:</a:t>
            </a:r>
          </a:p>
        </p:txBody>
      </p:sp>
      <p:graphicFrame>
        <p:nvGraphicFramePr>
          <p:cNvPr id="132100" name="Object 4"/>
          <p:cNvGraphicFramePr>
            <a:graphicFrameLocks noChangeAspect="1"/>
          </p:cNvGraphicFramePr>
          <p:nvPr/>
        </p:nvGraphicFramePr>
        <p:xfrm>
          <a:off x="3429000" y="1793875"/>
          <a:ext cx="2057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Equation" r:id="rId4" imgW="1002960" imgH="203040" progId="Equation.3">
                  <p:embed/>
                </p:oleObj>
              </mc:Choice>
              <mc:Fallback>
                <p:oleObj name="Equation" r:id="rId4" imgW="1002960" imgH="203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793875"/>
                        <a:ext cx="20574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1" name="Object 5"/>
          <p:cNvGraphicFramePr>
            <a:graphicFrameLocks noChangeAspect="1"/>
          </p:cNvGraphicFramePr>
          <p:nvPr/>
        </p:nvGraphicFramePr>
        <p:xfrm>
          <a:off x="3429000" y="2286000"/>
          <a:ext cx="2057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Equation" r:id="rId6" imgW="1002960" imgH="203040" progId="Equation.3">
                  <p:embed/>
                </p:oleObj>
              </mc:Choice>
              <mc:Fallback>
                <p:oleObj name="Equation" r:id="rId6" imgW="100296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2286000"/>
                        <a:ext cx="2057400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2" name="Object 6"/>
          <p:cNvGraphicFramePr>
            <a:graphicFrameLocks noChangeAspect="1"/>
          </p:cNvGraphicFramePr>
          <p:nvPr/>
        </p:nvGraphicFramePr>
        <p:xfrm>
          <a:off x="533400" y="5334000"/>
          <a:ext cx="382428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Equation" r:id="rId8" imgW="1739880" imgH="419040" progId="Equation.3">
                  <p:embed/>
                </p:oleObj>
              </mc:Choice>
              <mc:Fallback>
                <p:oleObj name="Equation" r:id="rId8" imgW="173988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334000"/>
                        <a:ext cx="3824288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103" name="Object 7"/>
          <p:cNvGraphicFramePr>
            <a:graphicFrameLocks noChangeAspect="1"/>
          </p:cNvGraphicFramePr>
          <p:nvPr/>
        </p:nvGraphicFramePr>
        <p:xfrm>
          <a:off x="4876800" y="5486400"/>
          <a:ext cx="35052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Equation" r:id="rId10" imgW="1384200" imgH="203040" progId="Equation.3">
                  <p:embed/>
                </p:oleObj>
              </mc:Choice>
              <mc:Fallback>
                <p:oleObj name="Equation" r:id="rId10" imgW="1384200" imgH="2030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486400"/>
                        <a:ext cx="35052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10"/>
          <p:cNvSpPr/>
          <p:nvPr/>
        </p:nvSpPr>
        <p:spPr>
          <a:xfrm>
            <a:off x="4038600" y="3352800"/>
            <a:ext cx="1981200" cy="1828800"/>
          </a:xfrm>
          <a:prstGeom prst="ellipse">
            <a:avLst/>
          </a:prstGeom>
          <a:gradFill>
            <a:gsLst>
              <a:gs pos="0">
                <a:schemeClr val="accent3">
                  <a:tint val="61000"/>
                  <a:satMod val="200000"/>
                  <a:alpha val="30000"/>
                </a:schemeClr>
              </a:gs>
              <a:gs pos="100000">
                <a:schemeClr val="accent3">
                  <a:tint val="45000"/>
                  <a:satMod val="200000"/>
                </a:schemeClr>
              </a:gs>
            </a:gsLst>
            <a:lin ang="0" scaled="0"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48000" y="3352800"/>
            <a:ext cx="1981200" cy="1828800"/>
          </a:xfrm>
          <a:prstGeom prst="ellipse">
            <a:avLst/>
          </a:prstGeom>
          <a:gradFill>
            <a:gsLst>
              <a:gs pos="0">
                <a:srgbClr val="00B0F0">
                  <a:alpha val="37000"/>
                </a:srgbClr>
              </a:gs>
              <a:gs pos="100000">
                <a:srgbClr val="00B0F0">
                  <a:alpha val="8000"/>
                </a:srgbClr>
              </a:gs>
            </a:gsLst>
            <a:lin ang="0" scaled="0"/>
          </a:gradFill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2.22222E-6 L -0.125 -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0.125 -2.22222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2019300" y="1447800"/>
            <a:ext cx="5105400" cy="27432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6" name="Straight Connector 5"/>
          <p:cNvCxnSpPr>
            <a:stCxn id="4" idx="0"/>
            <a:endCxn id="4" idx="2"/>
          </p:cNvCxnSpPr>
          <p:nvPr/>
        </p:nvCxnSpPr>
        <p:spPr>
          <a:xfrm>
            <a:off x="4572000" y="1447800"/>
            <a:ext cx="0" cy="2743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/>
          <p:cNvGrpSpPr/>
          <p:nvPr/>
        </p:nvGrpSpPr>
        <p:grpSpPr>
          <a:xfrm>
            <a:off x="2589922" y="2179320"/>
            <a:ext cx="457200" cy="457200"/>
            <a:chOff x="2667000" y="2743200"/>
            <a:chExt cx="457200" cy="457200"/>
          </a:xfrm>
        </p:grpSpPr>
        <p:sp>
          <p:nvSpPr>
            <p:cNvPr id="8" name="Oval 7"/>
            <p:cNvSpPr/>
            <p:nvPr/>
          </p:nvSpPr>
          <p:spPr>
            <a:xfrm>
              <a:off x="2667000" y="27432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10" name="Straight Connector 9"/>
            <p:cNvCxnSpPr>
              <a:stCxn id="8" idx="1"/>
              <a:endCxn id="8" idx="5"/>
            </p:cNvCxnSpPr>
            <p:nvPr/>
          </p:nvCxnSpPr>
          <p:spPr>
            <a:xfrm>
              <a:off x="2733955" y="2810155"/>
              <a:ext cx="323290" cy="32329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/>
          <p:cNvGrpSpPr/>
          <p:nvPr/>
        </p:nvGrpSpPr>
        <p:grpSpPr>
          <a:xfrm>
            <a:off x="3529255" y="2179320"/>
            <a:ext cx="457200" cy="457200"/>
            <a:chOff x="2667000" y="2743200"/>
            <a:chExt cx="457200" cy="457200"/>
          </a:xfrm>
        </p:grpSpPr>
        <p:sp>
          <p:nvSpPr>
            <p:cNvPr id="13" name="Oval 12"/>
            <p:cNvSpPr/>
            <p:nvPr/>
          </p:nvSpPr>
          <p:spPr>
            <a:xfrm>
              <a:off x="2667000" y="27432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14" name="Straight Connector 13"/>
            <p:cNvCxnSpPr>
              <a:stCxn id="13" idx="1"/>
              <a:endCxn id="13" idx="5"/>
            </p:cNvCxnSpPr>
            <p:nvPr/>
          </p:nvCxnSpPr>
          <p:spPr>
            <a:xfrm>
              <a:off x="2733955" y="2810155"/>
              <a:ext cx="323290" cy="32329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5656117" y="2179320"/>
            <a:ext cx="457200" cy="457200"/>
            <a:chOff x="2667000" y="2743200"/>
            <a:chExt cx="457200" cy="457200"/>
          </a:xfrm>
        </p:grpSpPr>
        <p:sp>
          <p:nvSpPr>
            <p:cNvPr id="16" name="Oval 15"/>
            <p:cNvSpPr/>
            <p:nvPr/>
          </p:nvSpPr>
          <p:spPr>
            <a:xfrm>
              <a:off x="2667000" y="2743200"/>
              <a:ext cx="4572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17" name="Straight Connector 16"/>
            <p:cNvCxnSpPr>
              <a:stCxn id="16" idx="1"/>
              <a:endCxn id="16" idx="5"/>
            </p:cNvCxnSpPr>
            <p:nvPr/>
          </p:nvCxnSpPr>
          <p:spPr>
            <a:xfrm>
              <a:off x="2733955" y="2810155"/>
              <a:ext cx="323290" cy="32329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2464103" y="3148435"/>
            <a:ext cx="752475" cy="304800"/>
            <a:chOff x="2557181" y="3849725"/>
            <a:chExt cx="752475" cy="304800"/>
          </a:xfrm>
        </p:grpSpPr>
        <p:sp>
          <p:nvSpPr>
            <p:cNvPr id="19" name="Flowchart: Delay 18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0" name="Flowchart: Delay 19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374775" y="3148435"/>
            <a:ext cx="752475" cy="304800"/>
            <a:chOff x="2557181" y="3849725"/>
            <a:chExt cx="752475" cy="304800"/>
          </a:xfrm>
        </p:grpSpPr>
        <p:sp>
          <p:nvSpPr>
            <p:cNvPr id="23" name="Flowchart: Delay 22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Flowchart: Delay 23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924028" y="3578475"/>
            <a:ext cx="752475" cy="304800"/>
            <a:chOff x="2557181" y="3849725"/>
            <a:chExt cx="752475" cy="304800"/>
          </a:xfrm>
        </p:grpSpPr>
        <p:sp>
          <p:nvSpPr>
            <p:cNvPr id="45" name="Flowchart: Delay 44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46" name="Flowchart: Delay 45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49" name="Oval 48"/>
          <p:cNvSpPr/>
          <p:nvPr/>
        </p:nvSpPr>
        <p:spPr>
          <a:xfrm>
            <a:off x="2076731" y="1508760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4623729" y="1508510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52" name="Rectangle 2"/>
          <p:cNvSpPr>
            <a:spLocks noChangeArrowheads="1"/>
          </p:cNvSpPr>
          <p:nvPr/>
        </p:nvSpPr>
        <p:spPr bwMode="auto">
          <a:xfrm>
            <a:off x="990600" y="487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h-TH"/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2019300" y="4876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h-TH"/>
          </a:p>
        </p:txBody>
      </p:sp>
      <p:grpSp>
        <p:nvGrpSpPr>
          <p:cNvPr id="58" name="Group 57"/>
          <p:cNvGrpSpPr/>
          <p:nvPr/>
        </p:nvGrpSpPr>
        <p:grpSpPr>
          <a:xfrm>
            <a:off x="5013356" y="3139079"/>
            <a:ext cx="752475" cy="304800"/>
            <a:chOff x="2557181" y="3849725"/>
            <a:chExt cx="752475" cy="304800"/>
          </a:xfrm>
        </p:grpSpPr>
        <p:sp>
          <p:nvSpPr>
            <p:cNvPr id="59" name="Flowchart: Delay 58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0" name="Flowchart: Delay 59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5924028" y="3148435"/>
            <a:ext cx="752475" cy="304800"/>
            <a:chOff x="2557181" y="3849725"/>
            <a:chExt cx="752475" cy="304800"/>
          </a:xfrm>
        </p:grpSpPr>
        <p:sp>
          <p:nvSpPr>
            <p:cNvPr id="62" name="Flowchart: Delay 61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3" name="Flowchart: Delay 62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5013356" y="3573662"/>
            <a:ext cx="752475" cy="304800"/>
            <a:chOff x="2557181" y="3849725"/>
            <a:chExt cx="752475" cy="304800"/>
          </a:xfrm>
        </p:grpSpPr>
        <p:sp>
          <p:nvSpPr>
            <p:cNvPr id="65" name="Flowchart: Delay 64"/>
            <p:cNvSpPr/>
            <p:nvPr/>
          </p:nvSpPr>
          <p:spPr>
            <a:xfrm>
              <a:off x="2919412" y="3849725"/>
              <a:ext cx="390244" cy="304800"/>
            </a:xfrm>
            <a:prstGeom prst="flowChartDelay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66" name="Flowchart: Delay 65"/>
            <p:cNvSpPr/>
            <p:nvPr/>
          </p:nvSpPr>
          <p:spPr>
            <a:xfrm flipH="1">
              <a:off x="2557181" y="3849725"/>
              <a:ext cx="372791" cy="304800"/>
            </a:xfrm>
            <a:prstGeom prst="flowChartDelay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sp>
        <p:nvSpPr>
          <p:cNvPr id="67" name="TextBox 66"/>
          <p:cNvSpPr txBox="1"/>
          <p:nvPr/>
        </p:nvSpPr>
        <p:spPr>
          <a:xfrm>
            <a:off x="2019300" y="4648200"/>
            <a:ext cx="13926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P(pill) =</a:t>
            </a:r>
          </a:p>
          <a:p>
            <a:r>
              <a:rPr lang="en-US" dirty="0"/>
              <a:t>P(capsule) = </a:t>
            </a:r>
          </a:p>
          <a:p>
            <a:r>
              <a:rPr lang="en-US" dirty="0"/>
              <a:t>P(1) = </a:t>
            </a:r>
          </a:p>
          <a:p>
            <a:r>
              <a:rPr lang="en-US" dirty="0"/>
              <a:t>P(2) =</a:t>
            </a:r>
            <a:endParaRPr lang="th-TH" dirty="0"/>
          </a:p>
        </p:txBody>
      </p:sp>
      <p:sp>
        <p:nvSpPr>
          <p:cNvPr id="68" name="TextBox 67"/>
          <p:cNvSpPr txBox="1"/>
          <p:nvPr/>
        </p:nvSpPr>
        <p:spPr>
          <a:xfrm>
            <a:off x="3875215" y="4648198"/>
            <a:ext cx="16956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P(pill | 1) =</a:t>
            </a:r>
          </a:p>
          <a:p>
            <a:r>
              <a:rPr lang="en-US" dirty="0"/>
              <a:t>P(capsule | 1) = </a:t>
            </a:r>
          </a:p>
          <a:p>
            <a:r>
              <a:rPr lang="en-US" dirty="0"/>
              <a:t>P(1 | pill) = </a:t>
            </a:r>
          </a:p>
          <a:p>
            <a:r>
              <a:rPr lang="en-US" dirty="0"/>
              <a:t>P(1 | capsule) =</a:t>
            </a:r>
            <a:endParaRPr lang="th-TH" dirty="0"/>
          </a:p>
        </p:txBody>
      </p:sp>
      <p:sp>
        <p:nvSpPr>
          <p:cNvPr id="69" name="TextBox 68"/>
          <p:cNvSpPr txBox="1"/>
          <p:nvPr/>
        </p:nvSpPr>
        <p:spPr>
          <a:xfrm>
            <a:off x="5874999" y="4648198"/>
            <a:ext cx="16956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P(pill | 2) =</a:t>
            </a:r>
          </a:p>
          <a:p>
            <a:r>
              <a:rPr lang="en-US" dirty="0"/>
              <a:t>P(capsule | 2) = </a:t>
            </a:r>
          </a:p>
          <a:p>
            <a:r>
              <a:rPr lang="en-US" dirty="0"/>
              <a:t>P(2 | pill) = </a:t>
            </a:r>
          </a:p>
          <a:p>
            <a:r>
              <a:rPr lang="en-US" dirty="0"/>
              <a:t>P(2 | capsule) =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738479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you draw 2 cards from the deck without replacement, what is the probability that they will both be aces?</a:t>
            </a:r>
          </a:p>
          <a:p>
            <a:endParaRPr lang="en-US" dirty="0"/>
          </a:p>
          <a:p>
            <a:r>
              <a:rPr lang="en-US" dirty="0"/>
              <a:t>If you draw 3 cards from the deck with replacement, what is the probability that they will be all aces?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probability that the second card will be an ace if the first card is a king?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Like or dislike the designs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is the popular design? Can you prove it?</a:t>
            </a:r>
          </a:p>
          <a:p>
            <a:r>
              <a:rPr lang="en-US" dirty="0"/>
              <a:t>Find these probabilities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193567" name="Group 31"/>
          <p:cNvGraphicFramePr>
            <a:graphicFrameLocks noGrp="1"/>
          </p:cNvGraphicFramePr>
          <p:nvPr/>
        </p:nvGraphicFramePr>
        <p:xfrm>
          <a:off x="1511300" y="2249040"/>
          <a:ext cx="2841625" cy="1103760"/>
        </p:xfrm>
        <a:graphic>
          <a:graphicData uri="http://schemas.openxmlformats.org/drawingml/2006/table">
            <a:tbl>
              <a:tblPr/>
              <a:tblGrid>
                <a:gridCol w="94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circle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square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blue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0.02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0.01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3568" name="Group 32"/>
          <p:cNvGraphicFramePr>
            <a:graphicFrameLocks noGrp="1"/>
          </p:cNvGraphicFramePr>
          <p:nvPr/>
        </p:nvGraphicFramePr>
        <p:xfrm>
          <a:off x="4713288" y="2231577"/>
          <a:ext cx="2841625" cy="1103760"/>
        </p:xfrm>
        <a:graphic>
          <a:graphicData uri="http://schemas.openxmlformats.org/drawingml/2006/table">
            <a:tbl>
              <a:tblPr/>
              <a:tblGrid>
                <a:gridCol w="947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circle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square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red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0.05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0.30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blue</a:t>
                      </a:r>
                    </a:p>
                  </a:txBody>
                  <a:tcPr marL="90000" marR="9000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0.20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3586" name="Text Box 50"/>
          <p:cNvSpPr txBox="1">
            <a:spLocks noChangeArrowheads="1"/>
          </p:cNvSpPr>
          <p:nvPr/>
        </p:nvSpPr>
        <p:spPr bwMode="auto">
          <a:xfrm>
            <a:off x="2701696" y="1858515"/>
            <a:ext cx="498704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800" dirty="0"/>
              <a:t>like</a:t>
            </a:r>
          </a:p>
        </p:txBody>
      </p:sp>
      <p:sp>
        <p:nvSpPr>
          <p:cNvPr id="193587" name="Text Box 51"/>
          <p:cNvSpPr txBox="1">
            <a:spLocks noChangeArrowheads="1"/>
          </p:cNvSpPr>
          <p:nvPr/>
        </p:nvSpPr>
        <p:spPr bwMode="auto">
          <a:xfrm>
            <a:off x="5768975" y="1839465"/>
            <a:ext cx="755185" cy="3715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800" dirty="0"/>
              <a:t>dislike</a:t>
            </a:r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1066800" y="4591050"/>
          <a:ext cx="171926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4" imgW="965160" imgH="203040" progId="Equation.DSMT4">
                  <p:embed/>
                </p:oleObj>
              </mc:Choice>
              <mc:Fallback>
                <p:oleObj name="Equation" r:id="rId4" imgW="96516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591050"/>
                        <a:ext cx="171926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1066800" y="5029200"/>
          <a:ext cx="8366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6" imgW="469800" imgH="203040" progId="Equation.DSMT4">
                  <p:embed/>
                </p:oleObj>
              </mc:Choice>
              <mc:Fallback>
                <p:oleObj name="Equation" r:id="rId6" imgW="46980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029200"/>
                        <a:ext cx="8366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1090613" y="5430838"/>
          <a:ext cx="226218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8" imgW="1269720" imgH="203040" progId="Equation.DSMT4">
                  <p:embed/>
                </p:oleObj>
              </mc:Choice>
              <mc:Fallback>
                <p:oleObj name="Equation" r:id="rId8" imgW="126972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5430838"/>
                        <a:ext cx="2262187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3581400"/>
            <a:ext cx="8229600" cy="257556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B050"/>
                </a:solidFill>
              </a:rPr>
              <a:t>Evidence          </a:t>
            </a:r>
            <a:r>
              <a:rPr lang="en-US" dirty="0"/>
              <a:t>: Prior probability of training data D</a:t>
            </a:r>
          </a:p>
          <a:p>
            <a:r>
              <a:rPr lang="en-US" dirty="0">
                <a:solidFill>
                  <a:srgbClr val="00B050"/>
                </a:solidFill>
              </a:rPr>
              <a:t>Prior         </a:t>
            </a:r>
            <a:r>
              <a:rPr lang="en-US" dirty="0"/>
              <a:t>: Prior probability of hypothesis h</a:t>
            </a:r>
          </a:p>
          <a:p>
            <a:r>
              <a:rPr lang="en-US" dirty="0">
                <a:solidFill>
                  <a:srgbClr val="00B050"/>
                </a:solidFill>
              </a:rPr>
              <a:t>Posterior              </a:t>
            </a:r>
            <a:r>
              <a:rPr lang="en-US" dirty="0"/>
              <a:t>: Posterior probability of hypothesis h given the data D</a:t>
            </a:r>
          </a:p>
          <a:p>
            <a:r>
              <a:rPr lang="en-US" dirty="0">
                <a:solidFill>
                  <a:srgbClr val="00B050"/>
                </a:solidFill>
              </a:rPr>
              <a:t>Likelihood             </a:t>
            </a:r>
            <a:r>
              <a:rPr lang="en-US" dirty="0"/>
              <a:t>: Posterior probability of data D given the hypothesis h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2954338" y="1974850"/>
          <a:ext cx="32940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4" imgW="1498320" imgH="419040" progId="Equation.DSMT4">
                  <p:embed/>
                </p:oleObj>
              </mc:Choice>
              <mc:Fallback>
                <p:oleObj name="Equation" r:id="rId4" imgW="14983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1974850"/>
                        <a:ext cx="3294062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2133600" y="4469027"/>
          <a:ext cx="11715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6" imgW="533160" imgH="203040" progId="Equation.DSMT4">
                  <p:embed/>
                </p:oleObj>
              </mc:Choice>
              <mc:Fallback>
                <p:oleObj name="Equation" r:id="rId6" imgW="533160" imgH="203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469027"/>
                        <a:ext cx="1171575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2059331" y="3592512"/>
          <a:ext cx="83661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8" imgW="380880" imgH="203040" progId="Equation.DSMT4">
                  <p:embed/>
                </p:oleObj>
              </mc:Choice>
              <mc:Fallback>
                <p:oleObj name="Equation" r:id="rId8" imgW="38088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331" y="3592512"/>
                        <a:ext cx="836612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1568750" y="4043534"/>
          <a:ext cx="7254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10" imgW="330120" imgH="203040" progId="Equation.DSMT4">
                  <p:embed/>
                </p:oleObj>
              </mc:Choice>
              <mc:Fallback>
                <p:oleObj name="Equation" r:id="rId10" imgW="33012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750" y="4043534"/>
                        <a:ext cx="725488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2209800" y="5257800"/>
          <a:ext cx="11715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12" imgW="533160" imgH="203040" progId="Equation.DSMT4">
                  <p:embed/>
                </p:oleObj>
              </mc:Choice>
              <mc:Fallback>
                <p:oleObj name="Equation" r:id="rId12" imgW="53316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257800"/>
                        <a:ext cx="1171575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hypotheses?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Generally, we want the most probable hypothesis given the training data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00B050"/>
                </a:solidFill>
              </a:rPr>
              <a:t>aximum </a:t>
            </a:r>
            <a:r>
              <a:rPr lang="en-US" dirty="0">
                <a:solidFill>
                  <a:srgbClr val="FF0000"/>
                </a:solidFill>
              </a:rPr>
              <a:t>a p</a:t>
            </a:r>
            <a:r>
              <a:rPr lang="en-US" dirty="0">
                <a:solidFill>
                  <a:srgbClr val="00B050"/>
                </a:solidFill>
              </a:rPr>
              <a:t>osteriori </a:t>
            </a:r>
            <a:r>
              <a:rPr lang="en-US" dirty="0"/>
              <a:t>hypothesis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 priors of hypothesis are equally likely                then one can choose the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00B050"/>
                </a:solidFill>
              </a:rPr>
              <a:t>aximum </a:t>
            </a:r>
            <a:r>
              <a:rPr lang="en-US" dirty="0">
                <a:solidFill>
                  <a:srgbClr val="FF0000"/>
                </a:solidFill>
              </a:rPr>
              <a:t>l</a:t>
            </a:r>
            <a:r>
              <a:rPr lang="en-US" dirty="0">
                <a:solidFill>
                  <a:srgbClr val="00B050"/>
                </a:solidFill>
              </a:rPr>
              <a:t>ikelihood </a:t>
            </a:r>
            <a:r>
              <a:rPr lang="en-US" dirty="0"/>
              <a:t>hypothesis</a:t>
            </a: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286000" y="2057400"/>
          <a:ext cx="4800600" cy="206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name="Equation" r:id="rId4" imgW="2184120" imgH="939600" progId="Equation.DSMT4">
                  <p:embed/>
                </p:oleObj>
              </mc:Choice>
              <mc:Fallback>
                <p:oleObj name="Equation" r:id="rId4" imgW="2184120" imgH="939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057400"/>
                        <a:ext cx="4800600" cy="2065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5791200" y="2293937"/>
            <a:ext cx="2699778" cy="914400"/>
            <a:chOff x="5791200" y="2667000"/>
            <a:chExt cx="2699778" cy="914400"/>
          </a:xfrm>
        </p:grpSpPr>
        <p:cxnSp>
          <p:nvCxnSpPr>
            <p:cNvPr id="6" name="Straight Arrow Connector 5"/>
            <p:cNvCxnSpPr/>
            <p:nvPr/>
          </p:nvCxnSpPr>
          <p:spPr>
            <a:xfrm flipV="1">
              <a:off x="6172200" y="3048000"/>
              <a:ext cx="8382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5791200" y="2667000"/>
              <a:ext cx="26997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Constant independent of h</a:t>
              </a:r>
            </a:p>
          </p:txBody>
        </p:sp>
      </p:grp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6600567" y="3989173"/>
          <a:ext cx="189865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Equation" r:id="rId6" imgW="863280" imgH="241200" progId="Equation.DSMT4">
                  <p:embed/>
                </p:oleObj>
              </mc:Choice>
              <mc:Fallback>
                <p:oleObj name="Equation" r:id="rId6" imgW="86328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567" y="3989173"/>
                        <a:ext cx="1898650" cy="531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3048000" y="5181600"/>
          <a:ext cx="30702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Equation" r:id="rId8" imgW="1396800" imgH="304560" progId="Equation.DSMT4">
                  <p:embed/>
                </p:oleObj>
              </mc:Choice>
              <mc:Fallback>
                <p:oleObj name="Equation" r:id="rId8" imgW="1396800" imgH="3045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181600"/>
                        <a:ext cx="3070225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is chance to play tennis on sunny day?</a:t>
            </a: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1861471" y="1824039"/>
            <a:ext cx="5934997" cy="4500561"/>
            <a:chOff x="1104" y="576"/>
            <a:chExt cx="4026" cy="3218"/>
          </a:xfrm>
        </p:grpSpPr>
        <p:sp>
          <p:nvSpPr>
            <p:cNvPr id="5" name="Text Box 34"/>
            <p:cNvSpPr txBox="1">
              <a:spLocks noChangeArrowheads="1"/>
            </p:cNvSpPr>
            <p:nvPr/>
          </p:nvSpPr>
          <p:spPr bwMode="auto">
            <a:xfrm>
              <a:off x="1104" y="576"/>
              <a:ext cx="4026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>
                  <a:solidFill>
                    <a:srgbClr val="0000FF"/>
                  </a:solidFill>
                </a:rPr>
                <a:t>Day    Outlook         Temp    Humidity    Wind</a:t>
              </a:r>
              <a:r>
                <a:rPr lang="en-US" sz="1600" b="1" dirty="0"/>
                <a:t>       </a:t>
              </a:r>
              <a:r>
                <a:rPr lang="en-US" sz="1600" b="1" dirty="0">
                  <a:solidFill>
                    <a:srgbClr val="A50021"/>
                  </a:solidFill>
                </a:rPr>
                <a:t>Play Tennis</a:t>
              </a:r>
              <a:endParaRPr lang="en-US" sz="16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Text Box 35"/>
            <p:cNvSpPr txBox="1">
              <a:spLocks noChangeArrowheads="1"/>
            </p:cNvSpPr>
            <p:nvPr/>
          </p:nvSpPr>
          <p:spPr bwMode="auto">
            <a:xfrm>
              <a:off x="1152" y="902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1       Sunny	Hot	High	Weak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" name="Text Box 36"/>
            <p:cNvSpPr txBox="1">
              <a:spLocks noChangeArrowheads="1"/>
            </p:cNvSpPr>
            <p:nvPr/>
          </p:nvSpPr>
          <p:spPr bwMode="auto">
            <a:xfrm>
              <a:off x="1152" y="1106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2       Sunny	Hot	High	Strong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8" name="Text Box 37"/>
            <p:cNvSpPr txBox="1">
              <a:spLocks noChangeArrowheads="1"/>
            </p:cNvSpPr>
            <p:nvPr/>
          </p:nvSpPr>
          <p:spPr bwMode="auto">
            <a:xfrm>
              <a:off x="1152" y="1310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3       Overcast	Hot	High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Text Box 38"/>
            <p:cNvSpPr txBox="1">
              <a:spLocks noChangeArrowheads="1"/>
            </p:cNvSpPr>
            <p:nvPr/>
          </p:nvSpPr>
          <p:spPr bwMode="auto">
            <a:xfrm>
              <a:off x="1152" y="1514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4       Rain	Mild	High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" name="Text Box 39"/>
            <p:cNvSpPr txBox="1">
              <a:spLocks noChangeArrowheads="1"/>
            </p:cNvSpPr>
            <p:nvPr/>
          </p:nvSpPr>
          <p:spPr bwMode="auto">
            <a:xfrm>
              <a:off x="1152" y="1718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5       Rain	Cool 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Text Box 40"/>
            <p:cNvSpPr txBox="1">
              <a:spLocks noChangeArrowheads="1"/>
            </p:cNvSpPr>
            <p:nvPr/>
          </p:nvSpPr>
          <p:spPr bwMode="auto">
            <a:xfrm>
              <a:off x="1152" y="1922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6       Rain	Cool	Normal	Strong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2" name="Text Box 41"/>
            <p:cNvSpPr txBox="1">
              <a:spLocks noChangeArrowheads="1"/>
            </p:cNvSpPr>
            <p:nvPr/>
          </p:nvSpPr>
          <p:spPr bwMode="auto">
            <a:xfrm>
              <a:off x="1152" y="2125"/>
              <a:ext cx="351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7       Overcast	Cool	Normal	Strong 	</a:t>
              </a:r>
              <a:r>
                <a:rPr lang="en-US" sz="1600" b="1" dirty="0">
                  <a:solidFill>
                    <a:srgbClr val="00B050"/>
                  </a:solidFill>
                </a:rPr>
                <a:t>Yes 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3" name="Text Box 42"/>
            <p:cNvSpPr txBox="1">
              <a:spLocks noChangeArrowheads="1"/>
            </p:cNvSpPr>
            <p:nvPr/>
          </p:nvSpPr>
          <p:spPr bwMode="auto">
            <a:xfrm>
              <a:off x="1152" y="2329"/>
              <a:ext cx="334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8       Sunny	Mild	High	Weak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4" name="Text Box 43"/>
            <p:cNvSpPr txBox="1">
              <a:spLocks noChangeArrowheads="1"/>
            </p:cNvSpPr>
            <p:nvPr/>
          </p:nvSpPr>
          <p:spPr bwMode="auto">
            <a:xfrm>
              <a:off x="1152" y="2533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9       Sunny	Cool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152" y="2737"/>
              <a:ext cx="351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10      Rain	Mild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 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6" name="Text Box 45"/>
            <p:cNvSpPr txBox="1">
              <a:spLocks noChangeArrowheads="1"/>
            </p:cNvSpPr>
            <p:nvPr/>
          </p:nvSpPr>
          <p:spPr bwMode="auto">
            <a:xfrm>
              <a:off x="1152" y="2940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11      Sunny	Mild	Normal	Strong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7" name="Text Box 46"/>
            <p:cNvSpPr txBox="1">
              <a:spLocks noChangeArrowheads="1"/>
            </p:cNvSpPr>
            <p:nvPr/>
          </p:nvSpPr>
          <p:spPr bwMode="auto">
            <a:xfrm>
              <a:off x="1152" y="3145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12      Overcast	Mild	High	Strong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Text Box 47"/>
            <p:cNvSpPr txBox="1">
              <a:spLocks noChangeArrowheads="1"/>
            </p:cNvSpPr>
            <p:nvPr/>
          </p:nvSpPr>
          <p:spPr bwMode="auto">
            <a:xfrm>
              <a:off x="1152" y="3349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13      Overcast	Hot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Text Box 48"/>
            <p:cNvSpPr txBox="1">
              <a:spLocks noChangeArrowheads="1"/>
            </p:cNvSpPr>
            <p:nvPr/>
          </p:nvSpPr>
          <p:spPr bwMode="auto">
            <a:xfrm>
              <a:off x="1152" y="3552"/>
              <a:ext cx="334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14      Rain	Mild	High	Strong	</a:t>
              </a:r>
              <a:r>
                <a:rPr lang="en-US" sz="1600" b="1" dirty="0">
                  <a:solidFill>
                    <a:srgbClr val="A50021"/>
                  </a:solidFill>
                </a:rPr>
                <a:t>No </a:t>
              </a:r>
              <a:endParaRPr lang="en-US" sz="16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1928794" y="2251079"/>
            <a:ext cx="57150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250001" y="4073543"/>
            <a:ext cx="435771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Medical diagnosis problem</a:t>
            </a:r>
          </a:p>
          <a:p>
            <a:r>
              <a:rPr lang="en-US" dirty="0"/>
              <a:t>H = {cancer,  ~cancer} </a:t>
            </a:r>
          </a:p>
          <a:p>
            <a:r>
              <a:rPr lang="en-US" dirty="0"/>
              <a:t>D = {positive, negative} </a:t>
            </a:r>
            <a:r>
              <a:rPr lang="en-US" dirty="0">
                <a:solidFill>
                  <a:srgbClr val="00B050"/>
                </a:solidFill>
              </a:rPr>
              <a:t>(imperfect lab test)</a:t>
            </a:r>
          </a:p>
          <a:p>
            <a:r>
              <a:rPr lang="en-US" dirty="0"/>
              <a:t>Prior knowledge</a:t>
            </a:r>
          </a:p>
          <a:p>
            <a:pPr lvl="1"/>
            <a:r>
              <a:rPr lang="en-US" dirty="0"/>
              <a:t>0.008 of entire population have cancer</a:t>
            </a:r>
          </a:p>
          <a:p>
            <a:pPr lvl="1"/>
            <a:r>
              <a:rPr lang="en-US" dirty="0"/>
              <a:t>Lab test correct positive 98%</a:t>
            </a:r>
          </a:p>
          <a:p>
            <a:pPr lvl="1"/>
            <a:r>
              <a:rPr lang="en-US" dirty="0"/>
              <a:t>Lab test correct negative 97%</a:t>
            </a:r>
          </a:p>
          <a:p>
            <a:r>
              <a:rPr lang="en-US" dirty="0"/>
              <a:t>What is the chance that the new patient have cancer, if the lab test return the positive result?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Brute-Force MAP Learning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For each hypothesis h in H, calculate the posterior probability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Output the hypothesis with the highest posterior probability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971800" y="2209800"/>
          <a:ext cx="329406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4" imgW="1498320" imgH="419040" progId="Equation.DSMT4">
                  <p:embed/>
                </p:oleObj>
              </mc:Choice>
              <mc:Fallback>
                <p:oleObj name="Equation" r:id="rId4" imgW="1498320" imgH="419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09800"/>
                        <a:ext cx="3294062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852737" y="4740275"/>
          <a:ext cx="385286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6" imgW="1752480" imgH="304560" progId="Equation.DSMT4">
                  <p:embed/>
                </p:oleObj>
              </mc:Choice>
              <mc:Fallback>
                <p:oleObj name="Equation" r:id="rId6" imgW="1752480" imgH="3045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7" y="4740275"/>
                        <a:ext cx="3852863" cy="669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 of Posterior Probabilities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066800" y="4437062"/>
            <a:ext cx="220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1066800" y="2532062"/>
            <a:ext cx="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66799" y="3675061"/>
            <a:ext cx="1752601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7700993"/>
              </p:ext>
            </p:extLst>
          </p:nvPr>
        </p:nvGraphicFramePr>
        <p:xfrm>
          <a:off x="906855" y="2322265"/>
          <a:ext cx="464745" cy="285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2" name="Equation" r:id="rId4" imgW="330120" imgH="203040" progId="Equation.DSMT4">
                  <p:embed/>
                </p:oleObj>
              </mc:Choice>
              <mc:Fallback>
                <p:oleObj name="Equation" r:id="rId4" imgW="330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6855" y="2322265"/>
                        <a:ext cx="464745" cy="2859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774353"/>
              </p:ext>
            </p:extLst>
          </p:nvPr>
        </p:nvGraphicFramePr>
        <p:xfrm>
          <a:off x="1971675" y="4462462"/>
          <a:ext cx="2476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3" name="Equation" r:id="rId6" imgW="177480" imgH="164880" progId="Equation.DSMT4">
                  <p:embed/>
                </p:oleObj>
              </mc:Choice>
              <mc:Fallback>
                <p:oleObj name="Equation" r:id="rId6" imgW="1774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71675" y="4462462"/>
                        <a:ext cx="247650" cy="23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3733800" y="4437062"/>
            <a:ext cx="220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3733800" y="2532062"/>
            <a:ext cx="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44047"/>
              </p:ext>
            </p:extLst>
          </p:nvPr>
        </p:nvGraphicFramePr>
        <p:xfrm>
          <a:off x="3563938" y="2286000"/>
          <a:ext cx="931862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4" name="Equation" r:id="rId8" imgW="660240" imgH="228600" progId="Equation.DSMT4">
                  <p:embed/>
                </p:oleObj>
              </mc:Choice>
              <mc:Fallback>
                <p:oleObj name="Equation" r:id="rId8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63938" y="2286000"/>
                        <a:ext cx="931862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489946"/>
              </p:ext>
            </p:extLst>
          </p:nvPr>
        </p:nvGraphicFramePr>
        <p:xfrm>
          <a:off x="4638675" y="4462462"/>
          <a:ext cx="2476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5" name="Equation" r:id="rId10" imgW="177480" imgH="164880" progId="Equation.DSMT4">
                  <p:embed/>
                </p:oleObj>
              </mc:Choice>
              <mc:Fallback>
                <p:oleObj name="Equation" r:id="rId10" imgW="1774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8675" y="4462462"/>
                        <a:ext cx="247650" cy="23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6400800" y="4437062"/>
            <a:ext cx="2209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400800" y="2532062"/>
            <a:ext cx="0" cy="190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68995"/>
              </p:ext>
            </p:extLst>
          </p:nvPr>
        </p:nvGraphicFramePr>
        <p:xfrm>
          <a:off x="6256338" y="2286000"/>
          <a:ext cx="1216025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6" name="Equation" r:id="rId12" imgW="863280" imgH="228600" progId="Equation.DSMT4">
                  <p:embed/>
                </p:oleObj>
              </mc:Choice>
              <mc:Fallback>
                <p:oleObj name="Equation" r:id="rId12" imgW="863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56338" y="2286000"/>
                        <a:ext cx="1216025" cy="322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167332"/>
              </p:ext>
            </p:extLst>
          </p:nvPr>
        </p:nvGraphicFramePr>
        <p:xfrm>
          <a:off x="7305675" y="4462462"/>
          <a:ext cx="247650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97" name="Equation" r:id="rId14" imgW="177480" imgH="164880" progId="Equation.DSMT4">
                  <p:embed/>
                </p:oleObj>
              </mc:Choice>
              <mc:Fallback>
                <p:oleObj name="Equation" r:id="rId14" imgW="1774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305675" y="4462462"/>
                        <a:ext cx="247650" cy="233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4152900" y="3217862"/>
            <a:ext cx="1219200" cy="12191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3" name="Rectangle 22"/>
          <p:cNvSpPr/>
          <p:nvPr/>
        </p:nvSpPr>
        <p:spPr>
          <a:xfrm rot="5400000">
            <a:off x="6553199" y="3192462"/>
            <a:ext cx="1752601" cy="762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Right Arrow 23"/>
          <p:cNvSpPr/>
          <p:nvPr/>
        </p:nvSpPr>
        <p:spPr>
          <a:xfrm>
            <a:off x="3124200" y="3294061"/>
            <a:ext cx="533400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Right Arrow 25"/>
          <p:cNvSpPr/>
          <p:nvPr/>
        </p:nvSpPr>
        <p:spPr>
          <a:xfrm>
            <a:off x="5791200" y="3294061"/>
            <a:ext cx="533400" cy="38100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 Real Valued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real values function, we cannot estimate the probability by counting</a:t>
            </a:r>
          </a:p>
          <a:p>
            <a:pPr lvl="1"/>
            <a:r>
              <a:rPr lang="en-US" dirty="0"/>
              <a:t>Pixel intensity, amplitude, frequency, time, etc.</a:t>
            </a:r>
          </a:p>
          <a:p>
            <a:r>
              <a:rPr lang="en-US" dirty="0"/>
              <a:t>Consider a real-valued target function 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Noisy training examples &lt;</a:t>
            </a:r>
            <a:r>
              <a:rPr lang="en-US" dirty="0" err="1"/>
              <a:t>x</a:t>
            </a:r>
            <a:r>
              <a:rPr lang="en-US" baseline="-25000" dirty="0" err="1"/>
              <a:t>i</a:t>
            </a:r>
            <a:r>
              <a:rPr lang="en-US" dirty="0" err="1"/>
              <a:t>,d</a:t>
            </a:r>
            <a:r>
              <a:rPr lang="en-US" baseline="-25000" dirty="0" err="1"/>
              <a:t>i</a:t>
            </a:r>
            <a:r>
              <a:rPr lang="en-US" dirty="0"/>
              <a:t>&gt;: </a:t>
            </a:r>
            <a:r>
              <a:rPr lang="en-US" dirty="0" err="1"/>
              <a:t>d</a:t>
            </a:r>
            <a:r>
              <a:rPr lang="en-US" baseline="-25000" dirty="0" err="1"/>
              <a:t>i</a:t>
            </a:r>
            <a:r>
              <a:rPr lang="en-US" dirty="0"/>
              <a:t> = f(x</a:t>
            </a:r>
            <a:r>
              <a:rPr lang="en-US" baseline="-25000" dirty="0"/>
              <a:t>i</a:t>
            </a:r>
            <a:r>
              <a:rPr lang="en-US" dirty="0"/>
              <a:t>) + </a:t>
            </a:r>
            <a:r>
              <a:rPr lang="en-US" dirty="0" err="1"/>
              <a:t>e</a:t>
            </a:r>
            <a:r>
              <a:rPr lang="en-US" baseline="-25000" dirty="0" err="1"/>
              <a:t>i</a:t>
            </a:r>
            <a:endParaRPr lang="en-US" dirty="0"/>
          </a:p>
          <a:p>
            <a:pPr lvl="1"/>
            <a:r>
              <a:rPr lang="en-US" dirty="0" err="1"/>
              <a:t>e</a:t>
            </a:r>
            <a:r>
              <a:rPr lang="en-US" baseline="-25000" dirty="0" err="1"/>
              <a:t>i</a:t>
            </a:r>
            <a:r>
              <a:rPr lang="en-US" dirty="0"/>
              <a:t> is a random variable drawn from a Gaussian distribution with zero mean.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 flipH="1" flipV="1">
            <a:off x="2477294" y="3771900"/>
            <a:ext cx="1294606" cy="79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124200" y="4419600"/>
            <a:ext cx="266700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419600" y="4191000"/>
            <a:ext cx="152400" cy="1524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5105400" y="3962400"/>
            <a:ext cx="152400" cy="1524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572000" y="3733800"/>
            <a:ext cx="152400" cy="152400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95800" y="3429000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3886200" y="3581400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876800" y="3352800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2895600" y="3440668"/>
            <a:ext cx="3290374" cy="1131332"/>
            <a:chOff x="2895600" y="3440668"/>
            <a:chExt cx="3290374" cy="1131332"/>
          </a:xfrm>
        </p:grpSpPr>
        <p:cxnSp>
          <p:nvCxnSpPr>
            <p:cNvPr id="23" name="Straight Connector 22"/>
            <p:cNvCxnSpPr/>
            <p:nvPr/>
          </p:nvCxnSpPr>
          <p:spPr>
            <a:xfrm flipV="1">
              <a:off x="2895600" y="3657600"/>
              <a:ext cx="3048000" cy="9144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943600" y="3440668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  <p:cxnSp>
        <p:nvCxnSpPr>
          <p:cNvPr id="12" name="Straight Connector 11"/>
          <p:cNvCxnSpPr/>
          <p:nvPr/>
        </p:nvCxnSpPr>
        <p:spPr>
          <a:xfrm flipV="1">
            <a:off x="2819400" y="3276600"/>
            <a:ext cx="3048000" cy="9144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39" name="Group 38"/>
          <p:cNvGrpSpPr/>
          <p:nvPr/>
        </p:nvGrpSpPr>
        <p:grpSpPr>
          <a:xfrm>
            <a:off x="4343400" y="3733800"/>
            <a:ext cx="305595" cy="369332"/>
            <a:chOff x="4343400" y="3733800"/>
            <a:chExt cx="305595" cy="369332"/>
          </a:xfrm>
        </p:grpSpPr>
        <p:sp>
          <p:nvSpPr>
            <p:cNvPr id="37" name="TextBox 36"/>
            <p:cNvSpPr txBox="1"/>
            <p:nvPr/>
          </p:nvSpPr>
          <p:spPr>
            <a:xfrm>
              <a:off x="4343400" y="3733800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rot="16200000" flipH="1">
              <a:off x="4518992" y="3909391"/>
              <a:ext cx="252585" cy="7420"/>
            </a:xfrm>
            <a:prstGeom prst="straightConnector1">
              <a:avLst/>
            </a:prstGeom>
            <a:ln w="9525">
              <a:headEnd type="arrow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5948363" y="3048000"/>
          <a:ext cx="2738437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4" imgW="1790640" imgH="342720" progId="Equation.DSMT4">
                  <p:embed/>
                </p:oleObj>
              </mc:Choice>
              <mc:Fallback>
                <p:oleObj name="Equation" r:id="rId4" imgW="179064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363" y="3048000"/>
                        <a:ext cx="2738437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42"/>
          <p:cNvSpPr/>
          <p:nvPr/>
        </p:nvSpPr>
        <p:spPr>
          <a:xfrm>
            <a:off x="6324600" y="2819400"/>
            <a:ext cx="25146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a Real Valued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Approximate the probability distribution is normal</a:t>
            </a:r>
          </a:p>
        </p:txBody>
      </p:sp>
      <p:graphicFrame>
        <p:nvGraphicFramePr>
          <p:cNvPr id="12291" name="Object 3"/>
          <p:cNvGraphicFramePr>
            <a:graphicFrameLocks noChangeAspect="1"/>
          </p:cNvGraphicFramePr>
          <p:nvPr/>
        </p:nvGraphicFramePr>
        <p:xfrm>
          <a:off x="2590800" y="1802296"/>
          <a:ext cx="3962400" cy="444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4" imgW="2590560" imgH="2908080" progId="Equation.DSMT4">
                  <p:embed/>
                </p:oleObj>
              </mc:Choice>
              <mc:Fallback>
                <p:oleObj name="Equation" r:id="rId4" imgW="2590560" imgH="29080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1802296"/>
                        <a:ext cx="3962400" cy="44461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Probable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h</a:t>
            </a:r>
            <a:r>
              <a:rPr lang="en-US" baseline="-25000" dirty="0" err="1"/>
              <a:t>MAP</a:t>
            </a:r>
            <a:r>
              <a:rPr lang="en-US" dirty="0"/>
              <a:t> is </a:t>
            </a:r>
            <a:r>
              <a:rPr lang="en-US" dirty="0">
                <a:solidFill>
                  <a:srgbClr val="FF0000"/>
                </a:solidFill>
              </a:rPr>
              <a:t>not the most probable classification</a:t>
            </a:r>
            <a:r>
              <a:rPr lang="en-US" dirty="0"/>
              <a:t>, although often a </a:t>
            </a:r>
            <a:r>
              <a:rPr lang="en-US" dirty="0">
                <a:solidFill>
                  <a:srgbClr val="00B050"/>
                </a:solidFill>
              </a:rPr>
              <a:t>sufficiently good approximation </a:t>
            </a:r>
            <a:r>
              <a:rPr lang="en-US" dirty="0"/>
              <a:t>of it.</a:t>
            </a:r>
          </a:p>
          <a:p>
            <a:r>
              <a:rPr lang="en-US" dirty="0"/>
              <a:t>Consider three possible hypotheses:</a:t>
            </a:r>
          </a:p>
          <a:p>
            <a:pPr lvl="1"/>
            <a:r>
              <a:rPr lang="pt-BR" dirty="0"/>
              <a:t>P(h</a:t>
            </a:r>
            <a:r>
              <a:rPr lang="pt-BR" baseline="-25000" dirty="0"/>
              <a:t>1</a:t>
            </a:r>
            <a:r>
              <a:rPr lang="pt-BR" dirty="0"/>
              <a:t>|D) = 0.4,  P(h</a:t>
            </a:r>
            <a:r>
              <a:rPr lang="pt-BR" baseline="-25000" dirty="0"/>
              <a:t>2</a:t>
            </a:r>
            <a:r>
              <a:rPr lang="pt-BR" dirty="0"/>
              <a:t>|D) = 0.3,  P(h</a:t>
            </a:r>
            <a:r>
              <a:rPr lang="pt-BR" baseline="-25000" dirty="0"/>
              <a:t>3</a:t>
            </a:r>
            <a:r>
              <a:rPr lang="pt-BR" dirty="0"/>
              <a:t>|D) = 0.3</a:t>
            </a:r>
          </a:p>
          <a:p>
            <a:r>
              <a:rPr lang="en-US" dirty="0"/>
              <a:t>Given a new instance x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(x) = +, h</a:t>
            </a:r>
            <a:r>
              <a:rPr lang="pt-BR" baseline="-25000" dirty="0"/>
              <a:t>2 </a:t>
            </a:r>
            <a:r>
              <a:rPr lang="en-US" dirty="0"/>
              <a:t>(x) = -, h</a:t>
            </a:r>
            <a:r>
              <a:rPr lang="pt-BR" baseline="-25000" dirty="0"/>
              <a:t>3 </a:t>
            </a:r>
            <a:r>
              <a:rPr lang="en-US" dirty="0"/>
              <a:t>(x) = -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h</a:t>
            </a:r>
            <a:r>
              <a:rPr lang="en-US" baseline="-25000" dirty="0" err="1">
                <a:solidFill>
                  <a:srgbClr val="00B050"/>
                </a:solidFill>
              </a:rPr>
              <a:t>MAP</a:t>
            </a:r>
            <a:r>
              <a:rPr lang="en-US" dirty="0">
                <a:solidFill>
                  <a:srgbClr val="00B050"/>
                </a:solidFill>
              </a:rPr>
              <a:t>(x) = +</a:t>
            </a:r>
          </a:p>
          <a:p>
            <a:r>
              <a:rPr lang="en-US" dirty="0"/>
              <a:t>What is most probable classification of a new instance x given the data D?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pt-BR" dirty="0"/>
              <a:t>P(+) = P(h</a:t>
            </a:r>
            <a:r>
              <a:rPr lang="en-US" baseline="-25000" dirty="0"/>
              <a:t>1</a:t>
            </a:r>
            <a:r>
              <a:rPr lang="pt-BR" dirty="0"/>
              <a:t>|D) = 0.4</a:t>
            </a:r>
          </a:p>
          <a:p>
            <a:pPr lvl="1"/>
            <a:r>
              <a:rPr lang="pt-BR" dirty="0"/>
              <a:t>P(-) = P(h</a:t>
            </a:r>
            <a:r>
              <a:rPr lang="pt-BR" baseline="-25000" dirty="0"/>
              <a:t> 2</a:t>
            </a:r>
            <a:r>
              <a:rPr lang="pt-BR" dirty="0"/>
              <a:t>|D) + P(h</a:t>
            </a:r>
            <a:r>
              <a:rPr lang="pt-BR" baseline="-25000" dirty="0"/>
              <a:t> 3</a:t>
            </a:r>
            <a:r>
              <a:rPr lang="pt-BR" dirty="0"/>
              <a:t>|D) = 0.6</a:t>
            </a:r>
          </a:p>
          <a:p>
            <a:pPr lvl="1"/>
            <a:r>
              <a:rPr lang="en-US" dirty="0" err="1">
                <a:solidFill>
                  <a:srgbClr val="00B050"/>
                </a:solidFill>
              </a:rPr>
              <a:t>h</a:t>
            </a:r>
            <a:r>
              <a:rPr lang="en-US" baseline="-25000" dirty="0" err="1">
                <a:solidFill>
                  <a:srgbClr val="00B050"/>
                </a:solidFill>
              </a:rPr>
              <a:t>Most</a:t>
            </a:r>
            <a:r>
              <a:rPr lang="en-US" dirty="0">
                <a:solidFill>
                  <a:srgbClr val="00B050"/>
                </a:solidFill>
              </a:rPr>
              <a:t>(x) =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Bayes</a:t>
            </a:r>
            <a:r>
              <a:rPr lang="en-US" dirty="0"/>
              <a:t> Optimal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 the predictions of </a:t>
            </a:r>
            <a:r>
              <a:rPr lang="en-US" dirty="0">
                <a:solidFill>
                  <a:srgbClr val="00B0F0"/>
                </a:solidFill>
              </a:rPr>
              <a:t>all hypotheses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weighted by their posterior probabilities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Again:</a:t>
            </a:r>
          </a:p>
          <a:p>
            <a:pPr lvl="1"/>
            <a:r>
              <a:rPr lang="pt-BR" dirty="0"/>
              <a:t>P(h</a:t>
            </a:r>
            <a:r>
              <a:rPr lang="pt-BR" baseline="-25000" dirty="0"/>
              <a:t>1</a:t>
            </a:r>
            <a:r>
              <a:rPr lang="pt-BR" dirty="0"/>
              <a:t>|D) = 0.4,  P(h</a:t>
            </a:r>
            <a:r>
              <a:rPr lang="pt-BR" baseline="-25000" dirty="0"/>
              <a:t>2</a:t>
            </a:r>
            <a:r>
              <a:rPr lang="pt-BR" dirty="0"/>
              <a:t>|D) = 0.3,  P(h</a:t>
            </a:r>
            <a:r>
              <a:rPr lang="pt-BR" baseline="-25000" dirty="0"/>
              <a:t>3</a:t>
            </a:r>
            <a:r>
              <a:rPr lang="pt-BR" dirty="0"/>
              <a:t>|D) = 0.3</a:t>
            </a:r>
          </a:p>
          <a:p>
            <a:pPr lvl="1"/>
            <a:r>
              <a:rPr lang="en-US" dirty="0"/>
              <a:t>h</a:t>
            </a:r>
            <a:r>
              <a:rPr lang="en-US" baseline="-25000" dirty="0"/>
              <a:t>1</a:t>
            </a:r>
            <a:r>
              <a:rPr lang="en-US" dirty="0"/>
              <a:t>(x) = +, h</a:t>
            </a:r>
            <a:r>
              <a:rPr lang="pt-BR" baseline="-25000" dirty="0"/>
              <a:t>2 </a:t>
            </a:r>
            <a:r>
              <a:rPr lang="en-US" dirty="0"/>
              <a:t>(x) = -, h</a:t>
            </a:r>
            <a:r>
              <a:rPr lang="pt-BR" baseline="-25000" dirty="0"/>
              <a:t>3 </a:t>
            </a:r>
            <a:r>
              <a:rPr lang="en-US" dirty="0"/>
              <a:t>(x) = -</a:t>
            </a:r>
          </a:p>
          <a:p>
            <a:pPr lvl="1"/>
            <a:r>
              <a:rPr lang="pt-BR" dirty="0"/>
              <a:t>P(+|h</a:t>
            </a:r>
            <a:r>
              <a:rPr lang="pt-BR" baseline="-25000" dirty="0"/>
              <a:t>1</a:t>
            </a:r>
            <a:r>
              <a:rPr lang="pt-BR" dirty="0"/>
              <a:t>)=1, P(-|h</a:t>
            </a:r>
            <a:r>
              <a:rPr lang="pt-BR" baseline="-25000" dirty="0"/>
              <a:t>1</a:t>
            </a:r>
            <a:r>
              <a:rPr lang="pt-BR" dirty="0"/>
              <a:t>)=0</a:t>
            </a:r>
          </a:p>
          <a:p>
            <a:pPr lvl="1"/>
            <a:r>
              <a:rPr lang="pt-BR" dirty="0"/>
              <a:t>P(+|h</a:t>
            </a:r>
            <a:r>
              <a:rPr lang="pt-BR" baseline="-25000" dirty="0"/>
              <a:t>2</a:t>
            </a:r>
            <a:r>
              <a:rPr lang="pt-BR" dirty="0"/>
              <a:t>)=0, P(-|h</a:t>
            </a:r>
            <a:r>
              <a:rPr lang="pt-BR" baseline="-25000" dirty="0"/>
              <a:t>2</a:t>
            </a:r>
            <a:r>
              <a:rPr lang="pt-BR" dirty="0"/>
              <a:t>)=1</a:t>
            </a:r>
          </a:p>
          <a:p>
            <a:pPr lvl="1"/>
            <a:r>
              <a:rPr lang="pt-BR" dirty="0"/>
              <a:t>P(+|h</a:t>
            </a:r>
            <a:r>
              <a:rPr lang="pt-BR" baseline="-25000" dirty="0"/>
              <a:t>3</a:t>
            </a:r>
            <a:r>
              <a:rPr lang="pt-BR" dirty="0"/>
              <a:t>)=0, P(-|h</a:t>
            </a:r>
            <a:r>
              <a:rPr lang="pt-BR" baseline="-25000" dirty="0"/>
              <a:t>3</a:t>
            </a:r>
            <a:r>
              <a:rPr lang="pt-BR" dirty="0"/>
              <a:t>)=1</a:t>
            </a:r>
          </a:p>
        </p:txBody>
      </p:sp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971800" y="2286000"/>
          <a:ext cx="33797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4" name="Equation" r:id="rId4" imgW="2209680" imgH="368280" progId="Equation.DSMT4">
                  <p:embed/>
                </p:oleObj>
              </mc:Choice>
              <mc:Fallback>
                <p:oleObj name="Equation" r:id="rId4" imgW="2209680" imgH="368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286000"/>
                        <a:ext cx="3379787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urved Connector 5"/>
          <p:cNvCxnSpPr/>
          <p:nvPr/>
        </p:nvCxnSpPr>
        <p:spPr>
          <a:xfrm rot="10800000" flipV="1">
            <a:off x="6324600" y="1676400"/>
            <a:ext cx="762000" cy="6858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/>
          <p:nvPr/>
        </p:nvCxnSpPr>
        <p:spPr>
          <a:xfrm rot="5400000">
            <a:off x="5029200" y="1905000"/>
            <a:ext cx="609600" cy="1524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833824"/>
              </p:ext>
            </p:extLst>
          </p:nvPr>
        </p:nvGraphicFramePr>
        <p:xfrm>
          <a:off x="5410200" y="4391025"/>
          <a:ext cx="24860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5" name="Equation" r:id="rId6" imgW="1625400" imgH="368280" progId="Equation.DSMT4">
                  <p:embed/>
                </p:oleObj>
              </mc:Choice>
              <mc:Fallback>
                <p:oleObj name="Equation" r:id="rId6" imgW="1625400" imgH="368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4391025"/>
                        <a:ext cx="2486025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912521"/>
              </p:ext>
            </p:extLst>
          </p:nvPr>
        </p:nvGraphicFramePr>
        <p:xfrm>
          <a:off x="5410200" y="5000625"/>
          <a:ext cx="24860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6" name="Equation" r:id="rId8" imgW="1625400" imgH="368280" progId="Equation.DSMT4">
                  <p:embed/>
                </p:oleObj>
              </mc:Choice>
              <mc:Fallback>
                <p:oleObj name="Equation" r:id="rId8" imgW="1625400" imgH="3682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5000625"/>
                        <a:ext cx="2486025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629527"/>
              </p:ext>
            </p:extLst>
          </p:nvPr>
        </p:nvGraphicFramePr>
        <p:xfrm>
          <a:off x="5105400" y="5686425"/>
          <a:ext cx="31464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7" name="Equation" r:id="rId10" imgW="2057400" imgH="368280" progId="Equation.DSMT4">
                  <p:embed/>
                </p:oleObj>
              </mc:Choice>
              <mc:Fallback>
                <p:oleObj name="Equation" r:id="rId10" imgW="2057400" imgH="3682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5686425"/>
                        <a:ext cx="3146425" cy="5619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</a:t>
            </a:r>
            <a:r>
              <a:rPr lang="en-US" dirty="0" err="1"/>
              <a:t>vs</a:t>
            </a:r>
            <a:r>
              <a:rPr lang="en-US" dirty="0"/>
              <a:t> ML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Bayes</a:t>
            </a:r>
            <a:r>
              <a:rPr lang="en-US" dirty="0"/>
              <a:t> </a:t>
            </a:r>
            <a:r>
              <a:rPr lang="en-US" dirty="0" err="1"/>
              <a:t>Opimal</a:t>
            </a:r>
            <a:r>
              <a:rPr lang="en-US" dirty="0"/>
              <a:t>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MAP/ML estimate a hypothesis in the hypothesis space H</a:t>
            </a:r>
          </a:p>
          <a:p>
            <a:r>
              <a:rPr lang="en-US" dirty="0" err="1"/>
              <a:t>Bayes</a:t>
            </a:r>
            <a:r>
              <a:rPr lang="en-US" dirty="0"/>
              <a:t> method instead estimates and uses a complete distribution P(</a:t>
            </a:r>
            <a:r>
              <a:rPr lang="en-US" dirty="0" err="1"/>
              <a:t>h|D</a:t>
            </a:r>
            <a:r>
              <a:rPr lang="en-US" dirty="0"/>
              <a:t>)</a:t>
            </a:r>
          </a:p>
          <a:p>
            <a:r>
              <a:rPr lang="en-US" dirty="0"/>
              <a:t>The difference appears when they are used for inference of unseen instances and one compares the distributions P(</a:t>
            </a:r>
            <a:r>
              <a:rPr lang="en-US" dirty="0" err="1"/>
              <a:t>x|D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Bayes</a:t>
            </a:r>
            <a:r>
              <a:rPr lang="en-US" dirty="0"/>
              <a:t> optimal classifier can prediction with a hypothesis </a:t>
            </a:r>
            <a:r>
              <a:rPr lang="en-US" dirty="0">
                <a:solidFill>
                  <a:srgbClr val="00B050"/>
                </a:solidFill>
              </a:rPr>
              <a:t>not contained in H</a:t>
            </a:r>
          </a:p>
          <a:p>
            <a:endParaRPr lang="en-US" dirty="0"/>
          </a:p>
        </p:txBody>
      </p:sp>
      <p:graphicFrame>
        <p:nvGraphicFramePr>
          <p:cNvPr id="317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242575"/>
              </p:ext>
            </p:extLst>
          </p:nvPr>
        </p:nvGraphicFramePr>
        <p:xfrm>
          <a:off x="2971800" y="4572000"/>
          <a:ext cx="31257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6" name="Equation" r:id="rId4" imgW="2044440" imgH="368280" progId="Equation.DSMT4">
                  <p:embed/>
                </p:oleObj>
              </mc:Choice>
              <mc:Fallback>
                <p:oleObj name="Equation" r:id="rId4" imgW="2044440" imgH="368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72000"/>
                        <a:ext cx="3125787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253056"/>
              </p:ext>
            </p:extLst>
          </p:nvPr>
        </p:nvGraphicFramePr>
        <p:xfrm>
          <a:off x="2971800" y="3429000"/>
          <a:ext cx="34766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7" name="Equation" r:id="rId6" imgW="2273040" imgH="634680" progId="Equation.DSMT4">
                  <p:embed/>
                </p:oleObj>
              </mc:Choice>
              <mc:Fallback>
                <p:oleObj name="Equation" r:id="rId6" imgW="2273040" imgH="6346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429000"/>
                        <a:ext cx="3476625" cy="969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Bayesian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If we have only </a:t>
            </a:r>
            <a:r>
              <a:rPr lang="en-US" dirty="0">
                <a:solidFill>
                  <a:srgbClr val="00B050"/>
                </a:solidFill>
              </a:rPr>
              <a:t>training data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targets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without any hypotheses</a:t>
            </a:r>
          </a:p>
          <a:p>
            <a:r>
              <a:rPr lang="en-US" dirty="0"/>
              <a:t>If we have a </a:t>
            </a:r>
            <a:r>
              <a:rPr lang="en-US" dirty="0">
                <a:solidFill>
                  <a:srgbClr val="00B050"/>
                </a:solidFill>
              </a:rPr>
              <a:t>small training set</a:t>
            </a:r>
            <a:r>
              <a:rPr lang="en-US" dirty="0"/>
              <a:t>, while the number of attributes of each data is more than 1.</a:t>
            </a:r>
          </a:p>
          <a:p>
            <a:r>
              <a:rPr lang="en-US" dirty="0"/>
              <a:t>How to use Bayesian learning?</a:t>
            </a:r>
          </a:p>
          <a:p>
            <a:r>
              <a:rPr lang="en-US" dirty="0">
                <a:solidFill>
                  <a:srgbClr val="00B0F0"/>
                </a:solidFill>
              </a:rPr>
              <a:t>Objective: </a:t>
            </a:r>
            <a:r>
              <a:rPr lang="en-US" dirty="0"/>
              <a:t>Classify the new instance is to assign the most probable target value</a:t>
            </a:r>
          </a:p>
        </p:txBody>
      </p:sp>
      <p:graphicFrame>
        <p:nvGraphicFramePr>
          <p:cNvPr id="32770" name="Object 2"/>
          <p:cNvGraphicFramePr>
            <a:graphicFrameLocks noChangeAspect="1"/>
          </p:cNvGraphicFramePr>
          <p:nvPr/>
        </p:nvGraphicFramePr>
        <p:xfrm>
          <a:off x="2589213" y="4419600"/>
          <a:ext cx="4040187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4" name="Equation" r:id="rId4" imgW="2641320" imgH="1155600" progId="Equation.DSMT4">
                  <p:embed/>
                </p:oleObj>
              </mc:Choice>
              <mc:Fallback>
                <p:oleObj name="Equation" r:id="rId4" imgW="2641320" imgH="11556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213" y="4419600"/>
                        <a:ext cx="4040187" cy="176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4038600" y="6019800"/>
            <a:ext cx="1981200" cy="1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US" dirty="0"/>
              <a:t>If we have 2 </a:t>
            </a:r>
            <a:r>
              <a:rPr lang="en-US" dirty="0" err="1"/>
              <a:t>boolean</a:t>
            </a:r>
            <a:r>
              <a:rPr lang="en-US" dirty="0"/>
              <a:t> attributes and 2 </a:t>
            </a:r>
            <a:r>
              <a:rPr lang="en-US" dirty="0" err="1"/>
              <a:t>boolean</a:t>
            </a:r>
            <a:r>
              <a:rPr lang="en-US" dirty="0"/>
              <a:t> targets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possible instances</a:t>
            </a:r>
          </a:p>
          <a:p>
            <a:endParaRPr lang="en-US" dirty="0"/>
          </a:p>
          <a:p>
            <a:r>
              <a:rPr lang="en-US" dirty="0"/>
              <a:t>Thus, we need to find all of these probabilities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if we have </a:t>
            </a:r>
            <a:r>
              <a:rPr lang="en-US" dirty="0">
                <a:solidFill>
                  <a:srgbClr val="00B050"/>
                </a:solidFill>
              </a:rPr>
              <a:t>n</a:t>
            </a:r>
            <a:r>
              <a:rPr lang="en-US" dirty="0"/>
              <a:t> attributes with </a:t>
            </a:r>
            <a:r>
              <a:rPr lang="en-US" dirty="0">
                <a:solidFill>
                  <a:srgbClr val="00B050"/>
                </a:solidFill>
              </a:rPr>
              <a:t>m</a:t>
            </a:r>
            <a:r>
              <a:rPr lang="en-US" dirty="0"/>
              <a:t> values and </a:t>
            </a:r>
            <a:r>
              <a:rPr lang="en-US" dirty="0">
                <a:solidFill>
                  <a:srgbClr val="00B050"/>
                </a:solidFill>
              </a:rPr>
              <a:t>t</a:t>
            </a:r>
            <a:r>
              <a:rPr lang="en-US" dirty="0"/>
              <a:t> targets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Ex: n=4,  m=100, t =10 </a:t>
            </a:r>
            <a:r>
              <a:rPr lang="en-US" dirty="0">
                <a:sym typeface="Wingdings" pitchFamily="2" charset="2"/>
              </a:rPr>
              <a:t> we need to calculate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1,000,000,000 !!!</a:t>
            </a:r>
          </a:p>
          <a:p>
            <a:pPr lvl="1"/>
            <a:r>
              <a:rPr lang="en-US" dirty="0">
                <a:sym typeface="Wingdings" pitchFamily="2" charset="2"/>
              </a:rPr>
              <a:t>And we need the at least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100,000,000 </a:t>
            </a:r>
            <a:r>
              <a:rPr lang="en-US" dirty="0">
                <a:sym typeface="Wingdings" pitchFamily="2" charset="2"/>
              </a:rPr>
              <a:t>sample to train</a:t>
            </a:r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1981200" y="1657350"/>
          <a:ext cx="495300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7" name="Equation" r:id="rId4" imgW="3238200" imgH="660240" progId="Equation.DSMT4">
                  <p:embed/>
                </p:oleObj>
              </mc:Choice>
              <mc:Fallback>
                <p:oleObj name="Equation" r:id="rId4" imgW="3238200" imgH="660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57350"/>
                        <a:ext cx="4953000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7640235"/>
              </p:ext>
            </p:extLst>
          </p:nvPr>
        </p:nvGraphicFramePr>
        <p:xfrm>
          <a:off x="2514600" y="3048000"/>
          <a:ext cx="32242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8" name="Equation" r:id="rId6" imgW="2108160" imgH="279360" progId="Equation.DSMT4">
                  <p:embed/>
                </p:oleObj>
              </mc:Choice>
              <mc:Fallback>
                <p:oleObj name="Equation" r:id="rId6" imgW="2108160" imgH="2793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048000"/>
                        <a:ext cx="3224213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2133600" y="4064000"/>
          <a:ext cx="41370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9" name="Equation" r:id="rId8" imgW="2705040" imgH="431640" progId="Equation.DSMT4">
                  <p:embed/>
                </p:oleObj>
              </mc:Choice>
              <mc:Fallback>
                <p:oleObj name="Equation" r:id="rId8" imgW="270504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064000"/>
                        <a:ext cx="4137025" cy="660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4079553"/>
              </p:ext>
            </p:extLst>
          </p:nvPr>
        </p:nvGraphicFramePr>
        <p:xfrm>
          <a:off x="6705600" y="4184650"/>
          <a:ext cx="854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0" name="Equation" r:id="rId10" imgW="558720" imgH="203040" progId="Equation.DSMT4">
                  <p:embed/>
                </p:oleObj>
              </mc:Choice>
              <mc:Fallback>
                <p:oleObj name="Equation" r:id="rId10" imgW="55872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4184650"/>
                        <a:ext cx="854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6705600" y="3062287"/>
          <a:ext cx="63976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1" name="Equation" r:id="rId12" imgW="419040" imgH="190440" progId="Equation.DSMT4">
                  <p:embed/>
                </p:oleObj>
              </mc:Choice>
              <mc:Fallback>
                <p:oleObj name="Equation" r:id="rId12" imgW="419040" imgH="1904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3062287"/>
                        <a:ext cx="639762" cy="290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7"/>
          <p:cNvGraphicFramePr>
            <a:graphicFrameLocks noChangeAspect="1"/>
          </p:cNvGraphicFramePr>
          <p:nvPr/>
        </p:nvGraphicFramePr>
        <p:xfrm>
          <a:off x="6705600" y="5181600"/>
          <a:ext cx="854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2" name="Equation" r:id="rId14" imgW="558720" imgH="203040" progId="Equation.DSMT4">
                  <p:embed/>
                </p:oleObj>
              </mc:Choice>
              <mc:Fallback>
                <p:oleObj name="Equation" r:id="rId14" imgW="55872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181600"/>
                        <a:ext cx="854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3352800" y="5192713"/>
          <a:ext cx="178752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3" name="Equation" r:id="rId16" imgW="1168200" imgH="241200" progId="Equation.DSMT4">
                  <p:embed/>
                </p:oleObj>
              </mc:Choice>
              <mc:Fallback>
                <p:oleObj name="Equation" r:id="rId16" imgW="116820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92713"/>
                        <a:ext cx="1787525" cy="369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Classify the new instance is to assign the most probable target value</a:t>
            </a:r>
            <a:endParaRPr lang="th-TH" dirty="0"/>
          </a:p>
          <a:p>
            <a:endParaRPr lang="th-TH" dirty="0"/>
          </a:p>
          <a:p>
            <a:endParaRPr lang="th-TH" dirty="0"/>
          </a:p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assumption: </a:t>
            </a:r>
          </a:p>
          <a:p>
            <a:pPr lvl="1"/>
            <a:r>
              <a:rPr lang="en-US" dirty="0"/>
              <a:t>The attribute values are </a:t>
            </a:r>
            <a:r>
              <a:rPr lang="en-US" dirty="0">
                <a:solidFill>
                  <a:srgbClr val="00B050"/>
                </a:solidFill>
              </a:rPr>
              <a:t>conditionally independent </a:t>
            </a:r>
            <a:r>
              <a:rPr lang="en-US" dirty="0"/>
              <a:t>given the target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Ex: n=4,  m=100, t =10 </a:t>
            </a:r>
            <a:r>
              <a:rPr lang="en-US" dirty="0">
                <a:sym typeface="Wingdings" pitchFamily="2" charset="2"/>
              </a:rPr>
              <a:t> we need to calculate only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4,000 !!!</a:t>
            </a:r>
          </a:p>
          <a:p>
            <a:pPr lvl="1"/>
            <a:endParaRPr lang="en-US" dirty="0"/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2474912" y="2295525"/>
          <a:ext cx="40020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4" name="Equation" r:id="rId4" imgW="2616120" imgH="342720" progId="Equation.DSMT4">
                  <p:embed/>
                </p:oleObj>
              </mc:Choice>
              <mc:Fallback>
                <p:oleObj name="Equation" r:id="rId4" imgW="261612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2" y="2295525"/>
                        <a:ext cx="400208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>
            <a:graphicFrameLocks noChangeAspect="1"/>
          </p:cNvGraphicFramePr>
          <p:nvPr/>
        </p:nvGraphicFramePr>
        <p:xfrm>
          <a:off x="3048000" y="4867275"/>
          <a:ext cx="30321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5" name="Equation" r:id="rId6" imgW="1981080" imgH="355320" progId="Equation.DSMT4">
                  <p:embed/>
                </p:oleObj>
              </mc:Choice>
              <mc:Fallback>
                <p:oleObj name="Equation" r:id="rId6" imgW="1981080" imgH="3553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67275"/>
                        <a:ext cx="30321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106281"/>
              </p:ext>
            </p:extLst>
          </p:nvPr>
        </p:nvGraphicFramePr>
        <p:xfrm>
          <a:off x="2819400" y="4267200"/>
          <a:ext cx="34369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16" name="Equation" r:id="rId8" imgW="2247840" imgH="342720" progId="Equation.DSMT4">
                  <p:embed/>
                </p:oleObj>
              </mc:Choice>
              <mc:Fallback>
                <p:oleObj name="Equation" r:id="rId8" imgW="2247840" imgH="342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267200"/>
                        <a:ext cx="3436938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Classifier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Popular, simple learning algorithm</a:t>
            </a:r>
          </a:p>
          <a:p>
            <a:r>
              <a:rPr lang="en-US" dirty="0"/>
              <a:t>Moderate or large training set available</a:t>
            </a:r>
          </a:p>
          <a:p>
            <a:r>
              <a:rPr lang="en-US" dirty="0"/>
              <a:t>Assumption: attributes that describe instances are conditionally independent given classification</a:t>
            </a:r>
          </a:p>
          <a:p>
            <a:pPr lvl="1"/>
            <a:r>
              <a:rPr lang="en-US" dirty="0"/>
              <a:t>in practice works surprisingly well even if assumption is violated</a:t>
            </a:r>
          </a:p>
          <a:p>
            <a:r>
              <a:rPr lang="en-US" dirty="0"/>
              <a:t>Applications:</a:t>
            </a:r>
          </a:p>
          <a:p>
            <a:pPr lvl="1"/>
            <a:r>
              <a:rPr lang="en-US" dirty="0"/>
              <a:t>diagnosis</a:t>
            </a:r>
          </a:p>
          <a:p>
            <a:pPr lvl="1"/>
            <a:r>
              <a:rPr lang="en-US" dirty="0"/>
              <a:t>text classification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Learning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Learn</a:t>
            </a:r>
            <a:endParaRPr lang="en-US" dirty="0"/>
          </a:p>
          <a:p>
            <a:pPr lvl="1"/>
            <a:r>
              <a:rPr lang="en-US" dirty="0"/>
              <a:t>For each target value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Estimate P(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by</a:t>
            </a:r>
          </a:p>
          <a:p>
            <a:pPr lvl="3"/>
            <a:r>
              <a:rPr lang="en-US" dirty="0"/>
              <a:t>If discrete value, count the number of examples in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If continuous value, use </a:t>
            </a:r>
            <a:r>
              <a:rPr lang="en-US" dirty="0" err="1"/>
              <a:t>pdf</a:t>
            </a:r>
            <a:endParaRPr lang="en-US" dirty="0"/>
          </a:p>
          <a:p>
            <a:pPr lvl="1"/>
            <a:r>
              <a:rPr lang="en-US" dirty="0"/>
              <a:t>For each attribute value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Estimate of each attribute a estimate P(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|v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If discrete value, count the number of examples in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If continuous value, use </a:t>
            </a:r>
            <a:r>
              <a:rPr lang="en-US" dirty="0" err="1"/>
              <a:t>pdf</a:t>
            </a:r>
            <a:endParaRPr lang="en-US" dirty="0"/>
          </a:p>
          <a:p>
            <a:pPr lvl="3">
              <a:buNone/>
            </a:pP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Classify</a:t>
            </a:r>
            <a:endParaRPr lang="en-US" dirty="0"/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819400" y="4953000"/>
          <a:ext cx="30321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4" name="Equation" r:id="rId4" imgW="1981080" imgH="355320" progId="Equation.DSMT4">
                  <p:embed/>
                </p:oleObj>
              </mc:Choice>
              <mc:Fallback>
                <p:oleObj name="Equation" r:id="rId4" imgW="1981080" imgH="355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953000"/>
                        <a:ext cx="30321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&lt;Outlook=Sunny, Temp=cool, Humidity=high, Wind=strong&gt; = ?</a:t>
            </a: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209003" y="1747839"/>
            <a:ext cx="5934997" cy="4500561"/>
            <a:chOff x="1104" y="576"/>
            <a:chExt cx="4026" cy="3218"/>
          </a:xfrm>
        </p:grpSpPr>
        <p:sp>
          <p:nvSpPr>
            <p:cNvPr id="5" name="Text Box 34"/>
            <p:cNvSpPr txBox="1">
              <a:spLocks noChangeArrowheads="1"/>
            </p:cNvSpPr>
            <p:nvPr/>
          </p:nvSpPr>
          <p:spPr bwMode="auto">
            <a:xfrm>
              <a:off x="1104" y="576"/>
              <a:ext cx="4026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>
                  <a:solidFill>
                    <a:srgbClr val="0000FF"/>
                  </a:solidFill>
                </a:rPr>
                <a:t>Day    Outlook         Temp    Humidity    Wind</a:t>
              </a:r>
              <a:r>
                <a:rPr lang="en-US" sz="1600" b="1" dirty="0"/>
                <a:t>       </a:t>
              </a:r>
              <a:r>
                <a:rPr lang="en-US" sz="1600" b="1" dirty="0">
                  <a:solidFill>
                    <a:srgbClr val="A50021"/>
                  </a:solidFill>
                </a:rPr>
                <a:t>Play Tennis</a:t>
              </a:r>
              <a:endParaRPr lang="en-US" sz="16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Text Box 35"/>
            <p:cNvSpPr txBox="1">
              <a:spLocks noChangeArrowheads="1"/>
            </p:cNvSpPr>
            <p:nvPr/>
          </p:nvSpPr>
          <p:spPr bwMode="auto">
            <a:xfrm>
              <a:off x="1152" y="902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1       Sunny	Hot	High	Weak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7" name="Text Box 36"/>
            <p:cNvSpPr txBox="1">
              <a:spLocks noChangeArrowheads="1"/>
            </p:cNvSpPr>
            <p:nvPr/>
          </p:nvSpPr>
          <p:spPr bwMode="auto">
            <a:xfrm>
              <a:off x="1152" y="1106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2       Sunny	Hot	High	Strong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8" name="Text Box 37"/>
            <p:cNvSpPr txBox="1">
              <a:spLocks noChangeArrowheads="1"/>
            </p:cNvSpPr>
            <p:nvPr/>
          </p:nvSpPr>
          <p:spPr bwMode="auto">
            <a:xfrm>
              <a:off x="1152" y="1310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3       Overcast	Hot	High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Text Box 38"/>
            <p:cNvSpPr txBox="1">
              <a:spLocks noChangeArrowheads="1"/>
            </p:cNvSpPr>
            <p:nvPr/>
          </p:nvSpPr>
          <p:spPr bwMode="auto">
            <a:xfrm>
              <a:off x="1152" y="1514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4       Rain	Mild	High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0" name="Text Box 39"/>
            <p:cNvSpPr txBox="1">
              <a:spLocks noChangeArrowheads="1"/>
            </p:cNvSpPr>
            <p:nvPr/>
          </p:nvSpPr>
          <p:spPr bwMode="auto">
            <a:xfrm>
              <a:off x="1152" y="1718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5       Rain	Cool 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Text Box 40"/>
            <p:cNvSpPr txBox="1">
              <a:spLocks noChangeArrowheads="1"/>
            </p:cNvSpPr>
            <p:nvPr/>
          </p:nvSpPr>
          <p:spPr bwMode="auto">
            <a:xfrm>
              <a:off x="1152" y="1922"/>
              <a:ext cx="3310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6       Rain	Cool	Normal	Strong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2" name="Text Box 41"/>
            <p:cNvSpPr txBox="1">
              <a:spLocks noChangeArrowheads="1"/>
            </p:cNvSpPr>
            <p:nvPr/>
          </p:nvSpPr>
          <p:spPr bwMode="auto">
            <a:xfrm>
              <a:off x="1152" y="2125"/>
              <a:ext cx="351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7       Overcast	Cool	Normal	Strong 	</a:t>
              </a:r>
              <a:r>
                <a:rPr lang="en-US" sz="1600" b="1" dirty="0">
                  <a:solidFill>
                    <a:srgbClr val="00B050"/>
                  </a:solidFill>
                </a:rPr>
                <a:t>Yes 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3" name="Text Box 42"/>
            <p:cNvSpPr txBox="1">
              <a:spLocks noChangeArrowheads="1"/>
            </p:cNvSpPr>
            <p:nvPr/>
          </p:nvSpPr>
          <p:spPr bwMode="auto">
            <a:xfrm>
              <a:off x="1152" y="2329"/>
              <a:ext cx="334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8       Sunny	Mild	High	Weak	</a:t>
              </a:r>
              <a:r>
                <a:rPr lang="en-US" sz="1600" b="1" dirty="0">
                  <a:solidFill>
                    <a:srgbClr val="A50021"/>
                  </a:solidFill>
                </a:rPr>
                <a:t>No</a:t>
              </a:r>
              <a:endParaRPr lang="en-US" sz="1600" u="sng" dirty="0"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4" name="Text Box 43"/>
            <p:cNvSpPr txBox="1">
              <a:spLocks noChangeArrowheads="1"/>
            </p:cNvSpPr>
            <p:nvPr/>
          </p:nvSpPr>
          <p:spPr bwMode="auto">
            <a:xfrm>
              <a:off x="1152" y="2533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 9       Sunny	Cool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5" name="Text Box 44"/>
            <p:cNvSpPr txBox="1">
              <a:spLocks noChangeArrowheads="1"/>
            </p:cNvSpPr>
            <p:nvPr/>
          </p:nvSpPr>
          <p:spPr bwMode="auto">
            <a:xfrm>
              <a:off x="1152" y="2737"/>
              <a:ext cx="351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10      Rain	Mild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 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6" name="Text Box 45"/>
            <p:cNvSpPr txBox="1">
              <a:spLocks noChangeArrowheads="1"/>
            </p:cNvSpPr>
            <p:nvPr/>
          </p:nvSpPr>
          <p:spPr bwMode="auto">
            <a:xfrm>
              <a:off x="1152" y="2940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11      Sunny	Mild	Normal	Strong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FFFFFF"/>
                  </a:outerShdw>
                </a:effectLst>
              </a:endParaRPr>
            </a:p>
          </p:txBody>
        </p:sp>
        <p:sp>
          <p:nvSpPr>
            <p:cNvPr id="17" name="Text Box 46"/>
            <p:cNvSpPr txBox="1">
              <a:spLocks noChangeArrowheads="1"/>
            </p:cNvSpPr>
            <p:nvPr/>
          </p:nvSpPr>
          <p:spPr bwMode="auto">
            <a:xfrm>
              <a:off x="1152" y="3145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12      Overcast	Mild	High	Strong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Text Box 47"/>
            <p:cNvSpPr txBox="1">
              <a:spLocks noChangeArrowheads="1"/>
            </p:cNvSpPr>
            <p:nvPr/>
          </p:nvSpPr>
          <p:spPr bwMode="auto">
            <a:xfrm>
              <a:off x="1152" y="3349"/>
              <a:ext cx="347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13      Overcast	Hot	Normal	Weak	</a:t>
              </a:r>
              <a:r>
                <a:rPr lang="en-US" sz="1600" b="1" dirty="0">
                  <a:solidFill>
                    <a:srgbClr val="00B050"/>
                  </a:solidFill>
                </a:rPr>
                <a:t>Yes</a:t>
              </a:r>
              <a:endParaRPr lang="en-US" sz="160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Text Box 48"/>
            <p:cNvSpPr txBox="1">
              <a:spLocks noChangeArrowheads="1"/>
            </p:cNvSpPr>
            <p:nvPr/>
          </p:nvSpPr>
          <p:spPr bwMode="auto">
            <a:xfrm>
              <a:off x="1152" y="3552"/>
              <a:ext cx="3347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1600" b="1" dirty="0"/>
                <a:t>14      Rain	Mild	High	Strong	</a:t>
              </a:r>
              <a:r>
                <a:rPr lang="en-US" sz="1600" b="1" dirty="0">
                  <a:solidFill>
                    <a:srgbClr val="A50021"/>
                  </a:solidFill>
                </a:rPr>
                <a:t>No </a:t>
              </a:r>
              <a:endParaRPr lang="en-US" sz="16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3276326" y="2174879"/>
            <a:ext cx="571504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5400000">
            <a:off x="1597533" y="3997343"/>
            <a:ext cx="435771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1066800" y="2819400"/>
          <a:ext cx="130175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6" name="Equation" r:id="rId4" imgW="850680" imgH="203040" progId="Equation.DSMT4">
                  <p:embed/>
                </p:oleObj>
              </mc:Choice>
              <mc:Fallback>
                <p:oleObj name="Equation" r:id="rId4" imgW="85068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9400"/>
                        <a:ext cx="1301750" cy="309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295400" y="3276600"/>
          <a:ext cx="8159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7" name="Equation" r:id="rId6" imgW="533160" imgH="457200" progId="Equation.DSMT4">
                  <p:embed/>
                </p:oleObj>
              </mc:Choice>
              <mc:Fallback>
                <p:oleObj name="Equation" r:id="rId6" imgW="533160" imgH="457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815975" cy="695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457200" y="4114800"/>
          <a:ext cx="256381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8" name="Equation" r:id="rId8" imgW="1676160" imgH="228600" progId="Equation.DSMT4">
                  <p:embed/>
                </p:oleObj>
              </mc:Choice>
              <mc:Fallback>
                <p:oleObj name="Equation" r:id="rId8" imgW="1676160" imgH="2286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14800"/>
                        <a:ext cx="2563812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7"/>
          <p:cNvGraphicFramePr>
            <a:graphicFrameLocks noChangeAspect="1"/>
          </p:cNvGraphicFramePr>
          <p:nvPr/>
        </p:nvGraphicFramePr>
        <p:xfrm>
          <a:off x="244475" y="2133600"/>
          <a:ext cx="30321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9" name="Equation" r:id="rId10" imgW="1981080" imgH="355320" progId="Equation.DSMT4">
                  <p:embed/>
                </p:oleObj>
              </mc:Choice>
              <mc:Fallback>
                <p:oleObj name="Equation" r:id="rId10" imgW="1981080" imgH="3553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475" y="2133600"/>
                        <a:ext cx="30321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8"/>
          <p:cNvGraphicFramePr>
            <a:graphicFrameLocks noChangeAspect="1"/>
          </p:cNvGraphicFramePr>
          <p:nvPr/>
        </p:nvGraphicFramePr>
        <p:xfrm>
          <a:off x="1295400" y="4552950"/>
          <a:ext cx="1127125" cy="139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0" name="Equation" r:id="rId12" imgW="736560" imgH="914400" progId="Equation.DSMT4">
                  <p:embed/>
                </p:oleObj>
              </mc:Choice>
              <mc:Fallback>
                <p:oleObj name="Equation" r:id="rId12" imgW="736560" imgH="914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52950"/>
                        <a:ext cx="1127125" cy="1390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M-estimate of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if none (</a:t>
            </a:r>
            <a:r>
              <a:rPr lang="en-US" dirty="0" err="1"/>
              <a:t>n</a:t>
            </a:r>
            <a:r>
              <a:rPr lang="en-US" baseline="-25000" dirty="0" err="1"/>
              <a:t>c</a:t>
            </a:r>
            <a:r>
              <a:rPr lang="en-US" dirty="0"/>
              <a:t>=0) of the training instances with target value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have attribute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?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                                      and</a:t>
            </a:r>
          </a:p>
          <a:p>
            <a:pPr lvl="1"/>
            <a:endParaRPr lang="en-US" dirty="0"/>
          </a:p>
          <a:p>
            <a:r>
              <a:rPr lang="en-US" dirty="0"/>
              <a:t>Solution: </a:t>
            </a:r>
            <a:r>
              <a:rPr lang="en-US" i="1" dirty="0">
                <a:solidFill>
                  <a:srgbClr val="00B050"/>
                </a:solidFill>
              </a:rPr>
              <a:t>m</a:t>
            </a:r>
            <a:r>
              <a:rPr lang="en-US" dirty="0">
                <a:solidFill>
                  <a:srgbClr val="00B050"/>
                </a:solidFill>
              </a:rPr>
              <a:t>-estimate of probability</a:t>
            </a:r>
            <a:endParaRPr lang="en-US" dirty="0"/>
          </a:p>
          <a:p>
            <a:pPr>
              <a:buNone/>
            </a:pPr>
            <a:endParaRPr lang="pt-BR" dirty="0"/>
          </a:p>
          <a:p>
            <a:pPr>
              <a:buNone/>
            </a:pPr>
            <a:endParaRPr lang="pt-BR" dirty="0"/>
          </a:p>
          <a:p>
            <a:pPr lvl="1"/>
            <a:r>
              <a:rPr lang="en-US" dirty="0"/>
              <a:t>n: number of training examples for which v=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endParaRPr lang="en-US" dirty="0"/>
          </a:p>
          <a:p>
            <a:pPr lvl="1"/>
            <a:r>
              <a:rPr lang="en-US" dirty="0" err="1"/>
              <a:t>n</a:t>
            </a:r>
            <a:r>
              <a:rPr lang="en-US" baseline="-25000" dirty="0" err="1"/>
              <a:t>c</a:t>
            </a:r>
            <a:r>
              <a:rPr lang="en-US" dirty="0"/>
              <a:t>: number of examples for which v=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and a=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endParaRPr lang="en-US" dirty="0"/>
          </a:p>
          <a:p>
            <a:pPr lvl="1"/>
            <a:r>
              <a:rPr lang="en-US" dirty="0"/>
              <a:t>p: prior estimate of P(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 err="1"/>
              <a:t>|v</a:t>
            </a:r>
            <a:r>
              <a:rPr lang="en-US" baseline="-25000" dirty="0" err="1"/>
              <a:t>j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m: weight given to prior (number of “</a:t>
            </a:r>
            <a:r>
              <a:rPr lang="en-US" dirty="0">
                <a:solidFill>
                  <a:srgbClr val="00B050"/>
                </a:solidFill>
              </a:rPr>
              <a:t>virtual</a:t>
            </a:r>
            <a:r>
              <a:rPr lang="en-US" dirty="0"/>
              <a:t>” examples)</a:t>
            </a:r>
          </a:p>
        </p:txBody>
      </p:sp>
      <p:graphicFrame>
        <p:nvGraphicFramePr>
          <p:cNvPr id="40962" name="Object 2"/>
          <p:cNvGraphicFramePr>
            <a:graphicFrameLocks noChangeAspect="1"/>
          </p:cNvGraphicFramePr>
          <p:nvPr/>
        </p:nvGraphicFramePr>
        <p:xfrm>
          <a:off x="4400550" y="2400300"/>
          <a:ext cx="20605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4" name="Equation" r:id="rId4" imgW="1346040" imgH="342720" progId="Equation.DSMT4">
                  <p:embed/>
                </p:oleObj>
              </mc:Choice>
              <mc:Fallback>
                <p:oleObj name="Equation" r:id="rId4" imgW="134604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2400300"/>
                        <a:ext cx="2060575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/>
          <p:cNvGraphicFramePr>
            <a:graphicFrameLocks noChangeAspect="1"/>
          </p:cNvGraphicFramePr>
          <p:nvPr/>
        </p:nvGraphicFramePr>
        <p:xfrm>
          <a:off x="2076450" y="2305050"/>
          <a:ext cx="17113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5" name="Equation" r:id="rId6" imgW="1117440" imgH="393480" progId="Equation.DSMT4">
                  <p:embed/>
                </p:oleObj>
              </mc:Choice>
              <mc:Fallback>
                <p:oleObj name="Equation" r:id="rId6" imgW="111744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2305050"/>
                        <a:ext cx="1711325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>
            <a:graphicFrameLocks noChangeAspect="1"/>
          </p:cNvGraphicFramePr>
          <p:nvPr/>
        </p:nvGraphicFramePr>
        <p:xfrm>
          <a:off x="3429000" y="3657600"/>
          <a:ext cx="186690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name="Equation" r:id="rId8" imgW="1218960" imgH="393480" progId="Equation.DSMT4">
                  <p:embed/>
                </p:oleObj>
              </mc:Choice>
              <mc:Fallback>
                <p:oleObj name="Equation" r:id="rId8" imgW="121896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657600"/>
                        <a:ext cx="1866900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: Text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Classify the topic of the document</a:t>
            </a:r>
          </a:p>
          <a:p>
            <a:pPr lvl="1"/>
            <a:r>
              <a:rPr lang="en-US" dirty="0"/>
              <a:t>Input = document</a:t>
            </a:r>
          </a:p>
          <a:p>
            <a:pPr lvl="1"/>
            <a:r>
              <a:rPr lang="en-US" dirty="0"/>
              <a:t>Output = topic</a:t>
            </a:r>
          </a:p>
          <a:p>
            <a:r>
              <a:rPr lang="en-US" dirty="0"/>
              <a:t>For Naïve </a:t>
            </a:r>
            <a:r>
              <a:rPr lang="en-US" dirty="0" err="1"/>
              <a:t>Bayes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Instance = ?</a:t>
            </a:r>
          </a:p>
          <a:p>
            <a:pPr lvl="1"/>
            <a:r>
              <a:rPr lang="en-US" dirty="0"/>
              <a:t>Attribute = ?</a:t>
            </a:r>
          </a:p>
          <a:p>
            <a:pPr lvl="1"/>
            <a:r>
              <a:rPr lang="en-US" dirty="0"/>
              <a:t>Target = 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: Text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“Australia completed a comprehensive victory over England in the fourth Ashes Test at </a:t>
            </a:r>
            <a:r>
              <a:rPr lang="en-US" i="1" dirty="0" err="1"/>
              <a:t>Headingley</a:t>
            </a:r>
            <a:r>
              <a:rPr lang="en-US" i="1" dirty="0"/>
              <a:t>, Leeds, winning by an innings and 80 runs inside three days to level the series at 1-1 with just the deciding Test match at The Oval still to play.”</a:t>
            </a:r>
          </a:p>
          <a:p>
            <a:r>
              <a:rPr lang="en-US" dirty="0"/>
              <a:t>Instance = Document</a:t>
            </a:r>
          </a:p>
          <a:p>
            <a:r>
              <a:rPr lang="en-US" dirty="0"/>
              <a:t>Attribute = index and frequency of each word.</a:t>
            </a:r>
          </a:p>
          <a:p>
            <a:pPr lvl="1"/>
            <a:r>
              <a:rPr lang="en-US" dirty="0"/>
              <a:t>&lt; Australia, completed, …&gt;</a:t>
            </a:r>
          </a:p>
          <a:p>
            <a:pPr lvl="1"/>
            <a:r>
              <a:rPr lang="en-US" dirty="0"/>
              <a:t>Use random variable for mapping each word to index</a:t>
            </a:r>
          </a:p>
          <a:p>
            <a:pPr lvl="1"/>
            <a:r>
              <a:rPr lang="en-US" dirty="0"/>
              <a:t>Count the frequency of each word in each document</a:t>
            </a:r>
          </a:p>
          <a:p>
            <a:r>
              <a:rPr lang="en-US" dirty="0"/>
              <a:t>Target</a:t>
            </a:r>
          </a:p>
          <a:p>
            <a:pPr lvl="1"/>
            <a:r>
              <a:rPr lang="en-US" dirty="0"/>
              <a:t>{Sport, Politic, Entertainment, …}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: Text categorization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Learn</a:t>
            </a:r>
            <a:r>
              <a:rPr lang="en-US" dirty="0" err="1"/>
              <a:t>_naive_Bayes_text</a:t>
            </a:r>
            <a:r>
              <a:rPr lang="en-US" dirty="0"/>
              <a:t>(Examples, V)</a:t>
            </a:r>
          </a:p>
          <a:p>
            <a:pPr lvl="1"/>
            <a:r>
              <a:rPr lang="en-US" dirty="0"/>
              <a:t>Vocabulary ← all distinct words in Examples</a:t>
            </a:r>
          </a:p>
          <a:p>
            <a:pPr lvl="1"/>
            <a:r>
              <a:rPr lang="en-US" dirty="0"/>
              <a:t>For each target value 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 in V do</a:t>
            </a:r>
          </a:p>
          <a:p>
            <a:pPr lvl="2"/>
            <a:r>
              <a:rPr lang="en-US" dirty="0"/>
              <a:t>P(</a:t>
            </a:r>
            <a:r>
              <a:rPr lang="en-US" dirty="0" err="1"/>
              <a:t>v</a:t>
            </a:r>
            <a:r>
              <a:rPr lang="en-US" baseline="-25000" dirty="0" err="1"/>
              <a:t>j</a:t>
            </a:r>
            <a:r>
              <a:rPr lang="en-US" dirty="0"/>
              <a:t>) ← |</a:t>
            </a:r>
            <a:r>
              <a:rPr lang="en-US" dirty="0" err="1"/>
              <a:t>docs</a:t>
            </a:r>
            <a:r>
              <a:rPr lang="en-US" baseline="-25000" dirty="0" err="1"/>
              <a:t>j</a:t>
            </a:r>
            <a:r>
              <a:rPr lang="en-US" dirty="0"/>
              <a:t>| / |Examples|</a:t>
            </a:r>
          </a:p>
          <a:p>
            <a:pPr lvl="2"/>
            <a:r>
              <a:rPr lang="en-US" dirty="0" err="1"/>
              <a:t>text</a:t>
            </a:r>
            <a:r>
              <a:rPr lang="en-US" baseline="-25000" dirty="0" err="1"/>
              <a:t>j</a:t>
            </a:r>
            <a:r>
              <a:rPr lang="en-US" dirty="0"/>
              <a:t> ←concatenating all members of </a:t>
            </a:r>
            <a:r>
              <a:rPr lang="en-US" dirty="0" err="1"/>
              <a:t>docs</a:t>
            </a:r>
            <a:r>
              <a:rPr lang="en-US" baseline="-25000" dirty="0" err="1"/>
              <a:t>j</a:t>
            </a:r>
            <a:endParaRPr lang="en-US" dirty="0"/>
          </a:p>
          <a:p>
            <a:pPr lvl="2"/>
            <a:r>
              <a:rPr lang="en-US" dirty="0"/>
              <a:t>n ← total number of words in </a:t>
            </a:r>
            <a:r>
              <a:rPr lang="en-US" dirty="0" err="1"/>
              <a:t>text</a:t>
            </a:r>
            <a:r>
              <a:rPr lang="en-US" baseline="-25000" dirty="0" err="1"/>
              <a:t>j</a:t>
            </a:r>
            <a:endParaRPr lang="en-US" dirty="0"/>
          </a:p>
          <a:p>
            <a:pPr lvl="2"/>
            <a:r>
              <a:rPr lang="en-US" dirty="0"/>
              <a:t>For each word w</a:t>
            </a:r>
            <a:r>
              <a:rPr lang="en-US" baseline="-25000" dirty="0"/>
              <a:t>k</a:t>
            </a:r>
            <a:r>
              <a:rPr lang="en-US" dirty="0"/>
              <a:t> in Vocabulary</a:t>
            </a:r>
          </a:p>
          <a:p>
            <a:pPr lvl="3"/>
            <a:r>
              <a:rPr lang="en-US" dirty="0" err="1"/>
              <a:t>n</a:t>
            </a:r>
            <a:r>
              <a:rPr lang="en-US" baseline="-25000" dirty="0" err="1"/>
              <a:t>k</a:t>
            </a:r>
            <a:r>
              <a:rPr lang="en-US" dirty="0"/>
              <a:t> ← number of times word w</a:t>
            </a:r>
            <a:r>
              <a:rPr lang="en-US" baseline="-25000" dirty="0"/>
              <a:t>k</a:t>
            </a:r>
            <a:r>
              <a:rPr lang="en-US" dirty="0"/>
              <a:t> occurs in </a:t>
            </a:r>
            <a:r>
              <a:rPr lang="en-US" dirty="0" err="1"/>
              <a:t>text</a:t>
            </a:r>
            <a:r>
              <a:rPr lang="en-US" baseline="-25000" dirty="0" err="1"/>
              <a:t>j</a:t>
            </a:r>
            <a:endParaRPr lang="en-US" baseline="-25000" dirty="0"/>
          </a:p>
          <a:p>
            <a:endParaRPr lang="en-US" dirty="0"/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dirty="0" err="1">
                <a:solidFill>
                  <a:srgbClr val="00B050"/>
                </a:solidFill>
              </a:rPr>
              <a:t>Classify</a:t>
            </a:r>
            <a:r>
              <a:rPr lang="en-US" dirty="0" err="1"/>
              <a:t>_naive_Bayes_text</a:t>
            </a:r>
            <a:r>
              <a:rPr lang="en-US" dirty="0"/>
              <a:t>(Doc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Position ← all word positions in Doc that contain tokens in Vocabulary</a:t>
            </a:r>
          </a:p>
          <a:p>
            <a:pPr lvl="1"/>
            <a:r>
              <a:rPr lang="en-US" dirty="0"/>
              <a:t>Return</a:t>
            </a:r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914650" y="3962400"/>
          <a:ext cx="28003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4" name="Equation" r:id="rId4" imgW="1828800" imgH="444240" progId="Equation.DSMT4">
                  <p:embed/>
                </p:oleObj>
              </mc:Choice>
              <mc:Fallback>
                <p:oleObj name="Equation" r:id="rId4" imgW="182880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0" y="3962400"/>
                        <a:ext cx="2800350" cy="679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3"/>
          <p:cNvGraphicFramePr>
            <a:graphicFrameLocks noChangeAspect="1"/>
          </p:cNvGraphicFramePr>
          <p:nvPr/>
        </p:nvGraphicFramePr>
        <p:xfrm>
          <a:off x="2625725" y="5772150"/>
          <a:ext cx="34210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15" name="Equation" r:id="rId6" imgW="2234880" imgH="368280" progId="Equation.DSMT4">
                  <p:embed/>
                </p:oleObj>
              </mc:Choice>
              <mc:Fallback>
                <p:oleObj name="Equation" r:id="rId6" imgW="2234880" imgH="368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5725" y="5772150"/>
                        <a:ext cx="3421063" cy="561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Bayesian Belief </a:t>
            </a:r>
            <a:r>
              <a:rPr lang="en-US" dirty="0"/>
              <a:t>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: </a:t>
            </a:r>
            <a:r>
              <a:rPr lang="en-US" dirty="0">
                <a:solidFill>
                  <a:srgbClr val="00B0F0"/>
                </a:solidFill>
              </a:rPr>
              <a:t>All</a:t>
            </a:r>
            <a:r>
              <a:rPr lang="en-US" dirty="0"/>
              <a:t> variables are conditionally </a:t>
            </a:r>
            <a:r>
              <a:rPr lang="en-US" dirty="0">
                <a:solidFill>
                  <a:srgbClr val="FF0000"/>
                </a:solidFill>
              </a:rPr>
              <a:t>independent</a:t>
            </a:r>
          </a:p>
          <a:p>
            <a:r>
              <a:rPr lang="en-US" dirty="0"/>
              <a:t>BBN: </a:t>
            </a:r>
            <a:r>
              <a:rPr lang="en-US" dirty="0">
                <a:solidFill>
                  <a:srgbClr val="00B0F0"/>
                </a:solidFill>
              </a:rPr>
              <a:t>Some</a:t>
            </a:r>
            <a:r>
              <a:rPr lang="en-US" dirty="0"/>
              <a:t> variables are conditionally </a:t>
            </a:r>
            <a:r>
              <a:rPr lang="en-US" dirty="0">
                <a:solidFill>
                  <a:srgbClr val="00B050"/>
                </a:solidFill>
              </a:rPr>
              <a:t>dependent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Less constrain, Naïve assumption of conditional independency too restrictive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Still tractable, Full probability distribution intractable due to lack of data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Allows combining prior knowledge about causal relationships among variables with observed data</a:t>
            </a:r>
          </a:p>
          <a:p>
            <a:r>
              <a:rPr lang="en-US" dirty="0"/>
              <a:t>Representation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5298" name="Object 2"/>
          <p:cNvGraphicFramePr>
            <a:graphicFrameLocks noChangeAspect="1"/>
          </p:cNvGraphicFramePr>
          <p:nvPr/>
        </p:nvGraphicFramePr>
        <p:xfrm>
          <a:off x="2743200" y="5181600"/>
          <a:ext cx="3459163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2" name="Equation" r:id="rId4" imgW="2260440" imgH="342720" progId="Equation.DSMT4">
                  <p:embed/>
                </p:oleObj>
              </mc:Choice>
              <mc:Fallback>
                <p:oleObj name="Equation" r:id="rId4" imgW="2260440" imgH="342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3459163" cy="522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Definition</a:t>
            </a:r>
            <a:r>
              <a:rPr lang="en-US" dirty="0"/>
              <a:t>: X is </a:t>
            </a:r>
            <a:r>
              <a:rPr lang="en-US" dirty="0">
                <a:solidFill>
                  <a:srgbClr val="00B050"/>
                </a:solidFill>
              </a:rPr>
              <a:t>conditionally independent </a:t>
            </a:r>
            <a:r>
              <a:rPr lang="en-US" dirty="0"/>
              <a:t>of  Y given Z is the probability distribution governing X is independent of the value of Y given the value of Z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				P(X|Y,Z) </a:t>
            </a:r>
            <a:r>
              <a:rPr lang="en-US" dirty="0">
                <a:sym typeface="Wingdings" pitchFamily="2" charset="2"/>
              </a:rPr>
              <a:t> P(X|Z)</a:t>
            </a:r>
          </a:p>
          <a:p>
            <a:pPr lvl="1"/>
            <a:endParaRPr lang="en-US" dirty="0">
              <a:sym typeface="Wingdings" pitchFamily="2" charset="2"/>
            </a:endParaRPr>
          </a:p>
          <a:p>
            <a:r>
              <a:rPr lang="en-US" dirty="0"/>
              <a:t>Naïve </a:t>
            </a:r>
            <a:r>
              <a:rPr lang="en-US" dirty="0" err="1"/>
              <a:t>Bayes</a:t>
            </a:r>
            <a:r>
              <a:rPr lang="en-US" dirty="0"/>
              <a:t> uses conditional independence to justify:</a:t>
            </a:r>
          </a:p>
          <a:p>
            <a:pPr lvl="1"/>
            <a:r>
              <a:rPr lang="en-US" dirty="0"/>
              <a:t>P(X,Y|Z)	= P(X,Y,Z)/P(Z) </a:t>
            </a:r>
          </a:p>
          <a:p>
            <a:pPr lvl="1">
              <a:buNone/>
            </a:pPr>
            <a:r>
              <a:rPr lang="en-US" dirty="0"/>
              <a:t>			= P(X|Y,Z)P(Y,Z)/P(Z)</a:t>
            </a:r>
          </a:p>
          <a:p>
            <a:pPr lvl="1">
              <a:buNone/>
            </a:pPr>
            <a:r>
              <a:rPr lang="en-US" dirty="0"/>
              <a:t>			= P(X|Y,Z) P(Y|Z) </a:t>
            </a:r>
          </a:p>
          <a:p>
            <a:pPr lvl="1">
              <a:buNone/>
            </a:pPr>
            <a:r>
              <a:rPr lang="en-US" dirty="0"/>
              <a:t>			= P(X|Z) P(Y|Z)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BBN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Network represents joint probability distribution over all variables</a:t>
            </a:r>
          </a:p>
          <a:p>
            <a:r>
              <a:rPr lang="en-US" sz="1800" dirty="0"/>
              <a:t>Each node is conditionally independent of its non-descendants, given its immediate predecessors. (directed acyclic graph)</a:t>
            </a:r>
          </a:p>
        </p:txBody>
      </p:sp>
      <p:sp>
        <p:nvSpPr>
          <p:cNvPr id="4" name="Oval 3"/>
          <p:cNvSpPr/>
          <p:nvPr/>
        </p:nvSpPr>
        <p:spPr>
          <a:xfrm>
            <a:off x="609600" y="2286000"/>
            <a:ext cx="14478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Storm</a:t>
            </a:r>
          </a:p>
        </p:txBody>
      </p:sp>
      <p:sp>
        <p:nvSpPr>
          <p:cNvPr id="5" name="Oval 4"/>
          <p:cNvSpPr/>
          <p:nvPr/>
        </p:nvSpPr>
        <p:spPr>
          <a:xfrm>
            <a:off x="2667000" y="2286000"/>
            <a:ext cx="14478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BusTourGroup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09600" y="3429000"/>
            <a:ext cx="14478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Lightning</a:t>
            </a:r>
          </a:p>
        </p:txBody>
      </p:sp>
      <p:sp>
        <p:nvSpPr>
          <p:cNvPr id="7" name="Oval 6"/>
          <p:cNvSpPr/>
          <p:nvPr/>
        </p:nvSpPr>
        <p:spPr>
          <a:xfrm>
            <a:off x="2667000" y="3429000"/>
            <a:ext cx="15240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Campfire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4572000"/>
            <a:ext cx="15240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Thunder</a:t>
            </a:r>
          </a:p>
        </p:txBody>
      </p:sp>
      <p:sp>
        <p:nvSpPr>
          <p:cNvPr id="9" name="Oval 8"/>
          <p:cNvSpPr/>
          <p:nvPr/>
        </p:nvSpPr>
        <p:spPr>
          <a:xfrm>
            <a:off x="2590800" y="4572000"/>
            <a:ext cx="16764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ForestFire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5" idx="4"/>
            <a:endCxn id="7" idx="0"/>
          </p:cNvCxnSpPr>
          <p:nvPr/>
        </p:nvCxnSpPr>
        <p:spPr>
          <a:xfrm rot="16200000" flipH="1">
            <a:off x="3181350" y="3181350"/>
            <a:ext cx="4572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4" idx="3"/>
            <a:endCxn id="6" idx="0"/>
          </p:cNvCxnSpPr>
          <p:nvPr/>
        </p:nvCxnSpPr>
        <p:spPr>
          <a:xfrm rot="16200000" flipH="1">
            <a:off x="798747" y="2894246"/>
            <a:ext cx="557633" cy="5118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4" idx="5"/>
            <a:endCxn id="7" idx="1"/>
          </p:cNvCxnSpPr>
          <p:nvPr/>
        </p:nvCxnSpPr>
        <p:spPr>
          <a:xfrm rot="16200000" flipH="1">
            <a:off x="2038746" y="2677994"/>
            <a:ext cx="658066" cy="10448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4"/>
            <a:endCxn id="8" idx="0"/>
          </p:cNvCxnSpPr>
          <p:nvPr/>
        </p:nvCxnSpPr>
        <p:spPr>
          <a:xfrm rot="16200000" flipH="1">
            <a:off x="1123950" y="4324350"/>
            <a:ext cx="457200" cy="38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6" idx="5"/>
            <a:endCxn id="9" idx="1"/>
          </p:cNvCxnSpPr>
          <p:nvPr/>
        </p:nvCxnSpPr>
        <p:spPr>
          <a:xfrm rot="16200000" flipH="1">
            <a:off x="2011805" y="3847935"/>
            <a:ext cx="658066" cy="99092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4" idx="4"/>
            <a:endCxn id="9" idx="0"/>
          </p:cNvCxnSpPr>
          <p:nvPr/>
        </p:nvCxnSpPr>
        <p:spPr>
          <a:xfrm rot="16200000" flipH="1">
            <a:off x="1581150" y="2724150"/>
            <a:ext cx="1600200" cy="2095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4"/>
            <a:endCxn id="9" idx="7"/>
          </p:cNvCxnSpPr>
          <p:nvPr/>
        </p:nvCxnSpPr>
        <p:spPr>
          <a:xfrm rot="16200000" flipH="1">
            <a:off x="3446532" y="4097267"/>
            <a:ext cx="557633" cy="59269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4648200" y="338328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S,~B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~S,B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~S,~B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" name="Oval 60"/>
          <p:cNvSpPr/>
          <p:nvPr/>
        </p:nvSpPr>
        <p:spPr>
          <a:xfrm>
            <a:off x="5943600" y="2590800"/>
            <a:ext cx="1524000" cy="6858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Campfire</a:t>
            </a:r>
          </a:p>
        </p:txBody>
      </p:sp>
      <p:graphicFrame>
        <p:nvGraphicFramePr>
          <p:cNvPr id="56321" name="Object 1"/>
          <p:cNvGraphicFramePr>
            <a:graphicFrameLocks noChangeAspect="1"/>
          </p:cNvGraphicFramePr>
          <p:nvPr/>
        </p:nvGraphicFramePr>
        <p:xfrm>
          <a:off x="2060575" y="5378450"/>
          <a:ext cx="6626225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name="Equation" r:id="rId4" imgW="4330440" imgH="571320" progId="Equation.DSMT4">
                  <p:embed/>
                </p:oleObj>
              </mc:Choice>
              <mc:Fallback>
                <p:oleObj name="Equation" r:id="rId4" imgW="4330440" imgH="571320" progId="Equation.DSMT4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5378450"/>
                        <a:ext cx="6626225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Inference in Bayesian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can one infer the probabilities of values of one or more network variables given observed values of others?</a:t>
            </a:r>
          </a:p>
          <a:p>
            <a:r>
              <a:rPr lang="en-US" dirty="0"/>
              <a:t>The inference can be </a:t>
            </a:r>
            <a:r>
              <a:rPr lang="en-US" dirty="0">
                <a:solidFill>
                  <a:srgbClr val="00B050"/>
                </a:solidFill>
              </a:rPr>
              <a:t>straightforward</a:t>
            </a:r>
            <a:r>
              <a:rPr lang="en-US" dirty="0"/>
              <a:t> if we can observe all the information needed for this inference.</a:t>
            </a:r>
          </a:p>
          <a:p>
            <a:r>
              <a:rPr lang="en-US" dirty="0"/>
              <a:t>If only some variables with unknown value, use </a:t>
            </a:r>
            <a:r>
              <a:rPr lang="en-US" dirty="0" err="1">
                <a:solidFill>
                  <a:srgbClr val="00B050"/>
                </a:solidFill>
              </a:rPr>
              <a:t>pdf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In the general case, inference in Bayesian networks is NP-hard problem</a:t>
            </a:r>
          </a:p>
          <a:p>
            <a:r>
              <a:rPr lang="en-US" dirty="0"/>
              <a:t>In practice exact inference methods work well for some network structures</a:t>
            </a:r>
          </a:p>
          <a:p>
            <a:r>
              <a:rPr lang="en-US" dirty="0">
                <a:solidFill>
                  <a:srgbClr val="00B050"/>
                </a:solidFill>
              </a:rPr>
              <a:t>Monte Carlo </a:t>
            </a:r>
            <a:r>
              <a:rPr lang="en-US" dirty="0"/>
              <a:t>methods simulate the network randomly to calculate approximate solutions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Bayesian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Suppose structure is known, variables are partially observable, e.g.</a:t>
            </a:r>
          </a:p>
          <a:p>
            <a:pPr lvl="1"/>
            <a:r>
              <a:rPr lang="en-US" dirty="0"/>
              <a:t>Observable: </a:t>
            </a:r>
            <a:r>
              <a:rPr lang="en-US" dirty="0" err="1"/>
              <a:t>Forestfire</a:t>
            </a:r>
            <a:r>
              <a:rPr lang="en-US" dirty="0"/>
              <a:t>, Storm, </a:t>
            </a:r>
            <a:r>
              <a:rPr lang="en-US" dirty="0" err="1"/>
              <a:t>BusTourGroup</a:t>
            </a:r>
            <a:r>
              <a:rPr lang="en-US" dirty="0"/>
              <a:t>, Thunder </a:t>
            </a:r>
          </a:p>
          <a:p>
            <a:pPr lvl="1"/>
            <a:r>
              <a:rPr lang="en-US" dirty="0"/>
              <a:t>Unobservable: Lightning, Campfire</a:t>
            </a:r>
          </a:p>
          <a:p>
            <a:r>
              <a:rPr lang="en-US" dirty="0"/>
              <a:t>Similar to train </a:t>
            </a:r>
            <a:r>
              <a:rPr lang="en-US" dirty="0">
                <a:solidFill>
                  <a:srgbClr val="00B050"/>
                </a:solidFill>
              </a:rPr>
              <a:t>neural network with hidden units</a:t>
            </a:r>
          </a:p>
          <a:p>
            <a:r>
              <a:rPr lang="en-US" dirty="0"/>
              <a:t>Learn conditional probability tables using </a:t>
            </a:r>
            <a:r>
              <a:rPr lang="en-US" dirty="0">
                <a:solidFill>
                  <a:srgbClr val="00B0F0"/>
                </a:solidFill>
              </a:rPr>
              <a:t>gradient ascent</a:t>
            </a:r>
          </a:p>
          <a:p>
            <a:r>
              <a:rPr lang="en-US" dirty="0"/>
              <a:t>Converge to network h that (locally) maximizes P(</a:t>
            </a:r>
            <a:r>
              <a:rPr lang="en-US" dirty="0" err="1"/>
              <a:t>D|h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Ascent Training of BBN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</a:t>
            </a:r>
          </a:p>
          <a:p>
            <a:pPr lvl="1"/>
            <a:r>
              <a:rPr lang="en-US" dirty="0"/>
              <a:t>D = Training data</a:t>
            </a:r>
          </a:p>
          <a:p>
            <a:pPr lvl="1"/>
            <a:r>
              <a:rPr lang="en-US" dirty="0"/>
              <a:t>Y = Network variable</a:t>
            </a:r>
          </a:p>
          <a:p>
            <a:pPr lvl="1"/>
            <a:r>
              <a:rPr lang="en-US" dirty="0"/>
              <a:t>U = Y’s immediate parents</a:t>
            </a:r>
          </a:p>
          <a:p>
            <a:pPr lvl="1"/>
            <a:r>
              <a:rPr lang="en-US" dirty="0"/>
              <a:t>e.g.  y = T, u = &lt;F,F&gt;</a:t>
            </a:r>
          </a:p>
          <a:p>
            <a:r>
              <a:rPr lang="en-US" dirty="0"/>
              <a:t>Maximum likelihood</a:t>
            </a:r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914401" y="3962401"/>
          <a:ext cx="2895600" cy="631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3" name="Equation" r:id="rId4" imgW="1396800" imgH="304560" progId="Equation.DSMT4">
                  <p:embed/>
                </p:oleObj>
              </mc:Choice>
              <mc:Fallback>
                <p:oleObj name="Equation" r:id="rId4" imgW="1396800" imgH="3045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1" y="3962401"/>
                        <a:ext cx="2895600" cy="6318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Oval 4"/>
          <p:cNvSpPr/>
          <p:nvPr/>
        </p:nvSpPr>
        <p:spPr>
          <a:xfrm>
            <a:off x="5105400" y="1524000"/>
            <a:ext cx="14478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Storm</a:t>
            </a:r>
          </a:p>
        </p:txBody>
      </p:sp>
      <p:sp>
        <p:nvSpPr>
          <p:cNvPr id="6" name="Oval 5"/>
          <p:cNvSpPr/>
          <p:nvPr/>
        </p:nvSpPr>
        <p:spPr>
          <a:xfrm>
            <a:off x="7010400" y="1524000"/>
            <a:ext cx="1447800" cy="6858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BusTourGroup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6" idx="4"/>
            <a:endCxn id="19" idx="7"/>
          </p:cNvCxnSpPr>
          <p:nvPr/>
        </p:nvCxnSpPr>
        <p:spPr>
          <a:xfrm rot="5400000">
            <a:off x="7324842" y="2205574"/>
            <a:ext cx="405233" cy="41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4"/>
            <a:endCxn id="19" idx="1"/>
          </p:cNvCxnSpPr>
          <p:nvPr/>
        </p:nvCxnSpPr>
        <p:spPr>
          <a:xfrm rot="16200000" flipH="1">
            <a:off x="5833526" y="2205573"/>
            <a:ext cx="405233" cy="4136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24400" y="3581400"/>
          <a:ext cx="41148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S,~B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~S,B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~S,~B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val 18"/>
          <p:cNvSpPr/>
          <p:nvPr/>
        </p:nvSpPr>
        <p:spPr>
          <a:xfrm>
            <a:off x="6019800" y="2514600"/>
            <a:ext cx="1524000" cy="68580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Campfire</a:t>
            </a:r>
          </a:p>
        </p:txBody>
      </p:sp>
      <p:cxnSp>
        <p:nvCxnSpPr>
          <p:cNvPr id="31" name="Curved Connector 30"/>
          <p:cNvCxnSpPr>
            <a:endCxn id="19" idx="2"/>
          </p:cNvCxnSpPr>
          <p:nvPr/>
        </p:nvCxnSpPr>
        <p:spPr>
          <a:xfrm>
            <a:off x="3810000" y="2362200"/>
            <a:ext cx="2209800" cy="4953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Shape 34"/>
          <p:cNvCxnSpPr>
            <a:endCxn id="5" idx="2"/>
          </p:cNvCxnSpPr>
          <p:nvPr/>
        </p:nvCxnSpPr>
        <p:spPr>
          <a:xfrm flipV="1">
            <a:off x="4191000" y="1866900"/>
            <a:ext cx="914400" cy="876302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hape 36"/>
          <p:cNvCxnSpPr>
            <a:endCxn id="6" idx="2"/>
          </p:cNvCxnSpPr>
          <p:nvPr/>
        </p:nvCxnSpPr>
        <p:spPr>
          <a:xfrm flipV="1">
            <a:off x="4191000" y="1866900"/>
            <a:ext cx="2819400" cy="876301"/>
          </a:xfrm>
          <a:prstGeom prst="curvedConnector3">
            <a:avLst>
              <a:gd name="adj1" fmla="val 82770"/>
            </a:avLst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aphicFrame>
        <p:nvGraphicFramePr>
          <p:cNvPr id="58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884284"/>
              </p:ext>
            </p:extLst>
          </p:nvPr>
        </p:nvGraphicFramePr>
        <p:xfrm>
          <a:off x="561975" y="5181600"/>
          <a:ext cx="5465763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name="Equation" r:id="rId6" imgW="2489040" imgH="469800" progId="Equation.DSMT4">
                  <p:embed/>
                </p:oleObj>
              </mc:Choice>
              <mc:Fallback>
                <p:oleObj name="Equation" r:id="rId6" imgW="2489040" imgH="469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5181600"/>
                        <a:ext cx="5465763" cy="1031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Down Arrow 46"/>
          <p:cNvSpPr/>
          <p:nvPr/>
        </p:nvSpPr>
        <p:spPr>
          <a:xfrm>
            <a:off x="2133600" y="4724400"/>
            <a:ext cx="381000" cy="45720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6477000" y="5105400"/>
          <a:ext cx="2133600" cy="494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name="Equation" r:id="rId8" imgW="1041120" imgH="241200" progId="Equation.DSMT4">
                  <p:embed/>
                </p:oleObj>
              </mc:Choice>
              <mc:Fallback>
                <p:oleObj name="Equation" r:id="rId8" imgW="104112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105400"/>
                        <a:ext cx="2133600" cy="4945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Curved Connector 49"/>
          <p:cNvCxnSpPr/>
          <p:nvPr/>
        </p:nvCxnSpPr>
        <p:spPr>
          <a:xfrm rot="16200000" flipV="1">
            <a:off x="5867400" y="4419600"/>
            <a:ext cx="914400" cy="6096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Derive: Gradient Ascent Training of BBN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ML:</a:t>
            </a:r>
          </a:p>
        </p:txBody>
      </p:sp>
      <p:graphicFrame>
        <p:nvGraphicFramePr>
          <p:cNvPr id="59394" name="Object 2"/>
          <p:cNvGraphicFramePr>
            <a:graphicFrameLocks noChangeAspect="1"/>
          </p:cNvGraphicFramePr>
          <p:nvPr/>
        </p:nvGraphicFramePr>
        <p:xfrm>
          <a:off x="1828800" y="1286690"/>
          <a:ext cx="5334000" cy="4961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8" name="Equation" r:id="rId4" imgW="4063680" imgH="3784320" progId="Equation.DSMT4">
                  <p:embed/>
                </p:oleObj>
              </mc:Choice>
              <mc:Fallback>
                <p:oleObj name="Equation" r:id="rId4" imgW="4063680" imgH="37843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86690"/>
                        <a:ext cx="5334000" cy="49617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BBN: Training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       denote one entry in the conditional probability table for variable     in the network</a:t>
            </a:r>
          </a:p>
          <a:p>
            <a:endParaRPr lang="en-US" dirty="0"/>
          </a:p>
          <a:p>
            <a:r>
              <a:rPr lang="en-US" dirty="0"/>
              <a:t>Perform gradient ascent on              by repeatedly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Update all     using training data D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Renormalize the      to assure</a:t>
            </a: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/>
        </p:nvGraphicFramePr>
        <p:xfrm>
          <a:off x="1371600" y="12192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6" name="Equation" r:id="rId4" imgW="241200" imgH="241200" progId="Equation.DSMT4">
                  <p:embed/>
                </p:oleObj>
              </mc:Choice>
              <mc:Fallback>
                <p:oleObj name="Equation" r:id="rId4" imgW="241200" imgH="241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192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9" name="Object 3"/>
          <p:cNvGraphicFramePr>
            <a:graphicFrameLocks noChangeAspect="1"/>
          </p:cNvGraphicFramePr>
          <p:nvPr/>
        </p:nvGraphicFramePr>
        <p:xfrm>
          <a:off x="2400300" y="30861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7" name="Equation" r:id="rId6" imgW="241200" imgH="241200" progId="Equation.DSMT4">
                  <p:embed/>
                </p:oleObj>
              </mc:Choice>
              <mc:Fallback>
                <p:oleObj name="Equation" r:id="rId6" imgW="24120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0861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2667000" y="3733800"/>
          <a:ext cx="39100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8" name="Equation" r:id="rId7" imgW="1904760" imgH="469800" progId="Equation.DSMT4">
                  <p:embed/>
                </p:oleObj>
              </mc:Choice>
              <mc:Fallback>
                <p:oleObj name="Equation" r:id="rId7" imgW="1904760" imgH="469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733800"/>
                        <a:ext cx="3910012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1" name="Object 5"/>
          <p:cNvGraphicFramePr>
            <a:graphicFrameLocks noChangeAspect="1"/>
          </p:cNvGraphicFramePr>
          <p:nvPr/>
        </p:nvGraphicFramePr>
        <p:xfrm>
          <a:off x="3314700" y="4953000"/>
          <a:ext cx="495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19" name="Equation" r:id="rId9" imgW="241200" imgH="241200" progId="Equation.DSMT4">
                  <p:embed/>
                </p:oleObj>
              </mc:Choice>
              <mc:Fallback>
                <p:oleObj name="Equation" r:id="rId9" imgW="24120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4953000"/>
                        <a:ext cx="49530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3124200" y="1665287"/>
          <a:ext cx="2857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0" name="Equation" r:id="rId10" imgW="139680" imgH="228600" progId="Equation.DSMT4">
                  <p:embed/>
                </p:oleObj>
              </mc:Choice>
              <mc:Fallback>
                <p:oleObj name="Equation" r:id="rId10" imgW="139680" imgH="2286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65287"/>
                        <a:ext cx="285750" cy="46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7"/>
          <p:cNvGraphicFramePr>
            <a:graphicFrameLocks noChangeAspect="1"/>
          </p:cNvGraphicFramePr>
          <p:nvPr/>
        </p:nvGraphicFramePr>
        <p:xfrm>
          <a:off x="4572000" y="2630487"/>
          <a:ext cx="10953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1" name="Equation" r:id="rId12" imgW="533160" imgH="203040" progId="Equation.DSMT4">
                  <p:embed/>
                </p:oleObj>
              </mc:Choice>
              <mc:Fallback>
                <p:oleObj name="Equation" r:id="rId12" imgW="53316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630487"/>
                        <a:ext cx="1095375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4" name="Object 8"/>
          <p:cNvGraphicFramePr>
            <a:graphicFrameLocks noChangeAspect="1"/>
          </p:cNvGraphicFramePr>
          <p:nvPr/>
        </p:nvGraphicFramePr>
        <p:xfrm>
          <a:off x="5181600" y="4724400"/>
          <a:ext cx="130333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2" name="Equation" r:id="rId14" imgW="634680" imgH="444240" progId="Equation.DSMT4">
                  <p:embed/>
                </p:oleObj>
              </mc:Choice>
              <mc:Fallback>
                <p:oleObj name="Equation" r:id="rId14" imgW="634680" imgH="4442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724400"/>
                        <a:ext cx="1303338" cy="912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Bayesian Learning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Bayesian Learning&amp;quot;&quot;/&gt;&lt;property id=&quot;20307&quot; value=&quot;257&quot;/&gt;&lt;/object&gt;&lt;object type=&quot;3&quot; unique_id=&quot;10006&quot;&gt;&lt;property id=&quot;20148&quot; value=&quot;5&quot;/&gt;&lt;property id=&quot;20300&quot; value=&quot;Slide 3 - &amp;quot;Probability&amp;quot;&quot;/&gt;&lt;property id=&quot;20307&quot; value=&quot;259&quot;/&gt;&lt;/object&gt;&lt;object type=&quot;3&quot; unique_id=&quot;10007&quot;&gt;&lt;property id=&quot;20148&quot; value=&quot;5&quot;/&gt;&lt;property id=&quot;20300&quot; value=&quot;Slide 4 - &amp;quot;Conditional Probability &amp;quot;&quot;/&gt;&lt;property id=&quot;20307&quot; value=&quot;260&quot;/&gt;&lt;/object&gt;&lt;object type=&quot;3&quot; unique_id=&quot;10008&quot;&gt;&lt;property id=&quot;20148&quot; value=&quot;5&quot;/&gt;&lt;property id=&quot;20300&quot; value=&quot;Slide 5 - &amp;quot;Independence&amp;quot;&quot;/&gt;&lt;property id=&quot;20307&quot; value=&quot;261&quot;/&gt;&lt;/object&gt;&lt;object type=&quot;3&quot; unique_id=&quot;10009&quot;&gt;&lt;property id=&quot;20148&quot; value=&quot;5&quot;/&gt;&lt;property id=&quot;20300&quot; value=&quot;Slide 6 - &amp;quot;Example&amp;quot;&quot;/&gt;&lt;property id=&quot;20307&quot; value=&quot;268&quot;/&gt;&lt;/object&gt;&lt;object type=&quot;3&quot; unique_id=&quot;10010&quot;&gt;&lt;property id=&quot;20148&quot; value=&quot;5&quot;/&gt;&lt;property id=&quot;20300&quot; value=&quot;Slide 7 - &amp;quot;Example&amp;quot;&quot;/&gt;&lt;property id=&quot;20307&quot; value=&quot;262&quot;/&gt;&lt;/object&gt;&lt;object type=&quot;3&quot; unique_id=&quot;10011&quot;&gt;&lt;property id=&quot;20148&quot; value=&quot;5&quot;/&gt;&lt;property id=&quot;20300&quot; value=&quot;Slide 8 - &amp;quot;Bayes Theorem&amp;quot;&quot;/&gt;&lt;property id=&quot;20307&quot; value=&quot;269&quot;/&gt;&lt;/object&gt;&lt;object type=&quot;3&quot; unique_id=&quot;10012&quot;&gt;&lt;property id=&quot;20148&quot; value=&quot;5&quot;/&gt;&lt;property id=&quot;20300&quot; value=&quot;Slide 9 - &amp;quot;How to choose hypotheses?&amp;quot;&quot;/&gt;&lt;property id=&quot;20307&quot; value=&quot;270&quot;/&gt;&lt;/object&gt;&lt;object type=&quot;3&quot; unique_id=&quot;10057&quot;&gt;&lt;property id=&quot;20148&quot; value=&quot;5&quot;/&gt;&lt;property id=&quot;20300&quot; value=&quot;Slide 11 - &amp;quot;Example&amp;quot;&quot;/&gt;&lt;property id=&quot;20307&quot; value=&quot;271&quot;/&gt;&lt;/object&gt;&lt;object type=&quot;3&quot; unique_id=&quot;10154&quot;&gt;&lt;property id=&quot;20148&quot; value=&quot;5&quot;/&gt;&lt;property id=&quot;20300&quot; value=&quot;Slide 12 - &amp;quot;Brute-Force MAP Learning Algorithm&amp;quot;&quot;/&gt;&lt;property id=&quot;20307&quot; value=&quot;272&quot;/&gt;&lt;/object&gt;&lt;object type=&quot;3&quot; unique_id=&quot;10155&quot;&gt;&lt;property id=&quot;20148&quot; value=&quot;5&quot;/&gt;&lt;property id=&quot;20300&quot; value=&quot;Slide 13 - &amp;quot;Evolution of Posterior Probabilities&amp;quot;&quot;/&gt;&lt;property id=&quot;20307&quot; value=&quot;273&quot;/&gt;&lt;/object&gt;&lt;object type=&quot;3&quot; unique_id=&quot;10156&quot;&gt;&lt;property id=&quot;20148&quot; value=&quot;5&quot;/&gt;&lt;property id=&quot;20300&quot; value=&quot;Slide 14 - &amp;quot;Learning a Real Valued Function&amp;quot;&quot;/&gt;&lt;property id=&quot;20307&quot; value=&quot;274&quot;/&gt;&lt;/object&gt;&lt;object type=&quot;3&quot; unique_id=&quot;10157&quot;&gt;&lt;property id=&quot;20148&quot; value=&quot;5&quot;/&gt;&lt;property id=&quot;20300&quot; value=&quot;Slide 15 - &amp;quot;Learning a Real Valued Function&amp;quot;&quot;/&gt;&lt;property id=&quot;20307&quot; value=&quot;275&quot;/&gt;&lt;/object&gt;&lt;object type=&quot;3&quot; unique_id=&quot;10222&quot;&gt;&lt;property id=&quot;20148&quot; value=&quot;5&quot;/&gt;&lt;property id=&quot;20300&quot; value=&quot;Slide 10 - &amp;quot;Example&amp;quot;&quot;/&gt;&lt;property id=&quot;20307&quot; value=&quot;276&quot;/&gt;&lt;/object&gt;&lt;object type=&quot;3&quot; unique_id=&quot;10223&quot;&gt;&lt;property id=&quot;20148&quot; value=&quot;5&quot;/&gt;&lt;property id=&quot;20300&quot; value=&quot;Slide 16 - &amp;quot;Most Probable Classification&amp;quot;&quot;/&gt;&lt;property id=&quot;20307&quot; value=&quot;277&quot;/&gt;&lt;/object&gt;&lt;object type=&quot;3&quot; unique_id=&quot;10224&quot;&gt;&lt;property id=&quot;20148&quot; value=&quot;5&quot;/&gt;&lt;property id=&quot;20300&quot; value=&quot;Slide 17 - &amp;quot;Bayes Optimal Classifier&amp;quot;&quot;/&gt;&lt;property id=&quot;20307&quot; value=&quot;278&quot;/&gt;&lt;/object&gt;&lt;object type=&quot;3&quot; unique_id=&quot;10225&quot;&gt;&lt;property id=&quot;20148&quot; value=&quot;5&quot;/&gt;&lt;property id=&quot;20300&quot; value=&quot;Slide 18 - &amp;quot;MAP vs ML vs Bayes Opimal Classifier&amp;quot;&quot;/&gt;&lt;property id=&quot;20307&quot; value=&quot;279&quot;/&gt;&lt;/object&gt;&lt;object type=&quot;3&quot; unique_id=&quot;10306&quot;&gt;&lt;property id=&quot;20148&quot; value=&quot;5&quot;/&gt;&lt;property id=&quot;20300&quot; value=&quot;Slide 19 - &amp;quot;Practical Bayesian Learning&amp;quot;&quot;/&gt;&lt;property id=&quot;20307&quot; value=&quot;280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0561BE-C06F-465F-8DD0-583920581668}"/>
</file>

<file path=customXml/itemProps2.xml><?xml version="1.0" encoding="utf-8"?>
<ds:datastoreItem xmlns:ds="http://schemas.openxmlformats.org/officeDocument/2006/customXml" ds:itemID="{894DA9F8-C050-4F01-8013-655D1909FA61}"/>
</file>

<file path=customXml/itemProps3.xml><?xml version="1.0" encoding="utf-8"?>
<ds:datastoreItem xmlns:ds="http://schemas.openxmlformats.org/officeDocument/2006/customXml" ds:itemID="{7A2269B8-8929-48F6-893E-31E3CB4DB85F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1563</TotalTime>
  <Words>2149</Words>
  <Application>Microsoft Office PowerPoint</Application>
  <PresentationFormat>On-screen Show (4:3)</PresentationFormat>
  <Paragraphs>417</Paragraphs>
  <Slides>37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Bookman Old Style</vt:lpstr>
      <vt:lpstr>Browallia New</vt:lpstr>
      <vt:lpstr>Calibri</vt:lpstr>
      <vt:lpstr>Cordia New</vt:lpstr>
      <vt:lpstr>Gill Sans MT</vt:lpstr>
      <vt:lpstr>Times New Roman</vt:lpstr>
      <vt:lpstr>Wingdings</vt:lpstr>
      <vt:lpstr>Wingdings 3</vt:lpstr>
      <vt:lpstr>Origin</vt:lpstr>
      <vt:lpstr>Equation</vt:lpstr>
      <vt:lpstr>Bayesian Learning</vt:lpstr>
      <vt:lpstr>Bayesian Learning</vt:lpstr>
      <vt:lpstr>Probability</vt:lpstr>
      <vt:lpstr>Conditional Probability </vt:lpstr>
      <vt:lpstr>Independence</vt:lpstr>
      <vt:lpstr>Conditional Probability</vt:lpstr>
      <vt:lpstr>Example</vt:lpstr>
      <vt:lpstr>Example</vt:lpstr>
      <vt:lpstr>Bayes Theorem</vt:lpstr>
      <vt:lpstr>How to choose hypotheses?</vt:lpstr>
      <vt:lpstr>Example</vt:lpstr>
      <vt:lpstr>Example</vt:lpstr>
      <vt:lpstr>Brute-Force MAP Learning Algorithm</vt:lpstr>
      <vt:lpstr>Evolution of Posterior Probabilities</vt:lpstr>
      <vt:lpstr>Learning a Real Valued Function</vt:lpstr>
      <vt:lpstr>Learning a Real Valued Function</vt:lpstr>
      <vt:lpstr>Most Probable Classification</vt:lpstr>
      <vt:lpstr>Bayes Optimal Classifier</vt:lpstr>
      <vt:lpstr>MAP vs ML vs Bayes Opimal Classifier</vt:lpstr>
      <vt:lpstr>Practical Bayesian Learning</vt:lpstr>
      <vt:lpstr>What is the problem?</vt:lpstr>
      <vt:lpstr>Naïve Bayes Classifier</vt:lpstr>
      <vt:lpstr>Naïve Bayes Classifier</vt:lpstr>
      <vt:lpstr>Naïve Bayes Learning Algorithm</vt:lpstr>
      <vt:lpstr>Naïve Bayes Example</vt:lpstr>
      <vt:lpstr>M-estimate of probability</vt:lpstr>
      <vt:lpstr>Naïve Bayes: Text categorization</vt:lpstr>
      <vt:lpstr>Naïve Bayes: Text categorization</vt:lpstr>
      <vt:lpstr>Naïve Bayes: Text categorization</vt:lpstr>
      <vt:lpstr>Bayesian Belief Networks</vt:lpstr>
      <vt:lpstr>Conditional Independence</vt:lpstr>
      <vt:lpstr>Example: BBN</vt:lpstr>
      <vt:lpstr>Inference in Bayesian Networks</vt:lpstr>
      <vt:lpstr>Learning Bayesian Networks</vt:lpstr>
      <vt:lpstr>Gradient Ascent Training of BBN</vt:lpstr>
      <vt:lpstr>Derive: Gradient Ascent Training of BBN</vt:lpstr>
      <vt:lpstr>BBN: Training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Learning</dc:title>
  <dc:creator>TON</dc:creator>
  <cp:lastModifiedBy>Parinya Sanguansat</cp:lastModifiedBy>
  <cp:revision>110</cp:revision>
  <dcterms:created xsi:type="dcterms:W3CDTF">2006-08-16T00:00:00Z</dcterms:created>
  <dcterms:modified xsi:type="dcterms:W3CDTF">2020-02-03T05:00:05Z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
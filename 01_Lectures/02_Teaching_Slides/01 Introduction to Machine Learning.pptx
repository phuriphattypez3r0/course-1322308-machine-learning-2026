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95" r:id="rId3"/>
    <p:sldId id="296" r:id="rId4"/>
    <p:sldId id="297" r:id="rId5"/>
    <p:sldId id="262" r:id="rId6"/>
    <p:sldId id="263" r:id="rId7"/>
    <p:sldId id="264" r:id="rId8"/>
    <p:sldId id="265" r:id="rId9"/>
    <p:sldId id="259" r:id="rId10"/>
    <p:sldId id="261" r:id="rId11"/>
    <p:sldId id="258" r:id="rId12"/>
    <p:sldId id="260" r:id="rId13"/>
    <p:sldId id="266" r:id="rId14"/>
    <p:sldId id="267" r:id="rId15"/>
    <p:sldId id="269" r:id="rId16"/>
    <p:sldId id="268" r:id="rId17"/>
    <p:sldId id="270" r:id="rId18"/>
    <p:sldId id="271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73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8" r:id="rId35"/>
    <p:sldId id="298" r:id="rId36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inya Sanguansat" userId="11a743d2bd6e3ec9" providerId="LiveId" clId="{61541268-CC93-4B27-9017-0CF94D0A45BB}"/>
    <pc:docChg chg="modSld">
      <pc:chgData name="Parinya Sanguansat" userId="11a743d2bd6e3ec9" providerId="LiveId" clId="{61541268-CC93-4B27-9017-0CF94D0A45BB}" dt="2025-12-08T07:07:25.532" v="6" actId="27918"/>
      <pc:docMkLst>
        <pc:docMk/>
      </pc:docMkLst>
      <pc:sldChg chg="mod">
        <pc:chgData name="Parinya Sanguansat" userId="11a743d2bd6e3ec9" providerId="LiveId" clId="{61541268-CC93-4B27-9017-0CF94D0A45BB}" dt="2025-12-08T07:07:25.532" v="6" actId="27918"/>
        <pc:sldMkLst>
          <pc:docMk/>
          <pc:sldMk cId="2526989654" sldId="29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Classwork</c:v>
                </c:pt>
                <c:pt idx="1">
                  <c:v>Project</c:v>
                </c:pt>
                <c:pt idx="2">
                  <c:v>Final</c:v>
                </c:pt>
                <c:pt idx="3">
                  <c:v>Attn</c:v>
                </c:pt>
                <c:pt idx="4">
                  <c:v>Exam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10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2-4629-A788-21B40DA4450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th-TH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C3E86-B13B-4D06-AB51-00530575232E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64380-F2BD-4DFD-9C5C-15DCE31158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1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3A488F-C2A3-4C48-9ECB-1E49CE187C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93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89D6166-CF63-4449-B980-35C7CC6704D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6482CAE-7E11-4017-904A-94AF62391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parinyasan@pim.ac.t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Parinya</a:t>
            </a:r>
            <a:r>
              <a:rPr lang="en-US" dirty="0"/>
              <a:t> </a:t>
            </a:r>
            <a:r>
              <a:rPr lang="en-US" dirty="0" err="1"/>
              <a:t>Sanguansat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details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Subject: Machine Learning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Lecturer: Assoc. Prof. </a:t>
            </a:r>
            <a:r>
              <a:rPr lang="en-US" dirty="0" err="1"/>
              <a:t>Parinya</a:t>
            </a:r>
            <a:r>
              <a:rPr lang="en-US" dirty="0"/>
              <a:t> </a:t>
            </a:r>
            <a:r>
              <a:rPr lang="en-US" dirty="0" err="1"/>
              <a:t>Sanguansat</a:t>
            </a:r>
            <a:r>
              <a:rPr lang="en-US" dirty="0"/>
              <a:t>, Ph.D.</a:t>
            </a:r>
          </a:p>
          <a:p>
            <a:pPr lvl="1"/>
            <a:r>
              <a:rPr lang="en-US" dirty="0"/>
              <a:t>Email: </a:t>
            </a:r>
            <a:r>
              <a:rPr lang="en-US" dirty="0">
                <a:hlinkClick r:id="rId2"/>
              </a:rPr>
              <a:t>parinyasan@pim.ac.th</a:t>
            </a:r>
            <a:endParaRPr lang="en-US" dirty="0"/>
          </a:p>
          <a:p>
            <a:endParaRPr lang="en-US" dirty="0"/>
          </a:p>
          <a:p>
            <a:r>
              <a:rPr lang="en-US" dirty="0"/>
              <a:t>Material:</a:t>
            </a:r>
          </a:p>
          <a:p>
            <a:pPr lvl="1"/>
            <a:r>
              <a:rPr lang="en-US" dirty="0"/>
              <a:t>Python</a:t>
            </a:r>
          </a:p>
          <a:p>
            <a:pPr marL="274320" lvl="1" indent="0">
              <a:buNone/>
            </a:pPr>
            <a:endParaRPr lang="en-US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4362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</a:t>
            </a:r>
            <a:endParaRPr lang="th-TH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75377654"/>
              </p:ext>
            </p:extLst>
          </p:nvPr>
        </p:nvGraphicFramePr>
        <p:xfrm>
          <a:off x="457200" y="1219200"/>
          <a:ext cx="8229600" cy="493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2698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Books</a:t>
            </a:r>
            <a:endParaRPr lang="th-TH" dirty="0"/>
          </a:p>
        </p:txBody>
      </p:sp>
      <p:pic>
        <p:nvPicPr>
          <p:cNvPr id="3" name="Picture 2" descr="Image result for machine learning ปริญญา">
            <a:extLst>
              <a:ext uri="{FF2B5EF4-FFF2-40B4-BE49-F238E27FC236}">
                <a16:creationId xmlns:a16="http://schemas.microsoft.com/office/drawing/2014/main" id="{7606BCB1-3028-4455-AC43-6EA41E21B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98" y="1600200"/>
            <a:ext cx="2836002" cy="394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mage result for machine learning ปริญญา">
            <a:extLst>
              <a:ext uri="{FF2B5EF4-FFF2-40B4-BE49-F238E27FC236}">
                <a16:creationId xmlns:a16="http://schemas.microsoft.com/office/drawing/2014/main" id="{94B8D337-F60F-428A-9C2B-5FE35FB0E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231" y="1594338"/>
            <a:ext cx="304800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729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Informal definition:  </a:t>
            </a:r>
            <a:r>
              <a:rPr lang="en-US" dirty="0"/>
              <a:t>Any computer program that improves its performance at some task through experience and/or data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>
                <a:solidFill>
                  <a:srgbClr val="00B0F0"/>
                </a:solidFill>
              </a:rPr>
              <a:t>Formal Definition</a:t>
            </a:r>
            <a:r>
              <a:rPr lang="en-US" dirty="0"/>
              <a:t>:  A computer program is said to learn from experience E with respect to some class of tasks T and performance measure P, if its performance at tasks in T, as measured by P, improves with experience 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Easier for us</a:t>
            </a:r>
          </a:p>
          <a:p>
            <a:pPr lvl="1"/>
            <a:r>
              <a:rPr lang="en-US" dirty="0"/>
              <a:t>Program one learning algorithm &amp; let computer do all the work</a:t>
            </a:r>
          </a:p>
          <a:p>
            <a:pPr lvl="1"/>
            <a:r>
              <a:rPr lang="en-US" dirty="0"/>
              <a:t>Means we don’t have to know about the problem since algorithm can learn the relevant detail</a:t>
            </a:r>
          </a:p>
          <a:p>
            <a:pPr lvl="1"/>
            <a:endParaRPr lang="en-US" dirty="0"/>
          </a:p>
          <a:p>
            <a:r>
              <a:rPr lang="en-US" dirty="0"/>
              <a:t>Better Performance</a:t>
            </a:r>
          </a:p>
          <a:p>
            <a:pPr lvl="1"/>
            <a:r>
              <a:rPr lang="en-US" dirty="0"/>
              <a:t>We have biases which affect our judgment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we don’t know much about the problem</a:t>
            </a:r>
          </a:p>
          <a:p>
            <a:r>
              <a:rPr lang="en-US" dirty="0"/>
              <a:t>When we have a lot of empirical data</a:t>
            </a:r>
          </a:p>
          <a:p>
            <a:r>
              <a:rPr lang="en-US" dirty="0"/>
              <a:t>When we are lazy!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Machine perception</a:t>
            </a:r>
          </a:p>
          <a:p>
            <a:r>
              <a:rPr lang="en-US" dirty="0"/>
              <a:t>Computer vision</a:t>
            </a:r>
          </a:p>
          <a:p>
            <a:r>
              <a:rPr lang="en-US" dirty="0"/>
              <a:t>Natural language processing</a:t>
            </a:r>
          </a:p>
          <a:p>
            <a:r>
              <a:rPr lang="en-US" dirty="0"/>
              <a:t>Syntactic pattern recognition</a:t>
            </a:r>
          </a:p>
          <a:p>
            <a:r>
              <a:rPr lang="en-US" dirty="0"/>
              <a:t>Search engines</a:t>
            </a:r>
          </a:p>
          <a:p>
            <a:r>
              <a:rPr lang="en-US" dirty="0"/>
              <a:t>Medical diagnosis</a:t>
            </a:r>
          </a:p>
          <a:p>
            <a:r>
              <a:rPr lang="en-US" dirty="0"/>
              <a:t>Bioinformatics</a:t>
            </a:r>
          </a:p>
          <a:p>
            <a:r>
              <a:rPr lang="en-US" dirty="0"/>
              <a:t>Brain-machine interfaces and </a:t>
            </a:r>
            <a:r>
              <a:rPr lang="en-US" dirty="0" err="1"/>
              <a:t>cheminformatics</a:t>
            </a:r>
            <a:endParaRPr lang="en-US" dirty="0"/>
          </a:p>
          <a:p>
            <a:r>
              <a:rPr lang="en-US" dirty="0"/>
              <a:t>Detecting credit card fraud</a:t>
            </a:r>
          </a:p>
          <a:p>
            <a:r>
              <a:rPr lang="en-US" dirty="0"/>
              <a:t>Stock market analysis</a:t>
            </a:r>
          </a:p>
          <a:p>
            <a:r>
              <a:rPr lang="en-US" dirty="0"/>
              <a:t>Classifying DNA sequences</a:t>
            </a:r>
          </a:p>
          <a:p>
            <a:r>
              <a:rPr lang="en-US" dirty="0"/>
              <a:t>Speech and handwriting recognition</a:t>
            </a:r>
          </a:p>
          <a:p>
            <a:r>
              <a:rPr lang="en-US" dirty="0"/>
              <a:t>Object recognition in computer vision</a:t>
            </a:r>
          </a:p>
          <a:p>
            <a:r>
              <a:rPr lang="en-US" dirty="0"/>
              <a:t>Game playing</a:t>
            </a:r>
          </a:p>
          <a:p>
            <a:r>
              <a:rPr lang="en-US" dirty="0"/>
              <a:t>Software engineering and robot locomotion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 Posed Learning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Learning:</a:t>
            </a:r>
          </a:p>
          <a:p>
            <a:pPr lvl="1"/>
            <a:r>
              <a:rPr lang="en-US" dirty="0"/>
              <a:t>improving with experience at some task</a:t>
            </a:r>
          </a:p>
          <a:p>
            <a:pPr lvl="1"/>
            <a:endParaRPr lang="en-US" dirty="0"/>
          </a:p>
          <a:p>
            <a:r>
              <a:rPr lang="en-US" dirty="0"/>
              <a:t>Improve over task T</a:t>
            </a:r>
          </a:p>
          <a:p>
            <a:r>
              <a:rPr lang="en-US" dirty="0"/>
              <a:t>With respect to performance measure P</a:t>
            </a:r>
          </a:p>
          <a:p>
            <a:r>
              <a:rPr lang="en-US" dirty="0"/>
              <a:t>Based on experience 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 Posed Learning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handwriting recognition learning problem</a:t>
            </a:r>
          </a:p>
          <a:p>
            <a:pPr lvl="1"/>
            <a:r>
              <a:rPr lang="en-US" dirty="0"/>
              <a:t>T: recognizing and classifying handwritten words within images</a:t>
            </a:r>
          </a:p>
          <a:p>
            <a:pPr lvl="1"/>
            <a:r>
              <a:rPr lang="en-US" dirty="0"/>
              <a:t>P: percent of words correctly classified</a:t>
            </a:r>
          </a:p>
          <a:p>
            <a:pPr lvl="1"/>
            <a:r>
              <a:rPr lang="en-US" dirty="0"/>
              <a:t>E: a database of handwritten words with given classifications</a:t>
            </a:r>
          </a:p>
          <a:p>
            <a:pPr lvl="1"/>
            <a:endParaRPr lang="en-US" dirty="0"/>
          </a:p>
          <a:p>
            <a:r>
              <a:rPr lang="en-US" dirty="0"/>
              <a:t>A robot driving learning problem</a:t>
            </a:r>
          </a:p>
          <a:p>
            <a:pPr lvl="1"/>
            <a:r>
              <a:rPr lang="en-US" dirty="0"/>
              <a:t>T: driving on public motorways using vision sensors</a:t>
            </a:r>
          </a:p>
          <a:p>
            <a:pPr lvl="1"/>
            <a:r>
              <a:rPr lang="en-US" dirty="0"/>
              <a:t>P: average distance travelled before an error (as judged by human overseer)</a:t>
            </a:r>
          </a:p>
          <a:p>
            <a:pPr lvl="1"/>
            <a:r>
              <a:rPr lang="en-US" dirty="0"/>
              <a:t>E: a sequence of images and steering commands recorded while observing a human driver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to play checkers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Learning to Play Checkers</a:t>
            </a:r>
          </a:p>
          <a:p>
            <a:pPr lvl="1"/>
            <a:r>
              <a:rPr lang="en-US" dirty="0"/>
              <a:t>T: play games of checkers</a:t>
            </a:r>
          </a:p>
          <a:p>
            <a:pPr lvl="1"/>
            <a:r>
              <a:rPr lang="en-US" dirty="0"/>
              <a:t>P: percent of games won in world tournament</a:t>
            </a:r>
          </a:p>
          <a:p>
            <a:pPr lvl="1"/>
            <a:r>
              <a:rPr lang="en-US" dirty="0"/>
              <a:t>E: opportunity to play against self</a:t>
            </a:r>
          </a:p>
          <a:p>
            <a:r>
              <a:rPr lang="en-US" dirty="0"/>
              <a:t>Refining the Problem Specification: Issues</a:t>
            </a:r>
          </a:p>
          <a:p>
            <a:pPr lvl="1"/>
            <a:r>
              <a:rPr lang="en-US" dirty="0"/>
              <a:t>What experience?</a:t>
            </a:r>
          </a:p>
          <a:p>
            <a:pPr lvl="1"/>
            <a:r>
              <a:rPr lang="en-US" dirty="0"/>
              <a:t>What exactly should be learned?</a:t>
            </a:r>
          </a:p>
          <a:p>
            <a:pPr lvl="1"/>
            <a:r>
              <a:rPr lang="en-US" dirty="0"/>
              <a:t>How shall it be represented?</a:t>
            </a:r>
          </a:p>
          <a:p>
            <a:pPr lvl="1"/>
            <a:r>
              <a:rPr lang="en-US" dirty="0"/>
              <a:t>What specific algorithm to learn it?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40386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6477000" y="41148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391400" y="41148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848600" y="5486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934200" y="5486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Learning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Goal: Design a system to learn how to play checkers and enter it into the world checkers tournament.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training experience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target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representation for the target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function approximation algorithm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Choose the training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or indirect?</a:t>
            </a:r>
          </a:p>
          <a:p>
            <a:pPr lvl="1"/>
            <a:r>
              <a:rPr lang="en-US" dirty="0"/>
              <a:t>Direct: board state -&gt; correct move</a:t>
            </a:r>
          </a:p>
          <a:p>
            <a:pPr lvl="1"/>
            <a:r>
              <a:rPr lang="en-US" dirty="0"/>
              <a:t>Indirect: outcome of a complete game</a:t>
            </a:r>
          </a:p>
          <a:p>
            <a:r>
              <a:rPr lang="en-US" dirty="0"/>
              <a:t>Teacher or not ?</a:t>
            </a:r>
          </a:p>
          <a:p>
            <a:pPr lvl="1"/>
            <a:r>
              <a:rPr lang="en-US" dirty="0"/>
              <a:t>Teacher selects board states</a:t>
            </a:r>
          </a:p>
          <a:p>
            <a:pPr lvl="1"/>
            <a:r>
              <a:rPr lang="en-US" dirty="0"/>
              <a:t>Learner can select board states</a:t>
            </a:r>
          </a:p>
          <a:p>
            <a:r>
              <a:rPr lang="en-US" dirty="0"/>
              <a:t>Is training experience representative of performance goal?</a:t>
            </a:r>
          </a:p>
          <a:p>
            <a:pPr lvl="1"/>
            <a:r>
              <a:rPr lang="en-US" dirty="0"/>
              <a:t>Training playing against itself</a:t>
            </a:r>
          </a:p>
          <a:p>
            <a:pPr lvl="1"/>
            <a:r>
              <a:rPr lang="en-US" dirty="0"/>
              <a:t>Performance evaluated playing against world champion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or indirect?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Direct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9812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52800" y="4191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81200" y="3733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191000" y="3505200"/>
            <a:ext cx="762000" cy="3810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93778" y="3429000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B4</a:t>
            </a:r>
            <a:r>
              <a:rPr lang="en-US" sz="2800" dirty="0">
                <a:sym typeface="Wingdings" pitchFamily="2" charset="2"/>
              </a:rPr>
              <a:t>A3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or indirect?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Indirect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981200" y="37338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352800" y="41910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191000" y="3505200"/>
            <a:ext cx="762000" cy="3810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93778" y="3429000"/>
            <a:ext cx="1569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Blue wins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target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ChooseMove</a:t>
            </a:r>
            <a:r>
              <a:rPr lang="en-US" dirty="0"/>
              <a:t> : B → M : board state → move</a:t>
            </a:r>
          </a:p>
          <a:p>
            <a:pPr lvl="1"/>
            <a:r>
              <a:rPr lang="en-US" dirty="0"/>
              <a:t>Maps a legal board state to a legal move</a:t>
            </a:r>
          </a:p>
          <a:p>
            <a:pPr lvl="1"/>
            <a:endParaRPr lang="en-US" dirty="0"/>
          </a:p>
          <a:p>
            <a:r>
              <a:rPr lang="en-US" dirty="0"/>
              <a:t>Evaluate : B → R : board state → board value</a:t>
            </a:r>
          </a:p>
          <a:p>
            <a:pPr lvl="1"/>
            <a:r>
              <a:rPr lang="en-US" dirty="0"/>
              <a:t>Assigns a numerical score to any given board state, such that better board states obtain a higher score</a:t>
            </a:r>
          </a:p>
          <a:p>
            <a:pPr lvl="1"/>
            <a:r>
              <a:rPr lang="en-US" dirty="0"/>
              <a:t>Select the best move by evaluating all successor states of legal moves and pick the one with the maximal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ChooseMove</a:t>
            </a:r>
            <a:r>
              <a:rPr lang="en-US" dirty="0"/>
              <a:t> or </a:t>
            </a:r>
            <a:r>
              <a:rPr lang="en-US" dirty="0" err="1"/>
              <a:t>Evalute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ChooseMove</a:t>
            </a:r>
            <a:r>
              <a:rPr lang="en-US" dirty="0"/>
              <a:t>: board state → move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9812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52800" y="4191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81200" y="3733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191000" y="3505200"/>
            <a:ext cx="762000" cy="3810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93778" y="3429000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B4</a:t>
            </a:r>
            <a:r>
              <a:rPr lang="en-US" sz="2800" dirty="0">
                <a:sym typeface="Wingdings" pitchFamily="2" charset="2"/>
              </a:rPr>
              <a:t>A3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ChooseMove</a:t>
            </a:r>
            <a:r>
              <a:rPr lang="en-US" dirty="0"/>
              <a:t> or </a:t>
            </a:r>
            <a:r>
              <a:rPr lang="en-US" dirty="0" err="1"/>
              <a:t>Evalute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Evalute</a:t>
            </a:r>
            <a:r>
              <a:rPr lang="en-US" dirty="0"/>
              <a:t>: board state → board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9812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52800" y="4191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81200" y="3733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191000" y="3505200"/>
            <a:ext cx="762000" cy="38100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93778" y="34290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the target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we play blue</a:t>
            </a:r>
          </a:p>
          <a:p>
            <a:endParaRPr lang="en-US" dirty="0"/>
          </a:p>
          <a:p>
            <a:r>
              <a:rPr lang="en-US" dirty="0"/>
              <a:t>If b is a final board state that is won then V(b) = -100</a:t>
            </a:r>
          </a:p>
          <a:p>
            <a:r>
              <a:rPr lang="en-US" dirty="0"/>
              <a:t>If b is a final board state that is lost then V(b) = 100</a:t>
            </a:r>
          </a:p>
          <a:p>
            <a:r>
              <a:rPr lang="en-US" dirty="0"/>
              <a:t>If b is a final board state that is drawn then V(b)=0</a:t>
            </a:r>
          </a:p>
          <a:p>
            <a:endParaRPr lang="en-US" dirty="0"/>
          </a:p>
          <a:p>
            <a:r>
              <a:rPr lang="en-US" dirty="0"/>
              <a:t>If b is not a final board state, then V(b)=V(b’), where b’ is the best final board state that can be achieved starting from b and playing optimally until the end of the game.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Board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Blue wins:  V(b)=-100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438400" y="41910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562600" y="3733800"/>
            <a:ext cx="304800" cy="304800"/>
          </a:xfrm>
          <a:prstGeom prst="ellipse">
            <a:avLst/>
          </a:prstGeom>
          <a:noFill/>
          <a:ln w="88900"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Board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Red wins:  V(b)=100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895600" y="3733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934200" y="4191000"/>
            <a:ext cx="304800" cy="304800"/>
          </a:xfrm>
          <a:prstGeom prst="ellipse">
            <a:avLst/>
          </a:prstGeom>
          <a:noFill/>
          <a:ln w="88900"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562600" y="3733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Board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Draw:  V(b)=0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050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2743200"/>
          <a:ext cx="1828800" cy="1828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934200" y="3276600"/>
            <a:ext cx="304800" cy="304800"/>
          </a:xfrm>
          <a:prstGeom prst="ellipse">
            <a:avLst/>
          </a:prstGeom>
          <a:noFill/>
          <a:ln w="88900">
            <a:solidFill>
              <a:srgbClr val="0070C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352800" y="3276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934200" y="4191000"/>
            <a:ext cx="304800" cy="304800"/>
          </a:xfrm>
          <a:prstGeom prst="ellipse">
            <a:avLst/>
          </a:prstGeom>
          <a:noFill/>
          <a:ln w="88900"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Choose a representation for the target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Table look-up</a:t>
            </a:r>
          </a:p>
          <a:p>
            <a:r>
              <a:rPr lang="en-US" dirty="0"/>
              <a:t>Collection of rules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Polynomial function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  <a:p>
            <a:r>
              <a:rPr lang="en-US" dirty="0"/>
              <a:t>trade-off in choosing an expressive representation:</a:t>
            </a:r>
          </a:p>
          <a:p>
            <a:pPr lvl="1"/>
            <a:r>
              <a:rPr lang="en-US" dirty="0"/>
              <a:t>approximation accuracy</a:t>
            </a:r>
          </a:p>
          <a:p>
            <a:pPr lvl="1"/>
            <a:r>
              <a:rPr lang="en-US" dirty="0"/>
              <a:t>number of training examples required to learn the target function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Target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Polynomial function</a:t>
            </a:r>
          </a:p>
          <a:p>
            <a:pPr lvl="1"/>
            <a:r>
              <a:rPr lang="en-US" dirty="0"/>
              <a:t>Degree 1 </a:t>
            </a:r>
            <a:r>
              <a:rPr lang="en-US" dirty="0">
                <a:sym typeface="Wingdings" pitchFamily="2" charset="2"/>
              </a:rPr>
              <a:t> Linear function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V(b) = w</a:t>
            </a:r>
            <a:r>
              <a:rPr lang="en-US" baseline="-25000" dirty="0"/>
              <a:t>0</a:t>
            </a:r>
            <a:r>
              <a:rPr lang="en-US" dirty="0"/>
              <a:t> + w</a:t>
            </a:r>
            <a:r>
              <a:rPr lang="en-US" baseline="-25000" dirty="0"/>
              <a:t>1</a:t>
            </a:r>
            <a:r>
              <a:rPr lang="en-US" dirty="0">
                <a:solidFill>
                  <a:srgbClr val="FF0000"/>
                </a:solidFill>
              </a:rPr>
              <a:t>rp(b)</a:t>
            </a:r>
            <a:r>
              <a:rPr lang="en-US" dirty="0"/>
              <a:t> + w</a:t>
            </a:r>
            <a:r>
              <a:rPr lang="en-US" baseline="-25000" dirty="0"/>
              <a:t>2</a:t>
            </a:r>
            <a:r>
              <a:rPr lang="en-US" dirty="0">
                <a:solidFill>
                  <a:srgbClr val="0070C0"/>
                </a:solidFill>
              </a:rPr>
              <a:t>bp(b)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bp</a:t>
            </a:r>
            <a:r>
              <a:rPr lang="en-US" dirty="0">
                <a:solidFill>
                  <a:srgbClr val="0070C0"/>
                </a:solidFill>
              </a:rPr>
              <a:t>(b):  </a:t>
            </a:r>
            <a:r>
              <a:rPr lang="en-US" dirty="0"/>
              <a:t>#blue pieces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rp</a:t>
            </a:r>
            <a:r>
              <a:rPr lang="en-US" dirty="0">
                <a:solidFill>
                  <a:srgbClr val="FF0000"/>
                </a:solidFill>
              </a:rPr>
              <a:t>(b):  </a:t>
            </a:r>
            <a:r>
              <a:rPr lang="en-US" dirty="0"/>
              <a:t>#red pieces</a:t>
            </a:r>
          </a:p>
          <a:p>
            <a:pPr lvl="1"/>
            <a:endParaRPr lang="en-US" dirty="0"/>
          </a:p>
          <a:p>
            <a:r>
              <a:rPr lang="en-US" dirty="0"/>
              <a:t>V(b) : true target function</a:t>
            </a:r>
          </a:p>
          <a:p>
            <a:r>
              <a:rPr lang="en-US" dirty="0"/>
              <a:t>V’(b) : learned target function (hypothesis)</a:t>
            </a:r>
          </a:p>
          <a:p>
            <a:r>
              <a:rPr lang="en-US" dirty="0" err="1"/>
              <a:t>Vtrain</a:t>
            </a:r>
            <a:r>
              <a:rPr lang="en-US" dirty="0"/>
              <a:t>(b) : training value</a:t>
            </a:r>
          </a:p>
          <a:p>
            <a:endParaRPr lang="en-US" dirty="0"/>
          </a:p>
          <a:p>
            <a:r>
              <a:rPr lang="en-US" dirty="0"/>
              <a:t>Rule for estimating training values:</a:t>
            </a:r>
          </a:p>
          <a:p>
            <a:pPr lvl="1"/>
            <a:r>
              <a:rPr lang="en-US" dirty="0" err="1"/>
              <a:t>Vtrain</a:t>
            </a:r>
            <a:r>
              <a:rPr lang="en-US" dirty="0"/>
              <a:t>(b) ← V’(Successor(b))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Choose a function 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Least Mean Square (LMS) weight update rule: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 Select a training example b at random</a:t>
            </a:r>
          </a:p>
          <a:p>
            <a:pPr>
              <a:buNone/>
            </a:pPr>
            <a:r>
              <a:rPr lang="en-US" dirty="0"/>
              <a:t>1. Compute error(b)</a:t>
            </a:r>
          </a:p>
          <a:p>
            <a:pPr>
              <a:buNone/>
            </a:pPr>
            <a:r>
              <a:rPr lang="en-US" dirty="0"/>
              <a:t>		error(b) 	=  </a:t>
            </a:r>
            <a:r>
              <a:rPr lang="en-US" dirty="0" err="1"/>
              <a:t>Vtrain</a:t>
            </a:r>
            <a:r>
              <a:rPr lang="en-US" dirty="0"/>
              <a:t>(b) – V’(b) </a:t>
            </a:r>
          </a:p>
          <a:p>
            <a:pPr>
              <a:buNone/>
            </a:pPr>
            <a:r>
              <a:rPr lang="en-US" dirty="0"/>
              <a:t>				=  V’(Successor(b )) – V’(b) </a:t>
            </a:r>
          </a:p>
          <a:p>
            <a:pPr>
              <a:buNone/>
            </a:pPr>
            <a:r>
              <a:rPr lang="en-US" dirty="0"/>
              <a:t>2. For each board feature </a:t>
            </a:r>
            <a:r>
              <a:rPr lang="en-US" dirty="0" err="1"/>
              <a:t>f</a:t>
            </a:r>
            <a:r>
              <a:rPr lang="en-US" baseline="-25000" dirty="0" err="1"/>
              <a:t>i</a:t>
            </a:r>
            <a:r>
              <a:rPr lang="en-US" dirty="0"/>
              <a:t>, update weight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←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+ </a:t>
            </a:r>
            <a:r>
              <a:rPr lang="el-GR" dirty="0"/>
              <a:t>η</a:t>
            </a:r>
            <a:r>
              <a:rPr lang="en-US" dirty="0"/>
              <a:t> </a:t>
            </a:r>
            <a:r>
              <a:rPr lang="en-US" dirty="0" err="1"/>
              <a:t>f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error(b)</a:t>
            </a:r>
          </a:p>
          <a:p>
            <a:pPr>
              <a:buNone/>
            </a:pPr>
            <a:r>
              <a:rPr lang="en-US" i="1" dirty="0"/>
              <a:t>		</a:t>
            </a:r>
            <a:r>
              <a:rPr lang="en-US" dirty="0"/>
              <a:t>η : learning rate approx. 0.1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Design a system to learn how to play checkers and enter it into the world checkers tournament.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training experience</a:t>
            </a:r>
          </a:p>
          <a:p>
            <a:pPr marL="788670" lvl="1" indent="-514350"/>
            <a:r>
              <a:rPr lang="en-US" dirty="0">
                <a:solidFill>
                  <a:srgbClr val="FF0000"/>
                </a:solidFill>
              </a:rPr>
              <a:t>Indirect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target function</a:t>
            </a:r>
          </a:p>
          <a:p>
            <a:pPr marL="788670" lvl="1" indent="-514350"/>
            <a:r>
              <a:rPr lang="en-US" dirty="0" err="1">
                <a:solidFill>
                  <a:srgbClr val="FF0000"/>
                </a:solidFill>
              </a:rPr>
              <a:t>Evalute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representation for the target function</a:t>
            </a:r>
          </a:p>
          <a:p>
            <a:pPr marL="788670" lvl="1" indent="-514350"/>
            <a:r>
              <a:rPr lang="en-US" dirty="0">
                <a:solidFill>
                  <a:srgbClr val="FF0000"/>
                </a:solidFill>
              </a:rPr>
              <a:t>Polynomial function (linear)</a:t>
            </a:r>
          </a:p>
          <a:p>
            <a:pPr marL="788670" lvl="1" indent="-514350"/>
            <a:r>
              <a:rPr lang="en-US" dirty="0"/>
              <a:t>V(b) = w</a:t>
            </a:r>
            <a:r>
              <a:rPr lang="en-US" baseline="-25000" dirty="0"/>
              <a:t>0</a:t>
            </a:r>
            <a:r>
              <a:rPr lang="en-US" dirty="0"/>
              <a:t> + w</a:t>
            </a:r>
            <a:r>
              <a:rPr lang="en-US" baseline="-25000" dirty="0"/>
              <a:t>1</a:t>
            </a:r>
            <a:r>
              <a:rPr lang="en-US" dirty="0">
                <a:solidFill>
                  <a:srgbClr val="FF0000"/>
                </a:solidFill>
              </a:rPr>
              <a:t>rp(b)</a:t>
            </a:r>
            <a:r>
              <a:rPr lang="en-US" dirty="0"/>
              <a:t> + w</a:t>
            </a:r>
            <a:r>
              <a:rPr lang="en-US" baseline="-25000" dirty="0"/>
              <a:t>2</a:t>
            </a:r>
            <a:r>
              <a:rPr lang="en-US" dirty="0">
                <a:solidFill>
                  <a:srgbClr val="0070C0"/>
                </a:solidFill>
              </a:rPr>
              <a:t>bp(b)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function approximation algorithm</a:t>
            </a:r>
          </a:p>
          <a:p>
            <a:pPr marL="788670" lvl="1" indent="-514350"/>
            <a:r>
              <a:rPr lang="en-US" dirty="0">
                <a:solidFill>
                  <a:srgbClr val="FF0000"/>
                </a:solidFill>
              </a:rPr>
              <a:t>LMS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Initial weights: </a:t>
            </a:r>
            <a:r>
              <a:rPr lang="pl-PL" dirty="0"/>
              <a:t>w</a:t>
            </a:r>
            <a:r>
              <a:rPr lang="pl-PL" baseline="-25000" dirty="0"/>
              <a:t>0</a:t>
            </a:r>
            <a:r>
              <a:rPr lang="pl-PL" dirty="0"/>
              <a:t>=-10, w</a:t>
            </a:r>
            <a:r>
              <a:rPr lang="pl-PL" baseline="-25000" dirty="0"/>
              <a:t>1</a:t>
            </a:r>
            <a:r>
              <a:rPr lang="pl-PL" dirty="0"/>
              <a:t> =75, w</a:t>
            </a:r>
            <a:r>
              <a:rPr lang="pl-PL" baseline="-25000" dirty="0"/>
              <a:t>2</a:t>
            </a:r>
            <a:r>
              <a:rPr lang="pl-PL" dirty="0"/>
              <a:t> =-60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81400" y="1828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4419600" y="1905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876800" y="3124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038600" y="3124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657600" y="1905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273171" y="2438400"/>
            <a:ext cx="3794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0</a:t>
            </a:r>
            <a:r>
              <a:rPr lang="en-US" sz="2400" dirty="0"/>
              <a:t>) = w</a:t>
            </a:r>
            <a:r>
              <a:rPr lang="en-US" sz="2400" baseline="-25000" dirty="0"/>
              <a:t>0</a:t>
            </a:r>
            <a:r>
              <a:rPr lang="en-US" sz="2400" dirty="0"/>
              <a:t>+w</a:t>
            </a:r>
            <a:r>
              <a:rPr lang="en-US" sz="2400" baseline="-25000" dirty="0"/>
              <a:t>1</a:t>
            </a:r>
            <a:r>
              <a:rPr lang="en-US" sz="2400" dirty="0"/>
              <a:t>*2+w</a:t>
            </a:r>
            <a:r>
              <a:rPr lang="en-US" sz="2400" baseline="-25000" dirty="0"/>
              <a:t>2</a:t>
            </a:r>
            <a:r>
              <a:rPr lang="en-US" sz="2400" dirty="0"/>
              <a:t>*2 = 20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38200" y="42672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1676400" y="43434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133600" y="55626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14400" y="51435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14400" y="43434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38200" y="59436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1</a:t>
            </a:r>
            <a:r>
              <a:rPr lang="en-US" sz="2400" dirty="0"/>
              <a:t>) = 20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581400" y="42672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Oval 21"/>
          <p:cNvSpPr/>
          <p:nvPr/>
        </p:nvSpPr>
        <p:spPr>
          <a:xfrm>
            <a:off x="4419600" y="43434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876800" y="55626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4457700" y="51435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657600" y="43434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324600" y="42672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Oval 27"/>
          <p:cNvSpPr/>
          <p:nvPr/>
        </p:nvSpPr>
        <p:spPr>
          <a:xfrm>
            <a:off x="7162800" y="43053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200900" y="51435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781800" y="55245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400800" y="43053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554976" y="59436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1</a:t>
            </a:r>
            <a:r>
              <a:rPr lang="en-US" sz="2400" dirty="0"/>
              <a:t>) =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4376" y="59436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1</a:t>
            </a:r>
            <a:r>
              <a:rPr lang="en-US" sz="2400" dirty="0"/>
              <a:t>) = 20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rot="10800000" flipV="1">
            <a:off x="1600200" y="3505200"/>
            <a:ext cx="2667000" cy="685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10800000" flipH="1" flipV="1">
            <a:off x="4419600" y="3505200"/>
            <a:ext cx="2667000" cy="685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>
            <a:off x="4038997" y="3809603"/>
            <a:ext cx="609600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/>
      <p:bldP spid="22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3" grpId="0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657600"/>
            <a:ext cx="8229600" cy="2499360"/>
          </a:xfrm>
        </p:spPr>
        <p:txBody>
          <a:bodyPr>
            <a:normAutofit/>
          </a:bodyPr>
          <a:lstStyle/>
          <a:p>
            <a:r>
              <a:rPr lang="en-US" dirty="0"/>
              <a:t>error(b</a:t>
            </a:r>
            <a:r>
              <a:rPr lang="en-US" baseline="-25000" dirty="0"/>
              <a:t>0</a:t>
            </a:r>
            <a:r>
              <a:rPr lang="en-US" dirty="0"/>
              <a:t>) = </a:t>
            </a:r>
            <a:r>
              <a:rPr lang="en-US" sz="2800" dirty="0"/>
              <a:t>V’(b</a:t>
            </a:r>
            <a:r>
              <a:rPr lang="en-US" sz="2800" baseline="-25000" dirty="0"/>
              <a:t>1</a:t>
            </a:r>
            <a:r>
              <a:rPr lang="en-US" sz="2800" dirty="0"/>
              <a:t>) - V’(b</a:t>
            </a:r>
            <a:r>
              <a:rPr lang="en-US" sz="2800" baseline="-25000" dirty="0"/>
              <a:t>0</a:t>
            </a:r>
            <a:r>
              <a:rPr lang="en-US" sz="2800" dirty="0"/>
              <a:t>) = 0</a:t>
            </a:r>
          </a:p>
          <a:p>
            <a:r>
              <a:rPr lang="en-US" sz="2800" dirty="0"/>
              <a:t>Update weights</a:t>
            </a:r>
          </a:p>
          <a:p>
            <a:pPr lvl="1"/>
            <a:r>
              <a:rPr lang="pl-PL" dirty="0"/>
              <a:t>w</a:t>
            </a:r>
            <a:r>
              <a:rPr lang="pl-PL" baseline="-25000" dirty="0"/>
              <a:t>0</a:t>
            </a:r>
            <a:r>
              <a:rPr lang="pl-PL" dirty="0"/>
              <a:t> ← w</a:t>
            </a:r>
            <a:r>
              <a:rPr lang="pl-PL" baseline="-25000" dirty="0"/>
              <a:t>0</a:t>
            </a:r>
            <a:r>
              <a:rPr lang="pl-PL" dirty="0"/>
              <a:t> + 0.1 * 1 * 0</a:t>
            </a:r>
          </a:p>
          <a:p>
            <a:pPr lvl="1"/>
            <a:r>
              <a:rPr lang="pl-PL" dirty="0"/>
              <a:t>w</a:t>
            </a:r>
            <a:r>
              <a:rPr lang="en-US" baseline="-25000" dirty="0"/>
              <a:t>1</a:t>
            </a:r>
            <a:r>
              <a:rPr lang="pl-PL" dirty="0"/>
              <a:t> ← w</a:t>
            </a:r>
            <a:r>
              <a:rPr lang="en-US" baseline="-25000" dirty="0"/>
              <a:t>1</a:t>
            </a:r>
            <a:r>
              <a:rPr lang="pl-PL" dirty="0"/>
              <a:t> + 0.1 * 2 * 0</a:t>
            </a:r>
          </a:p>
          <a:p>
            <a:pPr lvl="1"/>
            <a:r>
              <a:rPr lang="pl-PL" dirty="0"/>
              <a:t>w</a:t>
            </a:r>
            <a:r>
              <a:rPr lang="en-US" baseline="-25000" dirty="0"/>
              <a:t>2</a:t>
            </a:r>
            <a:r>
              <a:rPr lang="pl-PL" dirty="0"/>
              <a:t> ← w</a:t>
            </a:r>
            <a:r>
              <a:rPr lang="en-US" baseline="-25000" dirty="0"/>
              <a:t>2</a:t>
            </a:r>
            <a:r>
              <a:rPr lang="pl-PL" dirty="0"/>
              <a:t> + 0.1 * 2 * 0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590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2743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2743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400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58000" y="2743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638800" y="2324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38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612376" y="30480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1</a:t>
            </a:r>
            <a:r>
              <a:rPr lang="en-US" sz="2400" dirty="0"/>
              <a:t>) = 20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733800" y="2286000"/>
            <a:ext cx="1676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2376" y="30480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0</a:t>
            </a:r>
            <a:r>
              <a:rPr lang="en-US" sz="2400" dirty="0"/>
              <a:t>) =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590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8000" y="2743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2743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28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400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58000" y="27432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638800" y="2324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38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612376" y="30480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1</a:t>
            </a:r>
            <a:r>
              <a:rPr lang="en-US" sz="2400" dirty="0"/>
              <a:t>) = 20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733800" y="2286000"/>
            <a:ext cx="1676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2376" y="30480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0</a:t>
            </a:r>
            <a:r>
              <a:rPr lang="en-US" sz="2400" dirty="0"/>
              <a:t>) = 20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52600" y="4110335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val 19"/>
          <p:cNvSpPr/>
          <p:nvPr/>
        </p:nvSpPr>
        <p:spPr>
          <a:xfrm>
            <a:off x="2590800" y="4186535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628900" y="4991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828800" y="4991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209800" y="4572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562600" y="4110335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6400800" y="4186535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6858000" y="5405735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638800" y="4986635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019800" y="4572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612376" y="5710535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2</a:t>
            </a:r>
            <a:r>
              <a:rPr lang="en-US" sz="2400" dirty="0"/>
              <a:t>) = 20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733800" y="4948535"/>
            <a:ext cx="1676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02376" y="5710535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3</a:t>
            </a:r>
            <a:r>
              <a:rPr lang="en-US" sz="2400" dirty="0"/>
              <a:t>) = 20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rot="5400000">
            <a:off x="6172200" y="3810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52600" y="4110335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val 19"/>
          <p:cNvSpPr/>
          <p:nvPr/>
        </p:nvSpPr>
        <p:spPr>
          <a:xfrm>
            <a:off x="3009900" y="4572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628900" y="4991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828800" y="4991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209800" y="4572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rot="10800000" flipV="1">
            <a:off x="2514600" y="3200400"/>
            <a:ext cx="11430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02376" y="5710535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4</a:t>
            </a:r>
            <a:r>
              <a:rPr lang="en-US" sz="2400" dirty="0"/>
              <a:t>) = 20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733800" y="1595735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Oval 33"/>
          <p:cNvSpPr/>
          <p:nvPr/>
        </p:nvSpPr>
        <p:spPr>
          <a:xfrm>
            <a:off x="4572000" y="1671935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4610100" y="24765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810000" y="24765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191000" y="20574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783576" y="3195935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3</a:t>
            </a:r>
            <a:r>
              <a:rPr lang="en-US" sz="2400" dirty="0"/>
              <a:t>) = 20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791200" y="40386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Oval 39"/>
          <p:cNvSpPr/>
          <p:nvPr/>
        </p:nvSpPr>
        <p:spPr>
          <a:xfrm>
            <a:off x="6629400" y="41148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867400" y="4919365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7048500" y="52959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5840976" y="5638800"/>
            <a:ext cx="1649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4</a:t>
            </a:r>
            <a:r>
              <a:rPr lang="en-US" sz="2400" dirty="0"/>
              <a:t>) = -55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 rot="10800000" flipH="1" flipV="1">
            <a:off x="5410200" y="3200400"/>
            <a:ext cx="1143000" cy="762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334000" y="3733800"/>
            <a:ext cx="2590800" cy="2514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657600"/>
            <a:ext cx="8229600" cy="2499360"/>
          </a:xfrm>
        </p:spPr>
        <p:txBody>
          <a:bodyPr>
            <a:normAutofit/>
          </a:bodyPr>
          <a:lstStyle/>
          <a:p>
            <a:r>
              <a:rPr lang="en-US" dirty="0"/>
              <a:t>error(b</a:t>
            </a:r>
            <a:r>
              <a:rPr lang="en-US" baseline="-25000" dirty="0"/>
              <a:t>3</a:t>
            </a:r>
            <a:r>
              <a:rPr lang="en-US" dirty="0"/>
              <a:t>) = </a:t>
            </a:r>
            <a:r>
              <a:rPr lang="en-US" sz="2800" dirty="0"/>
              <a:t>V’(b</a:t>
            </a:r>
            <a:r>
              <a:rPr lang="en-US" sz="2800" baseline="-25000" dirty="0"/>
              <a:t>4</a:t>
            </a:r>
            <a:r>
              <a:rPr lang="en-US" sz="2800" dirty="0"/>
              <a:t>) - V’(b</a:t>
            </a:r>
            <a:r>
              <a:rPr lang="en-US" sz="2800" baseline="-25000" dirty="0"/>
              <a:t>3</a:t>
            </a:r>
            <a:r>
              <a:rPr lang="en-US" sz="2800" dirty="0"/>
              <a:t>) = -75</a:t>
            </a:r>
          </a:p>
          <a:p>
            <a:r>
              <a:rPr lang="en-US" sz="2800" dirty="0"/>
              <a:t>Update weights (</a:t>
            </a:r>
            <a:r>
              <a:rPr lang="pl-PL" sz="2800" dirty="0"/>
              <a:t>w</a:t>
            </a:r>
            <a:r>
              <a:rPr lang="pl-PL" sz="2800" baseline="-25000" dirty="0"/>
              <a:t>0</a:t>
            </a:r>
            <a:r>
              <a:rPr lang="pl-PL" sz="2800" dirty="0"/>
              <a:t>=-10, w</a:t>
            </a:r>
            <a:r>
              <a:rPr lang="pl-PL" sz="2800" baseline="-25000" dirty="0"/>
              <a:t>1</a:t>
            </a:r>
            <a:r>
              <a:rPr lang="pl-PL" sz="2800" dirty="0"/>
              <a:t> =75, w</a:t>
            </a:r>
            <a:r>
              <a:rPr lang="pl-PL" sz="2800" baseline="-25000" dirty="0"/>
              <a:t>2</a:t>
            </a:r>
            <a:r>
              <a:rPr lang="pl-PL" sz="2800" dirty="0"/>
              <a:t> =-60</a:t>
            </a:r>
            <a:r>
              <a:rPr lang="en-US" sz="2800" dirty="0"/>
              <a:t>)</a:t>
            </a:r>
          </a:p>
          <a:p>
            <a:pPr lvl="1"/>
            <a:r>
              <a:rPr lang="pl-PL" dirty="0"/>
              <a:t>w</a:t>
            </a:r>
            <a:r>
              <a:rPr lang="pl-PL" baseline="-25000" dirty="0"/>
              <a:t>0</a:t>
            </a:r>
            <a:r>
              <a:rPr lang="pl-PL" dirty="0"/>
              <a:t> ← w</a:t>
            </a:r>
            <a:r>
              <a:rPr lang="pl-PL" baseline="-25000" dirty="0"/>
              <a:t>0</a:t>
            </a:r>
            <a:r>
              <a:rPr lang="pl-PL" dirty="0"/>
              <a:t> + 0.1 * 1 * </a:t>
            </a:r>
            <a:r>
              <a:rPr lang="en-US" dirty="0"/>
              <a:t>-75 = -17.5</a:t>
            </a:r>
            <a:endParaRPr lang="pl-PL" dirty="0"/>
          </a:p>
          <a:p>
            <a:pPr lvl="1"/>
            <a:r>
              <a:rPr lang="pl-PL" dirty="0"/>
              <a:t>w</a:t>
            </a:r>
            <a:r>
              <a:rPr lang="en-US" baseline="-25000" dirty="0"/>
              <a:t>1</a:t>
            </a:r>
            <a:r>
              <a:rPr lang="pl-PL" dirty="0"/>
              <a:t> ← w</a:t>
            </a:r>
            <a:r>
              <a:rPr lang="en-US" baseline="-25000" dirty="0"/>
              <a:t>1</a:t>
            </a:r>
            <a:r>
              <a:rPr lang="pl-PL" dirty="0"/>
              <a:t> + 0.1 * 2 * </a:t>
            </a:r>
            <a:r>
              <a:rPr lang="en-US" dirty="0"/>
              <a:t>-75 = 60</a:t>
            </a:r>
            <a:endParaRPr lang="pl-PL" dirty="0"/>
          </a:p>
          <a:p>
            <a:pPr lvl="1"/>
            <a:r>
              <a:rPr lang="pl-PL" dirty="0"/>
              <a:t>w</a:t>
            </a:r>
            <a:r>
              <a:rPr lang="en-US" baseline="-25000" dirty="0"/>
              <a:t>2</a:t>
            </a:r>
            <a:r>
              <a:rPr lang="pl-PL" dirty="0"/>
              <a:t> ← w</a:t>
            </a:r>
            <a:r>
              <a:rPr lang="en-US" baseline="-25000" dirty="0"/>
              <a:t>2</a:t>
            </a:r>
            <a:r>
              <a:rPr lang="pl-PL" dirty="0"/>
              <a:t> + 0.1 * 2 * </a:t>
            </a:r>
            <a:r>
              <a:rPr lang="en-US" dirty="0"/>
              <a:t>-75 = -75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2590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90800" y="22860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828800" y="22860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09800" y="1905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62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400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638800" y="2324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819900" y="27432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612376" y="3048000"/>
            <a:ext cx="1649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4</a:t>
            </a:r>
            <a:r>
              <a:rPr lang="en-US" sz="2400" dirty="0"/>
              <a:t>) = -55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733800" y="2286000"/>
            <a:ext cx="1676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2376" y="3048000"/>
            <a:ext cx="155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3</a:t>
            </a:r>
            <a:r>
              <a:rPr lang="en-US" sz="2400" dirty="0"/>
              <a:t>) = 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657600"/>
            <a:ext cx="8229600" cy="2499360"/>
          </a:xfrm>
        </p:spPr>
        <p:txBody>
          <a:bodyPr>
            <a:normAutofit/>
          </a:bodyPr>
          <a:lstStyle/>
          <a:p>
            <a:r>
              <a:rPr lang="en-US" dirty="0"/>
              <a:t>error(b</a:t>
            </a:r>
            <a:r>
              <a:rPr lang="en-US" baseline="-25000" dirty="0"/>
              <a:t>5</a:t>
            </a:r>
            <a:r>
              <a:rPr lang="en-US" dirty="0"/>
              <a:t>) = </a:t>
            </a:r>
            <a:r>
              <a:rPr lang="en-US" sz="2800" dirty="0"/>
              <a:t>V’(b</a:t>
            </a:r>
            <a:r>
              <a:rPr lang="en-US" sz="2800" baseline="-25000" dirty="0"/>
              <a:t>6</a:t>
            </a:r>
            <a:r>
              <a:rPr lang="en-US" sz="2800" dirty="0"/>
              <a:t>) - V’(b</a:t>
            </a:r>
            <a:r>
              <a:rPr lang="en-US" sz="2800" baseline="-25000" dirty="0"/>
              <a:t>5</a:t>
            </a:r>
            <a:r>
              <a:rPr lang="en-US" sz="2800" dirty="0"/>
              <a:t>) = -60</a:t>
            </a:r>
          </a:p>
          <a:p>
            <a:r>
              <a:rPr lang="en-US" sz="2800" dirty="0"/>
              <a:t>Update weights (</a:t>
            </a:r>
            <a:r>
              <a:rPr lang="pl-PL" sz="2800" dirty="0"/>
              <a:t>w</a:t>
            </a:r>
            <a:r>
              <a:rPr lang="pl-PL" sz="2800" baseline="-25000" dirty="0"/>
              <a:t>0</a:t>
            </a:r>
            <a:r>
              <a:rPr lang="pl-PL" sz="2800" dirty="0"/>
              <a:t>=</a:t>
            </a:r>
            <a:r>
              <a:rPr lang="en-US" sz="2800" dirty="0"/>
              <a:t> -17.5</a:t>
            </a:r>
            <a:r>
              <a:rPr lang="pl-PL" sz="2800" dirty="0"/>
              <a:t>, w</a:t>
            </a:r>
            <a:r>
              <a:rPr lang="pl-PL" sz="2800" baseline="-25000" dirty="0"/>
              <a:t>1</a:t>
            </a:r>
            <a:r>
              <a:rPr lang="pl-PL" sz="2800" dirty="0"/>
              <a:t> =</a:t>
            </a:r>
            <a:r>
              <a:rPr lang="en-US" sz="2800" dirty="0"/>
              <a:t> 60</a:t>
            </a:r>
            <a:r>
              <a:rPr lang="pl-PL" sz="2800" dirty="0"/>
              <a:t>, w</a:t>
            </a:r>
            <a:r>
              <a:rPr lang="pl-PL" sz="2800" baseline="-25000" dirty="0"/>
              <a:t>2</a:t>
            </a:r>
            <a:r>
              <a:rPr lang="pl-PL" sz="2800" dirty="0"/>
              <a:t> =-</a:t>
            </a:r>
            <a:r>
              <a:rPr lang="en-US" sz="2800" dirty="0"/>
              <a:t>75)</a:t>
            </a:r>
          </a:p>
          <a:p>
            <a:pPr lvl="1"/>
            <a:r>
              <a:rPr lang="pl-PL" dirty="0"/>
              <a:t>w</a:t>
            </a:r>
            <a:r>
              <a:rPr lang="pl-PL" baseline="-25000" dirty="0"/>
              <a:t>0</a:t>
            </a:r>
            <a:r>
              <a:rPr lang="pl-PL" dirty="0"/>
              <a:t> ← w</a:t>
            </a:r>
            <a:r>
              <a:rPr lang="pl-PL" baseline="-25000" dirty="0"/>
              <a:t>0</a:t>
            </a:r>
            <a:r>
              <a:rPr lang="pl-PL" dirty="0"/>
              <a:t> + 0.1 * 1 * </a:t>
            </a:r>
            <a:r>
              <a:rPr lang="en-US" dirty="0"/>
              <a:t>-60 = -23.5</a:t>
            </a:r>
            <a:endParaRPr lang="pl-PL" dirty="0"/>
          </a:p>
          <a:p>
            <a:pPr lvl="1"/>
            <a:r>
              <a:rPr lang="pl-PL" dirty="0"/>
              <a:t>w</a:t>
            </a:r>
            <a:r>
              <a:rPr lang="en-US" baseline="-25000" dirty="0"/>
              <a:t>1</a:t>
            </a:r>
            <a:r>
              <a:rPr lang="pl-PL" dirty="0"/>
              <a:t> ← w</a:t>
            </a:r>
            <a:r>
              <a:rPr lang="en-US" baseline="-25000" dirty="0"/>
              <a:t>1</a:t>
            </a:r>
            <a:r>
              <a:rPr lang="pl-PL" dirty="0"/>
              <a:t> + 0.1 *</a:t>
            </a:r>
            <a:r>
              <a:rPr lang="en-US" dirty="0"/>
              <a:t> 1 </a:t>
            </a:r>
            <a:r>
              <a:rPr lang="pl-PL" dirty="0"/>
              <a:t>* </a:t>
            </a:r>
            <a:r>
              <a:rPr lang="en-US" dirty="0"/>
              <a:t>-60 = 54</a:t>
            </a:r>
            <a:endParaRPr lang="pl-PL" dirty="0"/>
          </a:p>
          <a:p>
            <a:pPr lvl="1"/>
            <a:r>
              <a:rPr lang="pl-PL" dirty="0"/>
              <a:t>w</a:t>
            </a:r>
            <a:r>
              <a:rPr lang="en-US" baseline="-25000" dirty="0"/>
              <a:t>2</a:t>
            </a:r>
            <a:r>
              <a:rPr lang="pl-PL" dirty="0"/>
              <a:t> ← w</a:t>
            </a:r>
            <a:r>
              <a:rPr lang="en-US" baseline="-25000" dirty="0"/>
              <a:t>2</a:t>
            </a:r>
            <a:r>
              <a:rPr lang="pl-PL" dirty="0"/>
              <a:t> + 0.1 * 2 * </a:t>
            </a:r>
            <a:r>
              <a:rPr lang="en-US" dirty="0"/>
              <a:t>-60 = -87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447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5800" y="22860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866900" y="27051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0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4495800" y="15240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114800" y="1943100"/>
            <a:ext cx="266700" cy="2667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914900" y="27432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05200" y="3048000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5</a:t>
            </a:r>
            <a:r>
              <a:rPr lang="en-US" sz="2400" dirty="0"/>
              <a:t>) = -107.5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286000" y="2286000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048000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4</a:t>
            </a:r>
            <a:r>
              <a:rPr lang="en-US" sz="2400" dirty="0"/>
              <a:t>) = -107.5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38087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6819900" y="23241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995387" y="27432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585687" y="3048000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6</a:t>
            </a:r>
            <a:r>
              <a:rPr lang="en-US" sz="2400" dirty="0"/>
              <a:t>) = -167.5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334000" y="2284412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657600"/>
            <a:ext cx="8229600" cy="2499360"/>
          </a:xfrm>
        </p:spPr>
        <p:txBody>
          <a:bodyPr>
            <a:normAutofit/>
          </a:bodyPr>
          <a:lstStyle/>
          <a:p>
            <a:r>
              <a:rPr lang="en-US" dirty="0"/>
              <a:t>error(b</a:t>
            </a:r>
            <a:r>
              <a:rPr lang="en-US" baseline="-25000" dirty="0"/>
              <a:t>6</a:t>
            </a:r>
            <a:r>
              <a:rPr lang="en-US" dirty="0"/>
              <a:t>) = </a:t>
            </a:r>
            <a:r>
              <a:rPr lang="en-US" sz="2800" dirty="0"/>
              <a:t>V(b) - V’(b</a:t>
            </a:r>
            <a:r>
              <a:rPr lang="en-US" sz="2800" baseline="-25000" dirty="0"/>
              <a:t>6</a:t>
            </a:r>
            <a:r>
              <a:rPr lang="en-US" sz="2800" dirty="0"/>
              <a:t>) = 97.5</a:t>
            </a:r>
          </a:p>
          <a:p>
            <a:r>
              <a:rPr lang="en-US" sz="2800" dirty="0"/>
              <a:t>Update weights (</a:t>
            </a:r>
            <a:r>
              <a:rPr lang="pl-PL" sz="2800" dirty="0"/>
              <a:t>w</a:t>
            </a:r>
            <a:r>
              <a:rPr lang="pl-PL" sz="2800" baseline="-25000" dirty="0"/>
              <a:t>0</a:t>
            </a:r>
            <a:r>
              <a:rPr lang="pl-PL" sz="2800" dirty="0"/>
              <a:t>=</a:t>
            </a:r>
            <a:r>
              <a:rPr lang="en-US" sz="2800" dirty="0"/>
              <a:t> - 23.5</a:t>
            </a:r>
            <a:r>
              <a:rPr lang="pl-PL" sz="2800" dirty="0"/>
              <a:t>, w</a:t>
            </a:r>
            <a:r>
              <a:rPr lang="pl-PL" sz="2800" baseline="-25000" dirty="0"/>
              <a:t>1</a:t>
            </a:r>
            <a:r>
              <a:rPr lang="pl-PL" sz="2800" dirty="0"/>
              <a:t> =</a:t>
            </a:r>
            <a:r>
              <a:rPr lang="en-US" sz="2800" dirty="0"/>
              <a:t> 54</a:t>
            </a:r>
            <a:r>
              <a:rPr lang="pl-PL" sz="2800" dirty="0"/>
              <a:t>, w</a:t>
            </a:r>
            <a:r>
              <a:rPr lang="pl-PL" sz="2800" baseline="-25000" dirty="0"/>
              <a:t>2</a:t>
            </a:r>
            <a:r>
              <a:rPr lang="pl-PL" sz="2800" dirty="0"/>
              <a:t> =</a:t>
            </a:r>
            <a:r>
              <a:rPr lang="en-US" sz="2800" dirty="0"/>
              <a:t> -87)</a:t>
            </a:r>
          </a:p>
          <a:p>
            <a:pPr lvl="1"/>
            <a:r>
              <a:rPr lang="pl-PL" dirty="0"/>
              <a:t>w</a:t>
            </a:r>
            <a:r>
              <a:rPr lang="pl-PL" baseline="-25000" dirty="0"/>
              <a:t>0</a:t>
            </a:r>
            <a:r>
              <a:rPr lang="pl-PL" dirty="0"/>
              <a:t> ← w</a:t>
            </a:r>
            <a:r>
              <a:rPr lang="pl-PL" baseline="-25000" dirty="0"/>
              <a:t>0</a:t>
            </a:r>
            <a:r>
              <a:rPr lang="pl-PL" dirty="0"/>
              <a:t> + 0.1 * 1 * </a:t>
            </a:r>
            <a:r>
              <a:rPr lang="en-US" sz="2400" dirty="0"/>
              <a:t>97.5 </a:t>
            </a:r>
            <a:r>
              <a:rPr lang="en-US" dirty="0"/>
              <a:t>= –13.75</a:t>
            </a:r>
            <a:endParaRPr lang="pl-PL" dirty="0"/>
          </a:p>
          <a:p>
            <a:pPr lvl="1"/>
            <a:r>
              <a:rPr lang="pl-PL" dirty="0"/>
              <a:t>w</a:t>
            </a:r>
            <a:r>
              <a:rPr lang="en-US" baseline="-25000" dirty="0"/>
              <a:t>1</a:t>
            </a:r>
            <a:r>
              <a:rPr lang="pl-PL" dirty="0"/>
              <a:t> ← w</a:t>
            </a:r>
            <a:r>
              <a:rPr lang="en-US" baseline="-25000" dirty="0"/>
              <a:t>1</a:t>
            </a:r>
            <a:r>
              <a:rPr lang="pl-PL" dirty="0"/>
              <a:t> + 0.1 * </a:t>
            </a:r>
            <a:r>
              <a:rPr lang="en-US" dirty="0"/>
              <a:t>0</a:t>
            </a:r>
            <a:r>
              <a:rPr lang="pl-PL" dirty="0"/>
              <a:t> * </a:t>
            </a:r>
            <a:r>
              <a:rPr lang="en-US" sz="2400" dirty="0"/>
              <a:t>97.5 </a:t>
            </a:r>
            <a:r>
              <a:rPr lang="en-US" dirty="0"/>
              <a:t>= 54</a:t>
            </a:r>
            <a:endParaRPr lang="pl-PL" dirty="0"/>
          </a:p>
          <a:p>
            <a:pPr lvl="1"/>
            <a:r>
              <a:rPr lang="pl-PL" dirty="0"/>
              <a:t>w</a:t>
            </a:r>
            <a:r>
              <a:rPr lang="en-US" baseline="-25000" dirty="0"/>
              <a:t>2</a:t>
            </a:r>
            <a:r>
              <a:rPr lang="pl-PL" dirty="0"/>
              <a:t> ← w</a:t>
            </a:r>
            <a:r>
              <a:rPr lang="en-US" baseline="-25000" dirty="0"/>
              <a:t>2</a:t>
            </a:r>
            <a:r>
              <a:rPr lang="pl-PL" dirty="0"/>
              <a:t> + 0.1 * 2 * </a:t>
            </a:r>
            <a:r>
              <a:rPr lang="en-US" sz="2400" dirty="0"/>
              <a:t>97.5 </a:t>
            </a:r>
            <a:r>
              <a:rPr lang="en-US" dirty="0"/>
              <a:t>= -67.5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251687" y="1447800"/>
          <a:ext cx="1600200" cy="1600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1333500" y="23241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08987" y="2743200"/>
            <a:ext cx="266700" cy="266700"/>
          </a:xfrm>
          <a:prstGeom prst="ellipse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099287" y="3048000"/>
            <a:ext cx="2024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V’(b</a:t>
            </a:r>
            <a:r>
              <a:rPr lang="en-US" sz="2400" baseline="-25000" dirty="0"/>
              <a:t>6</a:t>
            </a:r>
            <a:r>
              <a:rPr lang="en-US" sz="2400" dirty="0"/>
              <a:t>) = -197.5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429000" y="1371600"/>
            <a:ext cx="5257800" cy="1066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en-US" sz="2800" dirty="0"/>
              <a:t>Final board state: </a:t>
            </a:r>
            <a:br>
              <a:rPr lang="en-US" sz="2800"/>
            </a:br>
            <a:r>
              <a:rPr lang="en-US" sz="2800"/>
              <a:t>blue </a:t>
            </a:r>
            <a:r>
              <a:rPr lang="en-US" sz="2800" dirty="0"/>
              <a:t>won V(b)=-100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Play blue</a:t>
            </a:r>
          </a:p>
          <a:p>
            <a:r>
              <a:rPr lang="en-US" dirty="0"/>
              <a:t>Red first</a:t>
            </a:r>
          </a:p>
          <a:p>
            <a:endParaRPr lang="en-US" dirty="0"/>
          </a:p>
          <a:p>
            <a:r>
              <a:rPr lang="en-US" dirty="0"/>
              <a:t>For all legal moves:</a:t>
            </a:r>
          </a:p>
          <a:p>
            <a:pPr lvl="1"/>
            <a:r>
              <a:rPr lang="en-US" dirty="0"/>
              <a:t>simulate that move</a:t>
            </a:r>
          </a:p>
          <a:p>
            <a:pPr lvl="1"/>
            <a:r>
              <a:rPr lang="en-US" dirty="0"/>
              <a:t>check the value of the result</a:t>
            </a:r>
          </a:p>
          <a:p>
            <a:r>
              <a:rPr lang="en-US" dirty="0"/>
              <a:t>Pick the best move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work 1:Tic-Tae-Toe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Determine the target function for playing Tic-Tae-Toe and never lose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3198"/>
              </p:ext>
            </p:extLst>
          </p:nvPr>
        </p:nvGraphicFramePr>
        <p:xfrm>
          <a:off x="3151647" y="2590800"/>
          <a:ext cx="2868153" cy="2840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6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6716"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716"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5400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716">
                <a:tc>
                  <a:txBody>
                    <a:bodyPr/>
                    <a:lstStyle/>
                    <a:p>
                      <a:pPr algn="ctr"/>
                      <a:endParaRPr lang="en-US" sz="5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9737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ntroduction to Machine Learning&amp;quot;&quot;/&gt;&lt;property id=&quot;20307&quot; value=&quot;256&quot;/&gt;&lt;/object&gt;&lt;object type=&quot;3&quot; unique_id=&quot;10018&quot;&gt;&lt;property id=&quot;20148&quot; value=&quot;5&quot;/&gt;&lt;property id=&quot;20300&quot; value=&quot;Slide 6 - &amp;quot;Well Posed Learning Problems&amp;quot;&quot;/&gt;&lt;property id=&quot;20307&quot; value=&quot;259&quot;/&gt;&lt;/object&gt;&lt;object type=&quot;3&quot; unique_id=&quot;10019&quot;&gt;&lt;property id=&quot;20148&quot; value=&quot;5&quot;/&gt;&lt;property id=&quot;20300&quot; value=&quot;Slide 8 - &amp;quot;Learning to play checkers&amp;quot;&quot;/&gt;&lt;property id=&quot;20307&quot; value=&quot;258&quot;/&gt;&lt;/object&gt;&lt;object type=&quot;3&quot; unique_id=&quot;10020&quot;&gt;&lt;property id=&quot;20148&quot; value=&quot;5&quot;/&gt;&lt;property id=&quot;20300&quot; value=&quot;Slide 9 - &amp;quot;Designing a Learning System&amp;quot;&quot;/&gt;&lt;property id=&quot;20307&quot; value=&quot;260&quot;/&gt;&lt;/object&gt;&lt;object type=&quot;3&quot; unique_id=&quot;10077&quot;&gt;&lt;property id=&quot;20148&quot; value=&quot;5&quot;/&gt;&lt;property id=&quot;20300&quot; value=&quot;Slide 2 - &amp;quot;What is Machine Learning?&amp;quot;&quot;/&gt;&lt;property id=&quot;20307&quot; value=&quot;262&quot;/&gt;&lt;/object&gt;&lt;object type=&quot;3&quot; unique_id=&quot;10078&quot;&gt;&lt;property id=&quot;20148&quot; value=&quot;5&quot;/&gt;&lt;property id=&quot;20300&quot; value=&quot;Slide 3 - &amp;quot;Why use Machine Learning?&amp;quot;&quot;/&gt;&lt;property id=&quot;20307&quot; value=&quot;263&quot;/&gt;&lt;/object&gt;&lt;object type=&quot;3&quot; unique_id=&quot;10079&quot;&gt;&lt;property id=&quot;20148&quot; value=&quot;5&quot;/&gt;&lt;property id=&quot;20300&quot; value=&quot;Slide 4 - &amp;quot;When to use Machine Learning?&amp;quot;&quot;/&gt;&lt;property id=&quot;20307&quot; value=&quot;264&quot;/&gt;&lt;/object&gt;&lt;object type=&quot;3&quot; unique_id=&quot;10080&quot;&gt;&lt;property id=&quot;20148&quot; value=&quot;5&quot;/&gt;&lt;property id=&quot;20300&quot; value=&quot;Slide 5 - &amp;quot;Applications of Machine Learning&amp;quot;&quot;/&gt;&lt;property id=&quot;20307&quot; value=&quot;265&quot;/&gt;&lt;/object&gt;&lt;object type=&quot;3&quot; unique_id=&quot;10081&quot;&gt;&lt;property id=&quot;20148&quot; value=&quot;5&quot;/&gt;&lt;property id=&quot;20300&quot; value=&quot;Slide 7 - &amp;quot;Well Posed Learning Problems&amp;quot;&quot;/&gt;&lt;property id=&quot;20307&quot; value=&quot;261&quot;/&gt;&lt;/object&gt;&lt;object type=&quot;3&quot; unique_id=&quot;10274&quot;&gt;&lt;property id=&quot;20148&quot; value=&quot;5&quot;/&gt;&lt;property id=&quot;20300&quot; value=&quot;Slide 10 - &amp;quot;Choose the training experience&amp;quot;&quot;/&gt;&lt;property id=&quot;20307&quot; value=&quot;266&quot;/&gt;&lt;/object&gt;&lt;object type=&quot;3&quot; unique_id=&quot;10275&quot;&gt;&lt;property id=&quot;20148&quot; value=&quot;5&quot;/&gt;&lt;property id=&quot;20300&quot; value=&quot;Slide 11 - &amp;quot;Direct or indirect?&amp;quot;&quot;/&gt;&lt;property id=&quot;20307&quot; value=&quot;267&quot;/&gt;&lt;/object&gt;&lt;object type=&quot;3&quot; unique_id=&quot;10276&quot;&gt;&lt;property id=&quot;20148&quot; value=&quot;5&quot;/&gt;&lt;property id=&quot;20300&quot; value=&quot;Slide 12 - &amp;quot;Direct or indirect?&amp;quot;&quot;/&gt;&lt;property id=&quot;20307&quot; value=&quot;269&quot;/&gt;&lt;/object&gt;&lt;object type=&quot;3&quot; unique_id=&quot;10277&quot;&gt;&lt;property id=&quot;20148&quot; value=&quot;5&quot;/&gt;&lt;property id=&quot;20300&quot; value=&quot;Slide 13 - &amp;quot;Choose the target function&amp;quot;&quot;/&gt;&lt;property id=&quot;20307&quot; value=&quot;268&quot;/&gt;&lt;/object&gt;&lt;object type=&quot;3&quot; unique_id=&quot;10278&quot;&gt;&lt;property id=&quot;20148&quot; value=&quot;5&quot;/&gt;&lt;property id=&quot;20300&quot; value=&quot;Slide 14 - &amp;quot;ChooseMove or Evalute?&amp;quot;&quot;/&gt;&lt;property id=&quot;20307&quot; value=&quot;270&quot;/&gt;&lt;/object&gt;&lt;object type=&quot;3&quot; unique_id=&quot;10279&quot;&gt;&lt;property id=&quot;20148&quot; value=&quot;5&quot;/&gt;&lt;property id=&quot;20300&quot; value=&quot;Slide 15 - &amp;quot;ChooseMove or Evalute?&amp;quot;&quot;/&gt;&lt;property id=&quot;20307&quot; value=&quot;271&quot;/&gt;&lt;/object&gt;&lt;object type=&quot;3&quot; unique_id=&quot;10280&quot;&gt;&lt;property id=&quot;20148&quot; value=&quot;5&quot;/&gt;&lt;property id=&quot;20300&quot; value=&quot;Slide 23 - &amp;quot;Summary&amp;quot;&quot;/&gt;&lt;property id=&quot;20307&quot; value=&quot;273&quot;/&gt;&lt;/object&gt;&lt;object type=&quot;3&quot; unique_id=&quot;10281&quot;&gt;&lt;property id=&quot;20148&quot; value=&quot;5&quot;/&gt;&lt;property id=&quot;20300&quot; value=&quot;Slide 16 - &amp;quot;Define the target function&amp;quot;&quot;/&gt;&lt;property id=&quot;20307&quot; value=&quot;272&quot;/&gt;&lt;/object&gt;&lt;object type=&quot;3&quot; unique_id=&quot;10282&quot;&gt;&lt;property id=&quot;20148&quot; value=&quot;5&quot;/&gt;&lt;property id=&quot;20300&quot; value=&quot;Slide 17 - &amp;quot;Final Board States&amp;quot;&quot;/&gt;&lt;property id=&quot;20307&quot; value=&quot;274&quot;/&gt;&lt;/object&gt;&lt;object type=&quot;3&quot; unique_id=&quot;10283&quot;&gt;&lt;property id=&quot;20148&quot; value=&quot;5&quot;/&gt;&lt;property id=&quot;20300&quot; value=&quot;Slide 18 - &amp;quot;Final Board States&amp;quot;&quot;/&gt;&lt;property id=&quot;20307&quot; value=&quot;275&quot;/&gt;&lt;/object&gt;&lt;object type=&quot;3&quot; unique_id=&quot;10284&quot;&gt;&lt;property id=&quot;20148&quot; value=&quot;5&quot;/&gt;&lt;property id=&quot;20300&quot; value=&quot;Slide 19 - &amp;quot;Final Board States&amp;quot;&quot;/&gt;&lt;property id=&quot;20307&quot; value=&quot;276&quot;/&gt;&lt;/object&gt;&lt;object type=&quot;3&quot; unique_id=&quot;10285&quot;&gt;&lt;property id=&quot;20148&quot; value=&quot;5&quot;/&gt;&lt;property id=&quot;20300&quot; value=&quot;Slide 20 - &amp;quot;Choose a representation for the target function&amp;quot;&quot;/&gt;&lt;property id=&quot;20307&quot; value=&quot;277&quot;/&gt;&lt;/object&gt;&lt;object type=&quot;3&quot; unique_id=&quot;10358&quot;&gt;&lt;property id=&quot;20148&quot; value=&quot;5&quot;/&gt;&lt;property id=&quot;20300&quot; value=&quot;Slide 21 - &amp;quot;Representation of Target Function&amp;quot;&quot;/&gt;&lt;property id=&quot;20307&quot; value=&quot;278&quot;/&gt;&lt;/object&gt;&lt;object type=&quot;3&quot; unique_id=&quot;10434&quot;&gt;&lt;property id=&quot;20148&quot; value=&quot;5&quot;/&gt;&lt;property id=&quot;20300&quot; value=&quot;Slide 22 - &amp;quot;Choose a function approximation algorithm&amp;quot;&quot;/&gt;&lt;property id=&quot;20307&quot; value=&quot;279&quot;/&gt;&lt;/object&gt;&lt;object type=&quot;3&quot; unique_id=&quot;10539&quot;&gt;&lt;property id=&quot;20148&quot; value=&quot;5&quot;/&gt;&lt;property id=&quot;20300&quot; value=&quot;Slide 24 - &amp;quot;Learning&amp;quot;&quot;/&gt;&lt;property id=&quot;20307&quot; value=&quot;280&quot;/&gt;&lt;/object&gt;&lt;object type=&quot;3&quot; unique_id=&quot;10540&quot;&gt;&lt;property id=&quot;20148&quot; value=&quot;5&quot;/&gt;&lt;property id=&quot;20300&quot; value=&quot;Slide 25 - &amp;quot;Learning&amp;quot;&quot;/&gt;&lt;property id=&quot;20307&quot; value=&quot;281&quot;/&gt;&lt;/object&gt;&lt;object type=&quot;3&quot; unique_id=&quot;10653&quot;&gt;&lt;property id=&quot;20148&quot; value=&quot;5&quot;/&gt;&lt;property id=&quot;20300&quot; value=&quot;Slide 26 - &amp;quot;Learning&amp;quot;&quot;/&gt;&lt;property id=&quot;20307&quot; value=&quot;283&quot;/&gt;&lt;/object&gt;&lt;object type=&quot;3&quot; unique_id=&quot;10877&quot;&gt;&lt;property id=&quot;20148&quot; value=&quot;5&quot;/&gt;&lt;property id=&quot;20300&quot; value=&quot;Slide 27 - &amp;quot;Learning&amp;quot;&quot;/&gt;&lt;property id=&quot;20307&quot; value=&quot;284&quot;/&gt;&lt;/object&gt;&lt;object type=&quot;3&quot; unique_id=&quot;10878&quot;&gt;&lt;property id=&quot;20148&quot; value=&quot;5&quot;/&gt;&lt;property id=&quot;20300&quot; value=&quot;Slide 28 - &amp;quot;Learning&amp;quot;&quot;/&gt;&lt;property id=&quot;20307&quot; value=&quot;285&quot;/&gt;&lt;/object&gt;&lt;object type=&quot;3&quot; unique_id=&quot;10879&quot;&gt;&lt;property id=&quot;20148&quot; value=&quot;5&quot;/&gt;&lt;property id=&quot;20300&quot; value=&quot;Slide 29 - &amp;quot;Learning&amp;quot;&quot;/&gt;&lt;property id=&quot;20307&quot; value=&quot;286&quot;/&gt;&lt;/object&gt;&lt;object type=&quot;3&quot; unique_id=&quot;10880&quot;&gt;&lt;property id=&quot;20148&quot; value=&quot;5&quot;/&gt;&lt;property id=&quot;20300&quot; value=&quot;Slide 30 - &amp;quot;Learning&amp;quot;&quot;/&gt;&lt;property id=&quot;20307&quot; value=&quot;287&quot;/&gt;&lt;/object&gt;&lt;object type=&quot;3&quot; unique_id=&quot;10981&quot;&gt;&lt;property id=&quot;20148&quot; value=&quot;5&quot;/&gt;&lt;property id=&quot;20300&quot; value=&quot;Slide 31 - &amp;quot;Testing&amp;quot;&quot;/&gt;&lt;property id=&quot;20307&quot; value=&quot;288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CC222B-0897-4DE1-8051-9E804371032C}"/>
</file>

<file path=customXml/itemProps2.xml><?xml version="1.0" encoding="utf-8"?>
<ds:datastoreItem xmlns:ds="http://schemas.openxmlformats.org/officeDocument/2006/customXml" ds:itemID="{0464C2D8-74FC-4E0D-9DD5-35260160C130}"/>
</file>

<file path=customXml/itemProps3.xml><?xml version="1.0" encoding="utf-8"?>
<ds:datastoreItem xmlns:ds="http://schemas.openxmlformats.org/officeDocument/2006/customXml" ds:itemID="{18403F51-AF4D-41CE-9629-F9AAC61BA881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579</TotalTime>
  <Words>1522</Words>
  <Application>Microsoft Office PowerPoint</Application>
  <PresentationFormat>On-screen Show (4:3)</PresentationFormat>
  <Paragraphs>262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Bookman Old Style</vt:lpstr>
      <vt:lpstr>Calibri</vt:lpstr>
      <vt:lpstr>Gill Sans MT</vt:lpstr>
      <vt:lpstr>Wingdings</vt:lpstr>
      <vt:lpstr>Wingdings 3</vt:lpstr>
      <vt:lpstr>Origin</vt:lpstr>
      <vt:lpstr>Introduction to Machine Learning</vt:lpstr>
      <vt:lpstr>Course details</vt:lpstr>
      <vt:lpstr>Scoring</vt:lpstr>
      <vt:lpstr>Reference Books</vt:lpstr>
      <vt:lpstr>What is Machine Learning?</vt:lpstr>
      <vt:lpstr>Why use Machine Learning?</vt:lpstr>
      <vt:lpstr>When to use Machine Learning?</vt:lpstr>
      <vt:lpstr>Applications of Machine Learning</vt:lpstr>
      <vt:lpstr>Well Posed Learning Problems</vt:lpstr>
      <vt:lpstr>Well Posed Learning Problems</vt:lpstr>
      <vt:lpstr>Learning to play checkers</vt:lpstr>
      <vt:lpstr>Designing a Learning System</vt:lpstr>
      <vt:lpstr>Choose the training experience</vt:lpstr>
      <vt:lpstr>Direct or indirect?</vt:lpstr>
      <vt:lpstr>Direct or indirect?</vt:lpstr>
      <vt:lpstr>Choose the target function</vt:lpstr>
      <vt:lpstr>ChooseMove or Evalute?</vt:lpstr>
      <vt:lpstr>ChooseMove or Evalute?</vt:lpstr>
      <vt:lpstr>Define the target function</vt:lpstr>
      <vt:lpstr>Final Board States</vt:lpstr>
      <vt:lpstr>Final Board States</vt:lpstr>
      <vt:lpstr>Final Board States</vt:lpstr>
      <vt:lpstr>Choose a representation for the target function</vt:lpstr>
      <vt:lpstr>Representation of Target Function</vt:lpstr>
      <vt:lpstr>Choose a function approximation algorithm</vt:lpstr>
      <vt:lpstr>Summary</vt:lpstr>
      <vt:lpstr>Learning</vt:lpstr>
      <vt:lpstr>Learning</vt:lpstr>
      <vt:lpstr>Learning</vt:lpstr>
      <vt:lpstr>Learning</vt:lpstr>
      <vt:lpstr>Learning</vt:lpstr>
      <vt:lpstr>Learning</vt:lpstr>
      <vt:lpstr>Learning</vt:lpstr>
      <vt:lpstr>Testing</vt:lpstr>
      <vt:lpstr>Class work 1:Tic-Tae-Toe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TON</dc:creator>
  <cp:lastModifiedBy>Parinya Sanguansat</cp:lastModifiedBy>
  <cp:revision>55</cp:revision>
  <dcterms:created xsi:type="dcterms:W3CDTF">2009-05-17T17:28:06Z</dcterms:created>
  <dcterms:modified xsi:type="dcterms:W3CDTF">2025-12-08T07:08:03Z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
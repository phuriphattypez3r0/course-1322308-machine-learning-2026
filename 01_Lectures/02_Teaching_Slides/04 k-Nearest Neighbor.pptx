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notesSlides/notesSlide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262" r:id="rId3"/>
    <p:sldId id="273" r:id="rId4"/>
    <p:sldId id="257" r:id="rId5"/>
    <p:sldId id="258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59" r:id="rId15"/>
    <p:sldId id="269" r:id="rId16"/>
    <p:sldId id="270" r:id="rId17"/>
    <p:sldId id="271" r:id="rId18"/>
    <p:sldId id="272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60" y="2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openxmlformats.org/officeDocument/2006/relationships/customXml" Target="../customXml/item3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E89BEC-015C-4A97-B6A3-346A00296886}" type="datetimeFigureOut">
              <a:rPr lang="th-TH" smtClean="0"/>
              <a:t>22/12/58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80C027-4278-4AE7-955A-8474A000B74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30742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255C64-7095-41D6-A5BD-262426DA6D1C}" type="slidenum">
              <a:rPr lang="th-TH" smtClean="0"/>
              <a:t>8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813676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255C64-7095-41D6-A5BD-262426DA6D1C}" type="slidenum">
              <a:rPr lang="th-TH" smtClean="0"/>
              <a:t>9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225307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255C64-7095-41D6-A5BD-262426DA6D1C}" type="slidenum">
              <a:rPr lang="th-TH" smtClean="0"/>
              <a:t>10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5170023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255C64-7095-41D6-A5BD-262426DA6D1C}" type="slidenum">
              <a:rPr lang="th-TH" smtClean="0"/>
              <a:t>11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0898085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255C64-7095-41D6-A5BD-262426DA6D1C}" type="slidenum">
              <a:rPr lang="th-TH" smtClean="0"/>
              <a:t>12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0983320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255C64-7095-41D6-A5BD-262426DA6D1C}" type="slidenum">
              <a:rPr lang="th-TH" smtClean="0"/>
              <a:t>13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736977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1D8BD707-D9CF-40AE-B4C6-C98DA3205C09}" type="datetimeFigureOut">
              <a:rPr lang="en-US" smtClean="0"/>
              <a:pPr/>
              <a:t>12/22/2015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12/22/2015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12/22/2015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5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7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8.wmf"/><Relationship Id="rId4" Type="http://schemas.openxmlformats.org/officeDocument/2006/relationships/oleObject" Target="../embeddings/oleObject4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6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7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8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4.png"/><Relationship Id="rId5" Type="http://schemas.openxmlformats.org/officeDocument/2006/relationships/image" Target="../media/image13.wmf"/><Relationship Id="rId4" Type="http://schemas.openxmlformats.org/officeDocument/2006/relationships/oleObject" Target="../embeddings/oleObject9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6.w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k-Nearest Neighbors</a:t>
            </a:r>
            <a:endParaRPr lang="th-TH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Parinya</a:t>
            </a:r>
            <a:r>
              <a:rPr lang="en-US" dirty="0" smtClean="0"/>
              <a:t> </a:t>
            </a:r>
            <a:r>
              <a:rPr lang="en-US" dirty="0" err="1" smtClean="0"/>
              <a:t>Sanguansat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38046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Look up Table</a:t>
            </a:r>
            <a:endParaRPr lang="th-TH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695244980"/>
              </p:ext>
            </p:extLst>
          </p:nvPr>
        </p:nvGraphicFramePr>
        <p:xfrm>
          <a:off x="838200" y="1849067"/>
          <a:ext cx="4495800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4013"/>
                <a:gridCol w="2271787"/>
              </a:tblGrid>
              <a:tr h="5588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n</a:t>
                      </a:r>
                      <a:endParaRPr lang="en-US" sz="2800" dirty="0">
                        <a:effectLst/>
                        <a:latin typeface="TH SarabunPSK"/>
                        <a:ea typeface="TH SarabunPSK"/>
                        <a:cs typeface="Cordia New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log(n)</a:t>
                      </a:r>
                      <a:endParaRPr lang="en-US" sz="2800">
                        <a:effectLst/>
                        <a:latin typeface="TH SarabunPSK"/>
                        <a:ea typeface="TH SarabunPSK"/>
                        <a:cs typeface="Cordia New"/>
                      </a:endParaRPr>
                    </a:p>
                  </a:txBody>
                  <a:tcPr marL="68580" marR="68580" marT="0" marB="0"/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1.00</a:t>
                      </a:r>
                      <a:endParaRPr lang="en-US" sz="2800" dirty="0">
                        <a:effectLst/>
                        <a:latin typeface="TH SarabunPSK"/>
                        <a:ea typeface="TH SarabunPSK"/>
                        <a:cs typeface="Cordia New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0.00000000</a:t>
                      </a:r>
                      <a:endParaRPr lang="en-US" sz="2800" dirty="0">
                        <a:effectLst/>
                        <a:latin typeface="TH SarabunPSK"/>
                        <a:ea typeface="TH SarabunPSK"/>
                        <a:cs typeface="Cordia New"/>
                      </a:endParaRPr>
                    </a:p>
                  </a:txBody>
                  <a:tcPr marL="68580" marR="68580" marT="0" marB="0"/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1.01</a:t>
                      </a:r>
                      <a:endParaRPr lang="en-US" sz="2800">
                        <a:effectLst/>
                        <a:latin typeface="TH SarabunPSK"/>
                        <a:ea typeface="TH SarabunPSK"/>
                        <a:cs typeface="Cordia New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0.00432137</a:t>
                      </a:r>
                      <a:endParaRPr lang="en-US" sz="2800" dirty="0">
                        <a:effectLst/>
                        <a:latin typeface="TH SarabunPSK"/>
                        <a:ea typeface="TH SarabunPSK"/>
                        <a:cs typeface="Cordia New"/>
                      </a:endParaRPr>
                    </a:p>
                  </a:txBody>
                  <a:tcPr marL="68580" marR="68580" marT="0" marB="0"/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1.02</a:t>
                      </a:r>
                      <a:endParaRPr lang="en-US" sz="2800">
                        <a:effectLst/>
                        <a:latin typeface="TH SarabunPSK"/>
                        <a:ea typeface="TH SarabunPSK"/>
                        <a:cs typeface="Cordia New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0.00860017</a:t>
                      </a:r>
                      <a:endParaRPr lang="en-US" sz="2800" dirty="0">
                        <a:effectLst/>
                        <a:latin typeface="TH SarabunPSK"/>
                        <a:ea typeface="TH SarabunPSK"/>
                        <a:cs typeface="Cordia New"/>
                      </a:endParaRPr>
                    </a:p>
                  </a:txBody>
                  <a:tcPr marL="68580" marR="68580" marT="0" marB="0"/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1.03</a:t>
                      </a:r>
                      <a:endParaRPr lang="en-US" sz="2800">
                        <a:effectLst/>
                        <a:latin typeface="TH SarabunPSK"/>
                        <a:ea typeface="TH SarabunPSK"/>
                        <a:cs typeface="Cordia New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0.01283722</a:t>
                      </a:r>
                      <a:endParaRPr lang="en-US" sz="2800" dirty="0">
                        <a:effectLst/>
                        <a:latin typeface="TH SarabunPSK"/>
                        <a:ea typeface="TH SarabunPSK"/>
                        <a:cs typeface="Cordia New"/>
                      </a:endParaRPr>
                    </a:p>
                  </a:txBody>
                  <a:tcPr marL="68580" marR="68580" marT="0" marB="0"/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1.04</a:t>
                      </a:r>
                      <a:endParaRPr lang="en-US" sz="2800">
                        <a:effectLst/>
                        <a:latin typeface="TH SarabunPSK"/>
                        <a:ea typeface="TH SarabunPSK"/>
                        <a:cs typeface="Cordia New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0.01703334</a:t>
                      </a:r>
                      <a:endParaRPr lang="en-US" sz="2800" dirty="0">
                        <a:effectLst/>
                        <a:latin typeface="TH SarabunPSK"/>
                        <a:ea typeface="TH SarabunPSK"/>
                        <a:cs typeface="Cordia New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0" y="2832970"/>
            <a:ext cx="217239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log(1.01) = ?</a:t>
            </a:r>
          </a:p>
          <a:p>
            <a:r>
              <a:rPr lang="en-US" sz="2800" dirty="0" smtClean="0"/>
              <a:t>log(1.03) = ?</a:t>
            </a:r>
          </a:p>
          <a:p>
            <a:r>
              <a:rPr lang="en-US" sz="2800" dirty="0" smtClean="0"/>
              <a:t>log(1.035) = ?</a:t>
            </a:r>
            <a:endParaRPr lang="th-TH" sz="2800" dirty="0"/>
          </a:p>
        </p:txBody>
      </p:sp>
      <p:sp>
        <p:nvSpPr>
          <p:cNvPr id="6" name="Oval 5"/>
          <p:cNvSpPr/>
          <p:nvPr/>
        </p:nvSpPr>
        <p:spPr>
          <a:xfrm>
            <a:off x="5867400" y="3657600"/>
            <a:ext cx="2362200" cy="56036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7" name="Explosion 1 6"/>
          <p:cNvSpPr/>
          <p:nvPr/>
        </p:nvSpPr>
        <p:spPr>
          <a:xfrm>
            <a:off x="5181600" y="4495800"/>
            <a:ext cx="3810000" cy="1371600"/>
          </a:xfrm>
          <a:prstGeom prst="irregularSeal1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rgbClr val="FF0000"/>
                </a:solidFill>
              </a:rPr>
              <a:t>Interpolation?</a:t>
            </a:r>
            <a:endParaRPr lang="th-TH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0016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Iris Classification</a:t>
            </a:r>
            <a:endParaRPr lang="th-TH" dirty="0"/>
          </a:p>
        </p:txBody>
      </p:sp>
      <p:pic>
        <p:nvPicPr>
          <p:cNvPr id="9218" name="Picture 2" descr="http://www.fs.fed.us/wildflowers/beauty/iris/Blue_Flag/images/iris_virginica_virginica_lg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971800"/>
            <a:ext cx="2761610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271125" y="2438400"/>
            <a:ext cx="981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Virginica</a:t>
            </a:r>
            <a:endParaRPr lang="th-TH" dirty="0"/>
          </a:p>
        </p:txBody>
      </p:sp>
      <p:pic>
        <p:nvPicPr>
          <p:cNvPr id="9220" name="Picture 4" descr="http://upload.wikimedia.org/wikipedia/commons/4/41/Iris_versicolor_3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2971800"/>
            <a:ext cx="2743200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4154693" y="2438400"/>
            <a:ext cx="1139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Versicolor</a:t>
            </a:r>
            <a:endParaRPr lang="th-TH" dirty="0"/>
          </a:p>
        </p:txBody>
      </p:sp>
      <p:pic>
        <p:nvPicPr>
          <p:cNvPr id="9222" name="Picture 6" descr="http://www.twofrog.com/images/iris38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6190" y="2971800"/>
            <a:ext cx="2514600" cy="2075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7168189" y="2438400"/>
            <a:ext cx="790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Setosa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603688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Sample Space</a:t>
            </a:r>
            <a:endParaRPr lang="th-TH" dirty="0"/>
          </a:p>
        </p:txBody>
      </p:sp>
      <p:sp>
        <p:nvSpPr>
          <p:cNvPr id="13" name="Oval 12"/>
          <p:cNvSpPr/>
          <p:nvPr/>
        </p:nvSpPr>
        <p:spPr>
          <a:xfrm>
            <a:off x="5562600" y="2706129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14" name="Oval 13"/>
          <p:cNvSpPr/>
          <p:nvPr/>
        </p:nvSpPr>
        <p:spPr>
          <a:xfrm>
            <a:off x="4893276" y="3396048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6</a:t>
            </a:r>
            <a:endParaRPr lang="en-US" dirty="0"/>
          </a:p>
        </p:txBody>
      </p:sp>
      <p:sp>
        <p:nvSpPr>
          <p:cNvPr id="15" name="Oval 14"/>
          <p:cNvSpPr/>
          <p:nvPr/>
        </p:nvSpPr>
        <p:spPr>
          <a:xfrm>
            <a:off x="4588476" y="3091248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16" name="Oval 15"/>
          <p:cNvSpPr/>
          <p:nvPr/>
        </p:nvSpPr>
        <p:spPr>
          <a:xfrm>
            <a:off x="3801762" y="3832654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17" name="Oval 16"/>
          <p:cNvSpPr/>
          <p:nvPr/>
        </p:nvSpPr>
        <p:spPr>
          <a:xfrm>
            <a:off x="3161270" y="4493741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18" name="Oval 17"/>
          <p:cNvSpPr/>
          <p:nvPr/>
        </p:nvSpPr>
        <p:spPr>
          <a:xfrm>
            <a:off x="4166287" y="4798541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19" name="Oval 18"/>
          <p:cNvSpPr/>
          <p:nvPr/>
        </p:nvSpPr>
        <p:spPr>
          <a:xfrm>
            <a:off x="3153032" y="3188043"/>
            <a:ext cx="304800" cy="304800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20" name="Oval 19"/>
          <p:cNvSpPr/>
          <p:nvPr/>
        </p:nvSpPr>
        <p:spPr>
          <a:xfrm>
            <a:off x="3954162" y="2572264"/>
            <a:ext cx="304800" cy="304800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21" name="Oval 20"/>
          <p:cNvSpPr/>
          <p:nvPr/>
        </p:nvSpPr>
        <p:spPr>
          <a:xfrm>
            <a:off x="3496962" y="2782329"/>
            <a:ext cx="304800" cy="304800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22" name="Oval 21"/>
          <p:cNvSpPr/>
          <p:nvPr/>
        </p:nvSpPr>
        <p:spPr>
          <a:xfrm>
            <a:off x="4100384" y="3538151"/>
            <a:ext cx="304800" cy="304800"/>
          </a:xfrm>
          <a:prstGeom prst="ellipse">
            <a:avLst/>
          </a:prstGeom>
          <a:solidFill>
            <a:schemeClr val="tx1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X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324600" y="4137454"/>
            <a:ext cx="2016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 belongs to class ?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916646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k-NN</a:t>
            </a:r>
            <a:endParaRPr lang="th-TH" dirty="0"/>
          </a:p>
        </p:txBody>
      </p:sp>
      <p:sp>
        <p:nvSpPr>
          <p:cNvPr id="13" name="Oval 12"/>
          <p:cNvSpPr/>
          <p:nvPr/>
        </p:nvSpPr>
        <p:spPr>
          <a:xfrm>
            <a:off x="5562600" y="2706129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14" name="Oval 13"/>
          <p:cNvSpPr/>
          <p:nvPr/>
        </p:nvSpPr>
        <p:spPr>
          <a:xfrm>
            <a:off x="4893276" y="3396048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6</a:t>
            </a:r>
            <a:endParaRPr lang="en-US" dirty="0"/>
          </a:p>
        </p:txBody>
      </p:sp>
      <p:sp>
        <p:nvSpPr>
          <p:cNvPr id="15" name="Oval 14"/>
          <p:cNvSpPr/>
          <p:nvPr/>
        </p:nvSpPr>
        <p:spPr>
          <a:xfrm>
            <a:off x="4588476" y="3091248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16" name="Oval 15"/>
          <p:cNvSpPr/>
          <p:nvPr/>
        </p:nvSpPr>
        <p:spPr>
          <a:xfrm>
            <a:off x="3801762" y="3832654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17" name="Oval 16"/>
          <p:cNvSpPr/>
          <p:nvPr/>
        </p:nvSpPr>
        <p:spPr>
          <a:xfrm>
            <a:off x="3161270" y="4493741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18" name="Oval 17"/>
          <p:cNvSpPr/>
          <p:nvPr/>
        </p:nvSpPr>
        <p:spPr>
          <a:xfrm>
            <a:off x="4166287" y="4798541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19" name="Oval 18"/>
          <p:cNvSpPr/>
          <p:nvPr/>
        </p:nvSpPr>
        <p:spPr>
          <a:xfrm>
            <a:off x="3153032" y="3188043"/>
            <a:ext cx="304800" cy="304800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20" name="Oval 19"/>
          <p:cNvSpPr/>
          <p:nvPr/>
        </p:nvSpPr>
        <p:spPr>
          <a:xfrm>
            <a:off x="3954162" y="2572264"/>
            <a:ext cx="304800" cy="304800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21" name="Oval 20"/>
          <p:cNvSpPr/>
          <p:nvPr/>
        </p:nvSpPr>
        <p:spPr>
          <a:xfrm>
            <a:off x="3496962" y="2782329"/>
            <a:ext cx="304800" cy="304800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22" name="Oval 21"/>
          <p:cNvSpPr/>
          <p:nvPr/>
        </p:nvSpPr>
        <p:spPr>
          <a:xfrm>
            <a:off x="4100384" y="3538151"/>
            <a:ext cx="304800" cy="304800"/>
          </a:xfrm>
          <a:prstGeom prst="ellipse">
            <a:avLst/>
          </a:prstGeom>
          <a:solidFill>
            <a:schemeClr val="tx1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X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Oval 2"/>
          <p:cNvSpPr/>
          <p:nvPr/>
        </p:nvSpPr>
        <p:spPr>
          <a:xfrm>
            <a:off x="3681284" y="3119051"/>
            <a:ext cx="1143000" cy="1143000"/>
          </a:xfrm>
          <a:prstGeom prst="ellips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3" name="Oval 22"/>
          <p:cNvSpPr/>
          <p:nvPr/>
        </p:nvSpPr>
        <p:spPr>
          <a:xfrm>
            <a:off x="3280976" y="2718743"/>
            <a:ext cx="1943615" cy="1943615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4" name="Oval 23"/>
          <p:cNvSpPr/>
          <p:nvPr/>
        </p:nvSpPr>
        <p:spPr>
          <a:xfrm>
            <a:off x="3017879" y="2455646"/>
            <a:ext cx="2469808" cy="2469808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TextBox 3"/>
          <p:cNvSpPr txBox="1"/>
          <p:nvPr/>
        </p:nvSpPr>
        <p:spPr>
          <a:xfrm>
            <a:off x="4318687" y="3883223"/>
            <a:ext cx="4651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k=1</a:t>
            </a:r>
            <a:endParaRPr lang="th-TH" sz="1400" dirty="0"/>
          </a:p>
        </p:txBody>
      </p:sp>
      <p:sp>
        <p:nvSpPr>
          <p:cNvPr id="25" name="TextBox 24"/>
          <p:cNvSpPr txBox="1"/>
          <p:nvPr/>
        </p:nvSpPr>
        <p:spPr>
          <a:xfrm>
            <a:off x="4564008" y="4191000"/>
            <a:ext cx="4651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k=3</a:t>
            </a:r>
            <a:endParaRPr lang="th-TH" sz="1400" dirty="0"/>
          </a:p>
        </p:txBody>
      </p:sp>
      <p:sp>
        <p:nvSpPr>
          <p:cNvPr id="26" name="TextBox 25"/>
          <p:cNvSpPr txBox="1"/>
          <p:nvPr/>
        </p:nvSpPr>
        <p:spPr>
          <a:xfrm>
            <a:off x="4953000" y="4572000"/>
            <a:ext cx="4651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k=6</a:t>
            </a:r>
            <a:endParaRPr lang="th-TH" sz="1400" dirty="0"/>
          </a:p>
        </p:txBody>
      </p:sp>
      <p:sp>
        <p:nvSpPr>
          <p:cNvPr id="27" name="TextBox 26"/>
          <p:cNvSpPr txBox="1"/>
          <p:nvPr/>
        </p:nvSpPr>
        <p:spPr>
          <a:xfrm>
            <a:off x="6172198" y="1532316"/>
            <a:ext cx="24699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k=1: X belongs to class ?</a:t>
            </a:r>
          </a:p>
          <a:p>
            <a:r>
              <a:rPr lang="en-US" dirty="0" smtClean="0"/>
              <a:t>k=3: </a:t>
            </a:r>
            <a:r>
              <a:rPr lang="en-US" dirty="0"/>
              <a:t>X belongs to class ?</a:t>
            </a:r>
          </a:p>
          <a:p>
            <a:r>
              <a:rPr lang="en-US" dirty="0" smtClean="0"/>
              <a:t>k=6: </a:t>
            </a:r>
            <a:r>
              <a:rPr lang="en-US" dirty="0"/>
              <a:t>X belongs to class 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471826" y="5562600"/>
            <a:ext cx="3700372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i="1" dirty="0" smtClean="0"/>
              <a:t>If k=1, we will call the nearest neighbor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290517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k-NN Procedure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Collect data</a:t>
            </a:r>
          </a:p>
          <a:p>
            <a:r>
              <a:rPr lang="en-US" dirty="0" smtClean="0"/>
              <a:t>Define the similarity measurement</a:t>
            </a:r>
          </a:p>
          <a:p>
            <a:endParaRPr lang="en-US" dirty="0" smtClean="0"/>
          </a:p>
          <a:p>
            <a:r>
              <a:rPr lang="en-US" dirty="0" smtClean="0"/>
              <a:t>Classify the new data by calculating the similarity from all collected data</a:t>
            </a:r>
          </a:p>
          <a:p>
            <a:r>
              <a:rPr lang="en-US" dirty="0" smtClean="0"/>
              <a:t>Find the most similar one in the collected data</a:t>
            </a:r>
          </a:p>
          <a:p>
            <a:r>
              <a:rPr lang="en-US" dirty="0" smtClean="0"/>
              <a:t>The class of the new data will be the same as the class of the most similar one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208313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Similarity Measurement</a:t>
            </a:r>
            <a:endParaRPr lang="th-T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𝑠𝑖𝑚𝑖𝑙𝑎𝑟𝑖𝑡𝑦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∝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𝑑𝑖𝑠𝑡𝑎𝑛𝑐𝑒</m:t>
                        </m:r>
                      </m:den>
                    </m:f>
                  </m:oMath>
                </a14:m>
                <a:endParaRPr lang="en-US" dirty="0" smtClean="0"/>
              </a:p>
              <a:p>
                <a:endParaRPr lang="en-US" dirty="0" smtClean="0"/>
              </a:p>
              <a:p>
                <a:r>
                  <a:rPr lang="en-US" dirty="0" smtClean="0"/>
                  <a:t>Build the vector space</a:t>
                </a:r>
              </a:p>
              <a:p>
                <a:pPr lvl="1"/>
                <a:r>
                  <a:rPr lang="en-US" dirty="0" smtClean="0"/>
                  <a:t>Numeric data: normalized or not</a:t>
                </a:r>
              </a:p>
              <a:p>
                <a:pPr lvl="1"/>
                <a:r>
                  <a:rPr lang="en-US" dirty="0" smtClean="0"/>
                  <a:t>Non-numeric data: try to represent by numeric (frequency, …)</a:t>
                </a:r>
              </a:p>
              <a:p>
                <a:pPr lvl="1"/>
                <a:endParaRPr lang="en-US" dirty="0"/>
              </a:p>
              <a:p>
                <a:r>
                  <a:rPr lang="en-US" dirty="0" smtClean="0"/>
                  <a:t>Distance in vector space is 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norm</a:t>
                </a:r>
              </a:p>
              <a:p>
                <a:endParaRPr lang="th-TH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r="-889"/>
                </a:stretch>
              </a:blipFill>
            </p:spPr>
            <p:txBody>
              <a:bodyPr/>
              <a:lstStyle/>
              <a:p>
                <a:r>
                  <a:rPr lang="th-T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9239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Vector Length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 2D/3D vectors, we can find the vector length by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Properties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dirty="0" smtClean="0"/>
              <a:t> 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dirty="0" smtClean="0"/>
              <a:t>Multiplying a vector by a positive scalar changes its length </a:t>
            </a:r>
            <a:r>
              <a:rPr lang="en-US" dirty="0" smtClean="0">
                <a:solidFill>
                  <a:srgbClr val="FF0000"/>
                </a:solidFill>
              </a:rPr>
              <a:t>without changing its direction</a:t>
            </a:r>
            <a:r>
              <a:rPr lang="en-US" dirty="0" smtClean="0"/>
              <a:t>. 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dirty="0" smtClean="0"/>
              <a:t>The </a:t>
            </a:r>
            <a:r>
              <a:rPr lang="en-US" dirty="0" smtClean="0">
                <a:solidFill>
                  <a:srgbClr val="00B0F0"/>
                </a:solidFill>
              </a:rPr>
              <a:t>triangle inequality</a:t>
            </a:r>
            <a:endParaRPr lang="en-US" dirty="0" smtClean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3110345" y="1981200"/>
          <a:ext cx="268085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0" name="Equation" r:id="rId4" imgW="1091880" imgH="279360" progId="Equation.DSMT4">
                  <p:embed/>
                </p:oleObj>
              </mc:Choice>
              <mc:Fallback>
                <p:oleObj name="Equation" r:id="rId4" imgW="109188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0345" y="1981200"/>
                        <a:ext cx="2680855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3"/>
          <p:cNvGraphicFramePr>
            <a:graphicFrameLocks noChangeAspect="1"/>
          </p:cNvGraphicFramePr>
          <p:nvPr/>
        </p:nvGraphicFramePr>
        <p:xfrm>
          <a:off x="1219200" y="3221037"/>
          <a:ext cx="841375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1" name="Equation" r:id="rId6" imgW="342720" imgH="177480" progId="Equation.DSMT4">
                  <p:embed/>
                </p:oleObj>
              </mc:Choice>
              <mc:Fallback>
                <p:oleObj name="Equation" r:id="rId6" imgW="3427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221037"/>
                        <a:ext cx="841375" cy="436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4"/>
          <p:cNvGraphicFramePr>
            <a:graphicFrameLocks noChangeAspect="1"/>
          </p:cNvGraphicFramePr>
          <p:nvPr/>
        </p:nvGraphicFramePr>
        <p:xfrm>
          <a:off x="3200400" y="5029200"/>
          <a:ext cx="271145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2" name="Equation" r:id="rId8" imgW="1104840" imgH="279360" progId="Equation.DSMT4">
                  <p:embed/>
                </p:oleObj>
              </mc:Choice>
              <mc:Fallback>
                <p:oleObj name="Equation" r:id="rId8" imgW="110484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5029200"/>
                        <a:ext cx="2711450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39728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generalization of vector length in </a:t>
            </a:r>
          </a:p>
          <a:p>
            <a:pPr lvl="1"/>
            <a:r>
              <a:rPr lang="en-US" dirty="0" smtClean="0"/>
              <a:t>More abstract, cannot illustrate if n &gt; 3</a:t>
            </a:r>
          </a:p>
          <a:p>
            <a:pPr lvl="1"/>
            <a:r>
              <a:rPr lang="en-US" dirty="0" smtClean="0"/>
              <a:t>Notation: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r>
              <a:rPr lang="en-US" dirty="0" smtClean="0"/>
              <a:t>A vector space on which a norm is defined is then called a </a:t>
            </a:r>
            <a:r>
              <a:rPr lang="en-US" dirty="0" err="1" smtClean="0">
                <a:solidFill>
                  <a:srgbClr val="00B0F0"/>
                </a:solidFill>
              </a:rPr>
              <a:t>normed</a:t>
            </a:r>
            <a:r>
              <a:rPr lang="en-US" dirty="0" smtClean="0">
                <a:solidFill>
                  <a:srgbClr val="00B0F0"/>
                </a:solidFill>
              </a:rPr>
              <a:t> vector space</a:t>
            </a:r>
            <a:r>
              <a:rPr lang="en-US" dirty="0" smtClean="0"/>
              <a:t>.</a:t>
            </a:r>
            <a:endParaRPr lang="en-US" dirty="0"/>
          </a:p>
        </p:txBody>
      </p:sp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5903913" y="1249363"/>
          <a:ext cx="40481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Equation" r:id="rId4" imgW="203040" imgH="190440" progId="Equation.DSMT4">
                  <p:embed/>
                </p:oleObj>
              </mc:Choice>
              <mc:Fallback>
                <p:oleObj name="Equation" r:id="rId4" imgW="203040" imgH="190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3913" y="1249363"/>
                        <a:ext cx="404812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3"/>
          <p:cNvGraphicFramePr>
            <a:graphicFrameLocks noChangeAspect="1"/>
          </p:cNvGraphicFramePr>
          <p:nvPr/>
        </p:nvGraphicFramePr>
        <p:xfrm>
          <a:off x="2438401" y="2133600"/>
          <a:ext cx="314358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Equation" r:id="rId6" imgW="203040" imgH="253800" progId="Equation.DSMT4">
                  <p:embed/>
                </p:oleObj>
              </mc:Choice>
              <mc:Fallback>
                <p:oleObj name="Equation" r:id="rId6" imgW="20304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1" y="2133600"/>
                        <a:ext cx="314358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12521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L1-norm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Other names: Rectilinear/City block/Manhattan/Taxicab</a:t>
            </a:r>
            <a:endParaRPr lang="en-US" dirty="0"/>
          </a:p>
        </p:txBody>
      </p:sp>
      <p:graphicFrame>
        <p:nvGraphicFramePr>
          <p:cNvPr id="5122" name="Object 2"/>
          <p:cNvGraphicFramePr>
            <a:graphicFrameLocks noChangeAspect="1"/>
          </p:cNvGraphicFramePr>
          <p:nvPr/>
        </p:nvGraphicFramePr>
        <p:xfrm>
          <a:off x="2627313" y="2012950"/>
          <a:ext cx="3648075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" name="Equation" r:id="rId4" imgW="1485720" imgH="253800" progId="Equation.DSMT4">
                  <p:embed/>
                </p:oleObj>
              </mc:Choice>
              <mc:Fallback>
                <p:oleObj name="Equation" r:id="rId4" imgW="148572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2012950"/>
                        <a:ext cx="3648075" cy="622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/>
          <p:nvPr/>
        </p:nvSpPr>
        <p:spPr>
          <a:xfrm>
            <a:off x="1676400" y="3276600"/>
            <a:ext cx="381000" cy="381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209800" y="3276600"/>
            <a:ext cx="381000" cy="381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743200" y="3276600"/>
            <a:ext cx="381000" cy="381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676400" y="3810000"/>
            <a:ext cx="381000" cy="381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209800" y="3810000"/>
            <a:ext cx="381000" cy="381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676400" y="4343400"/>
            <a:ext cx="381000" cy="381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209800" y="4343400"/>
            <a:ext cx="381000" cy="381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743200" y="3810000"/>
            <a:ext cx="381000" cy="381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2743200" y="4343400"/>
            <a:ext cx="381000" cy="381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3276600" y="3276600"/>
            <a:ext cx="381000" cy="381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3276600" y="3810000"/>
            <a:ext cx="381000" cy="381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3276600" y="4343400"/>
            <a:ext cx="381000" cy="381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1676400" y="4876800"/>
            <a:ext cx="381000" cy="381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2209800" y="4876800"/>
            <a:ext cx="381000" cy="381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2743200" y="4876800"/>
            <a:ext cx="381000" cy="381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3276600" y="4876800"/>
            <a:ext cx="381000" cy="381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/>
          <p:cNvCxnSpPr/>
          <p:nvPr/>
        </p:nvCxnSpPr>
        <p:spPr>
          <a:xfrm rot="5400000">
            <a:off x="1066800" y="4267200"/>
            <a:ext cx="2133600" cy="158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2133600" y="5332412"/>
            <a:ext cx="1066800" cy="158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rot="5400000" flipH="1" flipV="1">
            <a:off x="4762897" y="4458097"/>
            <a:ext cx="3123406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4724400" y="4419600"/>
            <a:ext cx="32004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rot="5400000" flipH="1" flipV="1">
            <a:off x="5562600" y="3657600"/>
            <a:ext cx="762000" cy="762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rot="5400000" flipH="1" flipV="1">
            <a:off x="6324600" y="4419600"/>
            <a:ext cx="762000" cy="762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rot="16200000" flipV="1">
            <a:off x="6324600" y="3657600"/>
            <a:ext cx="762000" cy="762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rot="16200000" flipH="1">
            <a:off x="5562600" y="4419600"/>
            <a:ext cx="762000" cy="762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547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L2-norm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Other names: Euclidean</a:t>
            </a:r>
            <a:endParaRPr lang="en-US" dirty="0"/>
          </a:p>
        </p:txBody>
      </p:sp>
      <p:graphicFrame>
        <p:nvGraphicFramePr>
          <p:cNvPr id="5122" name="Object 2"/>
          <p:cNvGraphicFramePr>
            <a:graphicFrameLocks noChangeAspect="1"/>
          </p:cNvGraphicFramePr>
          <p:nvPr/>
        </p:nvGraphicFramePr>
        <p:xfrm>
          <a:off x="2222500" y="1919288"/>
          <a:ext cx="4459288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2" name="Equation" r:id="rId4" imgW="1815840" imgH="330120" progId="Equation.DSMT4">
                  <p:embed/>
                </p:oleObj>
              </mc:Choice>
              <mc:Fallback>
                <p:oleObj name="Equation" r:id="rId4" imgW="181584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2500" y="1919288"/>
                        <a:ext cx="4459288" cy="809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/>
          <p:nvPr/>
        </p:nvSpPr>
        <p:spPr>
          <a:xfrm>
            <a:off x="1676400" y="3276600"/>
            <a:ext cx="381000" cy="381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209800" y="3276600"/>
            <a:ext cx="381000" cy="381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743200" y="3276600"/>
            <a:ext cx="381000" cy="381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676400" y="3810000"/>
            <a:ext cx="381000" cy="381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209800" y="3810000"/>
            <a:ext cx="381000" cy="381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676400" y="4343400"/>
            <a:ext cx="381000" cy="381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209800" y="4343400"/>
            <a:ext cx="381000" cy="381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743200" y="3810000"/>
            <a:ext cx="381000" cy="381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2743200" y="4343400"/>
            <a:ext cx="381000" cy="381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3276600" y="3276600"/>
            <a:ext cx="381000" cy="381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3276600" y="3810000"/>
            <a:ext cx="381000" cy="381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3276600" y="4343400"/>
            <a:ext cx="381000" cy="381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1676400" y="4876800"/>
            <a:ext cx="381000" cy="381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2209800" y="4876800"/>
            <a:ext cx="381000" cy="381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2743200" y="4876800"/>
            <a:ext cx="381000" cy="381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3276600" y="4876800"/>
            <a:ext cx="381000" cy="381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/>
          <p:cNvCxnSpPr/>
          <p:nvPr/>
        </p:nvCxnSpPr>
        <p:spPr>
          <a:xfrm rot="16200000" flipH="1">
            <a:off x="1600200" y="3733800"/>
            <a:ext cx="2133600" cy="106680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rot="5400000" flipH="1" flipV="1">
            <a:off x="4762897" y="4458097"/>
            <a:ext cx="3123406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4724400" y="4419600"/>
            <a:ext cx="32004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5562600" y="3657600"/>
            <a:ext cx="1524000" cy="1524000"/>
          </a:xfrm>
          <a:prstGeom prst="ellipse">
            <a:avLst/>
          </a:prstGeom>
          <a:noFill/>
          <a:ln w="28575" cmpd="sng"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256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L∞-norm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Other names: Uniform/</a:t>
            </a:r>
            <a:r>
              <a:rPr lang="en-US" dirty="0" err="1" smtClean="0"/>
              <a:t>Supremum</a:t>
            </a:r>
            <a:r>
              <a:rPr lang="en-US" dirty="0" smtClean="0"/>
              <a:t>/</a:t>
            </a:r>
            <a:r>
              <a:rPr lang="en-US" dirty="0" err="1" smtClean="0"/>
              <a:t>Chebyshev</a:t>
            </a:r>
            <a:r>
              <a:rPr lang="en-US" dirty="0" smtClean="0"/>
              <a:t>/Infinity</a:t>
            </a:r>
            <a:endParaRPr lang="en-US" dirty="0"/>
          </a:p>
        </p:txBody>
      </p:sp>
      <p:cxnSp>
        <p:nvCxnSpPr>
          <p:cNvPr id="38" name="Straight Arrow Connector 37"/>
          <p:cNvCxnSpPr/>
          <p:nvPr/>
        </p:nvCxnSpPr>
        <p:spPr>
          <a:xfrm rot="5400000" flipH="1" flipV="1">
            <a:off x="4762897" y="4458097"/>
            <a:ext cx="3123406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4724400" y="4419600"/>
            <a:ext cx="32004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rot="5400000">
            <a:off x="4801791" y="4419997"/>
            <a:ext cx="1522412" cy="794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5562600" y="3657600"/>
            <a:ext cx="1600200" cy="158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5562600" y="5181600"/>
            <a:ext cx="1600200" cy="158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rot="5400000">
            <a:off x="6401196" y="4418409"/>
            <a:ext cx="1522412" cy="794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graphicFrame>
        <p:nvGraphicFramePr>
          <p:cNvPr id="8195" name="Object 3"/>
          <p:cNvGraphicFramePr>
            <a:graphicFrameLocks noChangeAspect="1"/>
          </p:cNvGraphicFramePr>
          <p:nvPr/>
        </p:nvGraphicFramePr>
        <p:xfrm>
          <a:off x="2316163" y="1982788"/>
          <a:ext cx="4271962" cy="68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6" name="Equation" r:id="rId4" imgW="1739880" imgH="279360" progId="Equation.DSMT4">
                  <p:embed/>
                </p:oleObj>
              </mc:Choice>
              <mc:Fallback>
                <p:oleObj name="Equation" r:id="rId4" imgW="173988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6163" y="1982788"/>
                        <a:ext cx="4271962" cy="684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Rectangle 39"/>
          <p:cNvSpPr/>
          <p:nvPr/>
        </p:nvSpPr>
        <p:spPr>
          <a:xfrm>
            <a:off x="1676400" y="3276600"/>
            <a:ext cx="381000" cy="381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2209800" y="3276600"/>
            <a:ext cx="381000" cy="381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2743200" y="3276600"/>
            <a:ext cx="381000" cy="381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1676400" y="3810000"/>
            <a:ext cx="381000" cy="381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2209800" y="3810000"/>
            <a:ext cx="381000" cy="381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1676400" y="4343400"/>
            <a:ext cx="381000" cy="381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2209800" y="4343400"/>
            <a:ext cx="381000" cy="381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2743200" y="3810000"/>
            <a:ext cx="381000" cy="381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2743200" y="4343400"/>
            <a:ext cx="381000" cy="381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3276600" y="3276600"/>
            <a:ext cx="381000" cy="381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3276600" y="3810000"/>
            <a:ext cx="381000" cy="381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3276600" y="4343400"/>
            <a:ext cx="381000" cy="381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1676400" y="4876800"/>
            <a:ext cx="381000" cy="381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/>
          <p:cNvSpPr/>
          <p:nvPr/>
        </p:nvSpPr>
        <p:spPr>
          <a:xfrm>
            <a:off x="2209800" y="4876800"/>
            <a:ext cx="381000" cy="381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2743200" y="4876800"/>
            <a:ext cx="381000" cy="381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3276600" y="4876800"/>
            <a:ext cx="381000" cy="381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Straight Connector 55"/>
          <p:cNvCxnSpPr/>
          <p:nvPr/>
        </p:nvCxnSpPr>
        <p:spPr>
          <a:xfrm rot="5400000">
            <a:off x="1066800" y="4267200"/>
            <a:ext cx="2133600" cy="158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7991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Lp</a:t>
            </a:r>
            <a:r>
              <a:rPr lang="en-US" dirty="0" smtClean="0"/>
              <a:t>-norm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Other names: p-norm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         P = 3/2				p=2/3</a:t>
            </a:r>
            <a:endParaRPr lang="en-US" dirty="0"/>
          </a:p>
        </p:txBody>
      </p:sp>
      <p:graphicFrame>
        <p:nvGraphicFramePr>
          <p:cNvPr id="5122" name="Object 2"/>
          <p:cNvGraphicFramePr>
            <a:graphicFrameLocks noChangeAspect="1"/>
          </p:cNvGraphicFramePr>
          <p:nvPr/>
        </p:nvGraphicFramePr>
        <p:xfrm>
          <a:off x="2160588" y="1905000"/>
          <a:ext cx="4584700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0" name="Equation" r:id="rId4" imgW="1866600" imgH="342720" progId="Equation.DSMT4">
                  <p:embed/>
                </p:oleObj>
              </mc:Choice>
              <mc:Fallback>
                <p:oleObj name="Equation" r:id="rId4" imgW="186660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0588" y="1905000"/>
                        <a:ext cx="4584700" cy="839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171" name="Picture 3" descr="C:\Users\TON\Desktop\Superellipse_rounded_diamond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295400" y="3505200"/>
            <a:ext cx="2667000" cy="2667000"/>
          </a:xfrm>
          <a:prstGeom prst="rect">
            <a:avLst/>
          </a:prstGeom>
          <a:noFill/>
        </p:spPr>
      </p:pic>
      <p:pic>
        <p:nvPicPr>
          <p:cNvPr id="7172" name="Picture 4" descr="C:\Users\TON\Desktop\340px-Astroid.svg.pn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181600" y="3581400"/>
            <a:ext cx="2514600" cy="2514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37058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Pros &amp; Cons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Pros: High accuracy, insensitive to outliers, no assumptions about </a:t>
            </a:r>
            <a:r>
              <a:rPr lang="en-US" dirty="0" smtClean="0"/>
              <a:t>data, no training required</a:t>
            </a:r>
            <a:endParaRPr lang="en-US" dirty="0"/>
          </a:p>
          <a:p>
            <a:r>
              <a:rPr lang="en-US" dirty="0"/>
              <a:t>Cons: Computationally expensive, requires a lot of memory</a:t>
            </a:r>
          </a:p>
          <a:p>
            <a:r>
              <a:rPr lang="en-US" dirty="0"/>
              <a:t>Works with: Numeric values, nominal values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150894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Condensed nearest neighbor (CNN)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Build prototype (sampling from the training set)</a:t>
            </a:r>
          </a:p>
          <a:p>
            <a:r>
              <a:rPr lang="en-US" dirty="0" smtClean="0"/>
              <a:t>Almost </a:t>
            </a:r>
            <a:r>
              <a:rPr lang="en-US" dirty="0"/>
              <a:t>as accurately </a:t>
            </a:r>
            <a:r>
              <a:rPr lang="en-US" dirty="0" smtClean="0"/>
              <a:t>as 1-NN</a:t>
            </a:r>
          </a:p>
          <a:p>
            <a:endParaRPr lang="en-US" dirty="0"/>
          </a:p>
          <a:p>
            <a:r>
              <a:rPr lang="en-US" dirty="0"/>
              <a:t>Given a training set X, CNN works iteratively: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dirty="0" smtClean="0"/>
              <a:t>Scan </a:t>
            </a:r>
            <a:r>
              <a:rPr lang="en-US" dirty="0"/>
              <a:t>all elements of X, looking for an element x whose nearest prototype from U has a different label than </a:t>
            </a:r>
            <a:r>
              <a:rPr lang="en-US" dirty="0" smtClean="0"/>
              <a:t>x</a:t>
            </a:r>
            <a:endParaRPr lang="en-US" dirty="0"/>
          </a:p>
          <a:p>
            <a:pPr marL="731520" lvl="1" indent="-457200">
              <a:buFont typeface="+mj-lt"/>
              <a:buAutoNum type="arabicPeriod"/>
            </a:pPr>
            <a:r>
              <a:rPr lang="en-US" dirty="0" smtClean="0"/>
              <a:t>Remove </a:t>
            </a:r>
            <a:r>
              <a:rPr lang="en-US" dirty="0"/>
              <a:t>x from X and add it to U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dirty="0" smtClean="0"/>
              <a:t>Repeat </a:t>
            </a:r>
            <a:r>
              <a:rPr lang="en-US" dirty="0"/>
              <a:t>the scan until no more prototypes are added to </a:t>
            </a:r>
            <a:r>
              <a:rPr lang="en-US" dirty="0" smtClean="0"/>
              <a:t>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62500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Border </a:t>
            </a:r>
            <a:r>
              <a:rPr lang="en-US" dirty="0"/>
              <a:t>ratio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Order of training sample</a:t>
            </a:r>
            <a:endParaRPr lang="th-TH" dirty="0"/>
          </a:p>
        </p:txBody>
      </p:sp>
      <p:sp>
        <p:nvSpPr>
          <p:cNvPr id="4" name="Oval 3"/>
          <p:cNvSpPr/>
          <p:nvPr/>
        </p:nvSpPr>
        <p:spPr>
          <a:xfrm>
            <a:off x="5562600" y="2706129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4893276" y="3396048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4419600" y="3200400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1400" dirty="0" smtClean="0"/>
              <a:t>X</a:t>
            </a:r>
            <a:r>
              <a:rPr lang="en-US" sz="1400" dirty="0" smtClean="0">
                <a:latin typeface="Consolas"/>
                <a:cs typeface="Consolas"/>
              </a:rPr>
              <a:t>'</a:t>
            </a:r>
            <a:endParaRPr lang="en-US" sz="1400" dirty="0"/>
          </a:p>
        </p:txBody>
      </p:sp>
      <p:sp>
        <p:nvSpPr>
          <p:cNvPr id="7" name="Oval 6"/>
          <p:cNvSpPr/>
          <p:nvPr/>
        </p:nvSpPr>
        <p:spPr>
          <a:xfrm>
            <a:off x="3801762" y="3832654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Y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3161270" y="4493741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4166287" y="4798541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3153032" y="3188043"/>
            <a:ext cx="304800" cy="304800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3954162" y="2572264"/>
            <a:ext cx="304800" cy="304800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3496962" y="2782329"/>
            <a:ext cx="304800" cy="304800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h-TH"/>
          </a:p>
        </p:txBody>
      </p:sp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5963094"/>
              </p:ext>
            </p:extLst>
          </p:nvPr>
        </p:nvGraphicFramePr>
        <p:xfrm>
          <a:off x="914400" y="1833690"/>
          <a:ext cx="1511559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2" name="Equation" r:id="rId3" imgW="914400" imgH="469900" progId="Equation.DSMT4">
                  <p:embed/>
                </p:oleObj>
              </mc:Choice>
              <mc:Fallback>
                <p:oleObj name="Equation" r:id="rId3" imgW="914400" imgH="4699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833690"/>
                        <a:ext cx="1511559" cy="7715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" name="Straight Connector 16"/>
          <p:cNvCxnSpPr>
            <a:stCxn id="7" idx="7"/>
            <a:endCxn id="6" idx="3"/>
          </p:cNvCxnSpPr>
          <p:nvPr/>
        </p:nvCxnSpPr>
        <p:spPr>
          <a:xfrm flipV="1">
            <a:off x="4061925" y="3460563"/>
            <a:ext cx="402312" cy="4167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6"/>
            <a:endCxn id="5" idx="3"/>
          </p:cNvCxnSpPr>
          <p:nvPr/>
        </p:nvCxnSpPr>
        <p:spPr>
          <a:xfrm flipV="1">
            <a:off x="4106562" y="3656211"/>
            <a:ext cx="831351" cy="3288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8238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K-d Tree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685800"/>
          </a:xfrm>
        </p:spPr>
        <p:txBody>
          <a:bodyPr/>
          <a:lstStyle/>
          <a:p>
            <a:r>
              <a:rPr lang="en-US" dirty="0" smtClean="0"/>
              <a:t>Reduce the number of comparisons</a:t>
            </a:r>
            <a:endParaRPr lang="th-TH" dirty="0"/>
          </a:p>
        </p:txBody>
      </p:sp>
      <p:sp>
        <p:nvSpPr>
          <p:cNvPr id="4" name="Oval 3"/>
          <p:cNvSpPr/>
          <p:nvPr/>
        </p:nvSpPr>
        <p:spPr>
          <a:xfrm>
            <a:off x="4009768" y="2800865"/>
            <a:ext cx="100584" cy="100584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smtClean="0"/>
              <a:t>F</a:t>
            </a:r>
            <a:endParaRPr lang="en-US" sz="800" dirty="0"/>
          </a:p>
        </p:txBody>
      </p:sp>
      <p:sp>
        <p:nvSpPr>
          <p:cNvPr id="5" name="Oval 4"/>
          <p:cNvSpPr/>
          <p:nvPr/>
        </p:nvSpPr>
        <p:spPr>
          <a:xfrm>
            <a:off x="3340444" y="3490784"/>
            <a:ext cx="100584" cy="100584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smtClean="0"/>
              <a:t>E</a:t>
            </a:r>
            <a:endParaRPr lang="en-US" sz="800" dirty="0"/>
          </a:p>
        </p:txBody>
      </p:sp>
      <p:sp>
        <p:nvSpPr>
          <p:cNvPr id="6" name="Oval 5"/>
          <p:cNvSpPr/>
          <p:nvPr/>
        </p:nvSpPr>
        <p:spPr>
          <a:xfrm>
            <a:off x="3035644" y="3185984"/>
            <a:ext cx="100584" cy="100584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smtClean="0"/>
              <a:t>D</a:t>
            </a:r>
            <a:endParaRPr lang="en-US" sz="800" dirty="0"/>
          </a:p>
        </p:txBody>
      </p:sp>
      <p:sp>
        <p:nvSpPr>
          <p:cNvPr id="7" name="Oval 6"/>
          <p:cNvSpPr/>
          <p:nvPr/>
        </p:nvSpPr>
        <p:spPr>
          <a:xfrm>
            <a:off x="2248930" y="3927390"/>
            <a:ext cx="100584" cy="100584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smtClean="0"/>
              <a:t>G</a:t>
            </a:r>
            <a:endParaRPr lang="en-US" sz="800" dirty="0"/>
          </a:p>
        </p:txBody>
      </p:sp>
      <p:sp>
        <p:nvSpPr>
          <p:cNvPr id="8" name="Oval 7"/>
          <p:cNvSpPr/>
          <p:nvPr/>
        </p:nvSpPr>
        <p:spPr>
          <a:xfrm>
            <a:off x="1608438" y="4588477"/>
            <a:ext cx="100584" cy="100584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smtClean="0"/>
              <a:t>H</a:t>
            </a:r>
            <a:endParaRPr lang="en-US" sz="800" dirty="0"/>
          </a:p>
        </p:txBody>
      </p:sp>
      <p:sp>
        <p:nvSpPr>
          <p:cNvPr id="9" name="Oval 8"/>
          <p:cNvSpPr/>
          <p:nvPr/>
        </p:nvSpPr>
        <p:spPr>
          <a:xfrm>
            <a:off x="2613455" y="4893277"/>
            <a:ext cx="100584" cy="100584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smtClean="0"/>
              <a:t>I</a:t>
            </a:r>
            <a:endParaRPr lang="en-US" sz="800" dirty="0"/>
          </a:p>
        </p:txBody>
      </p:sp>
      <p:sp>
        <p:nvSpPr>
          <p:cNvPr id="10" name="Oval 9"/>
          <p:cNvSpPr/>
          <p:nvPr/>
        </p:nvSpPr>
        <p:spPr>
          <a:xfrm>
            <a:off x="1600200" y="3282779"/>
            <a:ext cx="100584" cy="100584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smtClean="0"/>
              <a:t>A</a:t>
            </a:r>
            <a:endParaRPr lang="en-US" sz="800" dirty="0"/>
          </a:p>
        </p:txBody>
      </p:sp>
      <p:sp>
        <p:nvSpPr>
          <p:cNvPr id="11" name="Oval 10"/>
          <p:cNvSpPr/>
          <p:nvPr/>
        </p:nvSpPr>
        <p:spPr>
          <a:xfrm>
            <a:off x="2401330" y="2667000"/>
            <a:ext cx="100584" cy="100584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smtClean="0"/>
              <a:t>C</a:t>
            </a:r>
            <a:endParaRPr lang="en-US" sz="800" dirty="0"/>
          </a:p>
        </p:txBody>
      </p:sp>
      <p:sp>
        <p:nvSpPr>
          <p:cNvPr id="12" name="Oval 11"/>
          <p:cNvSpPr/>
          <p:nvPr/>
        </p:nvSpPr>
        <p:spPr>
          <a:xfrm>
            <a:off x="1944130" y="2877065"/>
            <a:ext cx="100584" cy="100584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smtClean="0"/>
              <a:t>B</a:t>
            </a:r>
            <a:endParaRPr lang="en-US" sz="800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541372" y="2100648"/>
            <a:ext cx="0" cy="350520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 flipV="1">
            <a:off x="990600" y="3140676"/>
            <a:ext cx="1550772" cy="2059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486366" y="5486400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1</a:t>
            </a:r>
            <a:endParaRPr lang="th-TH" sz="1200" dirty="0"/>
          </a:p>
        </p:txBody>
      </p:sp>
      <p:sp>
        <p:nvSpPr>
          <p:cNvPr id="19" name="TextBox 18"/>
          <p:cNvSpPr txBox="1"/>
          <p:nvPr/>
        </p:nvSpPr>
        <p:spPr>
          <a:xfrm>
            <a:off x="889686" y="3152344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2</a:t>
            </a:r>
            <a:endParaRPr lang="th-TH" sz="1200" dirty="0"/>
          </a:p>
        </p:txBody>
      </p:sp>
      <p:cxnSp>
        <p:nvCxnSpPr>
          <p:cNvPr id="20" name="Straight Connector 19"/>
          <p:cNvCxnSpPr/>
          <p:nvPr/>
        </p:nvCxnSpPr>
        <p:spPr>
          <a:xfrm>
            <a:off x="1972962" y="3140676"/>
            <a:ext cx="0" cy="246517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937951" y="5486400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3</a:t>
            </a:r>
            <a:endParaRPr lang="th-TH" sz="1200" dirty="0"/>
          </a:p>
        </p:txBody>
      </p:sp>
      <p:cxnSp>
        <p:nvCxnSpPr>
          <p:cNvPr id="25" name="Straight Connector 24"/>
          <p:cNvCxnSpPr/>
          <p:nvPr/>
        </p:nvCxnSpPr>
        <p:spPr>
          <a:xfrm flipH="1" flipV="1">
            <a:off x="990600" y="3960341"/>
            <a:ext cx="990600" cy="206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89686" y="3985054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4</a:t>
            </a:r>
            <a:endParaRPr lang="th-TH" sz="1200" dirty="0"/>
          </a:p>
        </p:txBody>
      </p:sp>
      <p:cxnSp>
        <p:nvCxnSpPr>
          <p:cNvPr id="28" name="Straight Connector 27"/>
          <p:cNvCxnSpPr/>
          <p:nvPr/>
        </p:nvCxnSpPr>
        <p:spPr>
          <a:xfrm>
            <a:off x="2207553" y="2100648"/>
            <a:ext cx="0" cy="104002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905000" y="2069068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5</a:t>
            </a:r>
            <a:endParaRPr lang="th-TH" sz="1200" dirty="0"/>
          </a:p>
        </p:txBody>
      </p:sp>
      <p:cxnSp>
        <p:nvCxnSpPr>
          <p:cNvPr id="32" name="Straight Connector 31"/>
          <p:cNvCxnSpPr/>
          <p:nvPr/>
        </p:nvCxnSpPr>
        <p:spPr>
          <a:xfrm flipH="1">
            <a:off x="2560320" y="3383363"/>
            <a:ext cx="1783080" cy="753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157990" y="3429000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6</a:t>
            </a:r>
            <a:endParaRPr lang="th-TH" sz="1200" dirty="0"/>
          </a:p>
        </p:txBody>
      </p:sp>
      <p:cxnSp>
        <p:nvCxnSpPr>
          <p:cNvPr id="36" name="Straight Connector 35"/>
          <p:cNvCxnSpPr/>
          <p:nvPr/>
        </p:nvCxnSpPr>
        <p:spPr>
          <a:xfrm>
            <a:off x="2971800" y="3379572"/>
            <a:ext cx="0" cy="222627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938790" y="5486400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7</a:t>
            </a:r>
            <a:endParaRPr lang="th-TH" sz="1200" dirty="0"/>
          </a:p>
        </p:txBody>
      </p:sp>
      <p:cxnSp>
        <p:nvCxnSpPr>
          <p:cNvPr id="39" name="Straight Connector 38"/>
          <p:cNvCxnSpPr/>
          <p:nvPr/>
        </p:nvCxnSpPr>
        <p:spPr>
          <a:xfrm>
            <a:off x="3581400" y="2100648"/>
            <a:ext cx="0" cy="129025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352800" y="2057400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8</a:t>
            </a:r>
            <a:endParaRPr lang="th-TH" sz="1200" dirty="0"/>
          </a:p>
        </p:txBody>
      </p:sp>
      <p:sp>
        <p:nvSpPr>
          <p:cNvPr id="43" name="Oval 42"/>
          <p:cNvSpPr/>
          <p:nvPr/>
        </p:nvSpPr>
        <p:spPr>
          <a:xfrm>
            <a:off x="6554868" y="2514600"/>
            <a:ext cx="226932" cy="24492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1</a:t>
            </a:r>
            <a:endParaRPr lang="th-TH" sz="1100" dirty="0"/>
          </a:p>
        </p:txBody>
      </p:sp>
      <p:sp>
        <p:nvSpPr>
          <p:cNvPr id="44" name="Oval 43"/>
          <p:cNvSpPr/>
          <p:nvPr/>
        </p:nvSpPr>
        <p:spPr>
          <a:xfrm>
            <a:off x="5791200" y="3067409"/>
            <a:ext cx="226932" cy="24492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2</a:t>
            </a:r>
            <a:endParaRPr lang="th-TH" sz="1100" dirty="0"/>
          </a:p>
        </p:txBody>
      </p:sp>
      <p:sp>
        <p:nvSpPr>
          <p:cNvPr id="45" name="Oval 44"/>
          <p:cNvSpPr/>
          <p:nvPr/>
        </p:nvSpPr>
        <p:spPr>
          <a:xfrm>
            <a:off x="5183268" y="4098479"/>
            <a:ext cx="226932" cy="24492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4</a:t>
            </a:r>
            <a:endParaRPr lang="th-TH" sz="1100" dirty="0"/>
          </a:p>
        </p:txBody>
      </p:sp>
      <p:sp>
        <p:nvSpPr>
          <p:cNvPr id="46" name="Oval 45"/>
          <p:cNvSpPr/>
          <p:nvPr/>
        </p:nvSpPr>
        <p:spPr>
          <a:xfrm>
            <a:off x="5411868" y="3565079"/>
            <a:ext cx="226932" cy="24492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3</a:t>
            </a:r>
            <a:endParaRPr lang="th-TH" sz="1100" dirty="0"/>
          </a:p>
        </p:txBody>
      </p:sp>
      <p:cxnSp>
        <p:nvCxnSpPr>
          <p:cNvPr id="48" name="Straight Arrow Connector 47"/>
          <p:cNvCxnSpPr>
            <a:stCxn id="43" idx="3"/>
            <a:endCxn id="44" idx="0"/>
          </p:cNvCxnSpPr>
          <p:nvPr/>
        </p:nvCxnSpPr>
        <p:spPr>
          <a:xfrm flipH="1">
            <a:off x="5904666" y="2723653"/>
            <a:ext cx="683435" cy="34375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44" idx="3"/>
            <a:endCxn id="46" idx="0"/>
          </p:cNvCxnSpPr>
          <p:nvPr/>
        </p:nvCxnSpPr>
        <p:spPr>
          <a:xfrm flipH="1">
            <a:off x="5525334" y="3276462"/>
            <a:ext cx="299099" cy="28861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46" idx="3"/>
            <a:endCxn id="45" idx="0"/>
          </p:cNvCxnSpPr>
          <p:nvPr/>
        </p:nvCxnSpPr>
        <p:spPr>
          <a:xfrm flipH="1">
            <a:off x="5296734" y="3774132"/>
            <a:ext cx="148367" cy="3243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6172200" y="3565079"/>
            <a:ext cx="226932" cy="24492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5</a:t>
            </a:r>
            <a:endParaRPr lang="th-TH" sz="1100" dirty="0"/>
          </a:p>
        </p:txBody>
      </p:sp>
      <p:cxnSp>
        <p:nvCxnSpPr>
          <p:cNvPr id="56" name="Straight Arrow Connector 55"/>
          <p:cNvCxnSpPr>
            <a:stCxn id="44" idx="5"/>
            <a:endCxn id="54" idx="0"/>
          </p:cNvCxnSpPr>
          <p:nvPr/>
        </p:nvCxnSpPr>
        <p:spPr>
          <a:xfrm>
            <a:off x="5984899" y="3276462"/>
            <a:ext cx="300767" cy="28861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7318536" y="3048000"/>
            <a:ext cx="226932" cy="24492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6</a:t>
            </a:r>
            <a:endParaRPr lang="th-TH" sz="1100" dirty="0"/>
          </a:p>
        </p:txBody>
      </p:sp>
      <p:cxnSp>
        <p:nvCxnSpPr>
          <p:cNvPr id="59" name="Straight Arrow Connector 58"/>
          <p:cNvCxnSpPr>
            <a:stCxn id="43" idx="5"/>
            <a:endCxn id="57" idx="0"/>
          </p:cNvCxnSpPr>
          <p:nvPr/>
        </p:nvCxnSpPr>
        <p:spPr>
          <a:xfrm>
            <a:off x="6748567" y="2723653"/>
            <a:ext cx="683435" cy="3243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6935868" y="3565079"/>
            <a:ext cx="226932" cy="24492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7</a:t>
            </a:r>
            <a:endParaRPr lang="th-TH" sz="1100" dirty="0"/>
          </a:p>
        </p:txBody>
      </p:sp>
      <p:sp>
        <p:nvSpPr>
          <p:cNvPr id="61" name="Oval 60"/>
          <p:cNvSpPr/>
          <p:nvPr/>
        </p:nvSpPr>
        <p:spPr>
          <a:xfrm>
            <a:off x="7696200" y="3565079"/>
            <a:ext cx="226932" cy="24492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8</a:t>
            </a:r>
            <a:endParaRPr lang="th-TH" sz="1100" dirty="0"/>
          </a:p>
        </p:txBody>
      </p:sp>
      <p:cxnSp>
        <p:nvCxnSpPr>
          <p:cNvPr id="63" name="Straight Arrow Connector 62"/>
          <p:cNvCxnSpPr>
            <a:stCxn id="57" idx="3"/>
            <a:endCxn id="60" idx="0"/>
          </p:cNvCxnSpPr>
          <p:nvPr/>
        </p:nvCxnSpPr>
        <p:spPr>
          <a:xfrm flipH="1">
            <a:off x="7049334" y="3257053"/>
            <a:ext cx="302435" cy="30802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stCxn id="57" idx="5"/>
            <a:endCxn id="61" idx="0"/>
          </p:cNvCxnSpPr>
          <p:nvPr/>
        </p:nvCxnSpPr>
        <p:spPr>
          <a:xfrm>
            <a:off x="7512235" y="3257053"/>
            <a:ext cx="297431" cy="30802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4953000" y="4708079"/>
            <a:ext cx="226932" cy="24492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H</a:t>
            </a:r>
            <a:endParaRPr lang="th-TH" sz="1100" dirty="0"/>
          </a:p>
        </p:txBody>
      </p:sp>
      <p:sp>
        <p:nvSpPr>
          <p:cNvPr id="76" name="Oval 75"/>
          <p:cNvSpPr/>
          <p:nvPr/>
        </p:nvSpPr>
        <p:spPr>
          <a:xfrm>
            <a:off x="5410200" y="4708079"/>
            <a:ext cx="226932" cy="24492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A</a:t>
            </a:r>
            <a:endParaRPr lang="th-TH" sz="1100" dirty="0"/>
          </a:p>
        </p:txBody>
      </p:sp>
      <p:cxnSp>
        <p:nvCxnSpPr>
          <p:cNvPr id="77" name="Straight Arrow Connector 76"/>
          <p:cNvCxnSpPr>
            <a:stCxn id="45" idx="3"/>
            <a:endCxn id="75" idx="0"/>
          </p:cNvCxnSpPr>
          <p:nvPr/>
        </p:nvCxnSpPr>
        <p:spPr>
          <a:xfrm flipH="1">
            <a:off x="5066466" y="4307532"/>
            <a:ext cx="150035" cy="4005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>
            <a:stCxn id="45" idx="5"/>
            <a:endCxn id="76" idx="0"/>
          </p:cNvCxnSpPr>
          <p:nvPr/>
        </p:nvCxnSpPr>
        <p:spPr>
          <a:xfrm>
            <a:off x="5376967" y="4307532"/>
            <a:ext cx="146699" cy="4005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5638800" y="4095157"/>
            <a:ext cx="226932" cy="24492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G</a:t>
            </a:r>
            <a:endParaRPr lang="th-TH" sz="1100" dirty="0"/>
          </a:p>
        </p:txBody>
      </p:sp>
      <p:cxnSp>
        <p:nvCxnSpPr>
          <p:cNvPr id="85" name="Straight Arrow Connector 84"/>
          <p:cNvCxnSpPr>
            <a:stCxn id="46" idx="5"/>
            <a:endCxn id="84" idx="0"/>
          </p:cNvCxnSpPr>
          <p:nvPr/>
        </p:nvCxnSpPr>
        <p:spPr>
          <a:xfrm>
            <a:off x="5605567" y="3774132"/>
            <a:ext cx="146699" cy="3210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5943600" y="4098479"/>
            <a:ext cx="226932" cy="24492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B</a:t>
            </a:r>
            <a:endParaRPr lang="th-TH" sz="1100" dirty="0"/>
          </a:p>
        </p:txBody>
      </p:sp>
      <p:sp>
        <p:nvSpPr>
          <p:cNvPr id="89" name="Oval 88"/>
          <p:cNvSpPr/>
          <p:nvPr/>
        </p:nvSpPr>
        <p:spPr>
          <a:xfrm>
            <a:off x="6400800" y="4098479"/>
            <a:ext cx="226932" cy="24492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C</a:t>
            </a:r>
            <a:endParaRPr lang="th-TH" sz="1100" dirty="0"/>
          </a:p>
        </p:txBody>
      </p:sp>
      <p:cxnSp>
        <p:nvCxnSpPr>
          <p:cNvPr id="90" name="Straight Arrow Connector 89"/>
          <p:cNvCxnSpPr>
            <a:stCxn id="54" idx="5"/>
            <a:endCxn id="89" idx="0"/>
          </p:cNvCxnSpPr>
          <p:nvPr/>
        </p:nvCxnSpPr>
        <p:spPr>
          <a:xfrm>
            <a:off x="6365899" y="3774132"/>
            <a:ext cx="148367" cy="3243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>
            <a:stCxn id="54" idx="3"/>
            <a:endCxn id="88" idx="0"/>
          </p:cNvCxnSpPr>
          <p:nvPr/>
        </p:nvCxnSpPr>
        <p:spPr>
          <a:xfrm flipH="1">
            <a:off x="6057066" y="3774132"/>
            <a:ext cx="148367" cy="3243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Oval 96"/>
          <p:cNvSpPr/>
          <p:nvPr/>
        </p:nvSpPr>
        <p:spPr>
          <a:xfrm>
            <a:off x="6707268" y="4098479"/>
            <a:ext cx="226932" cy="24492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I</a:t>
            </a:r>
            <a:endParaRPr lang="th-TH" sz="1100" dirty="0"/>
          </a:p>
        </p:txBody>
      </p:sp>
      <p:cxnSp>
        <p:nvCxnSpPr>
          <p:cNvPr id="98" name="Straight Arrow Connector 97"/>
          <p:cNvCxnSpPr>
            <a:stCxn id="60" idx="3"/>
            <a:endCxn id="97" idx="0"/>
          </p:cNvCxnSpPr>
          <p:nvPr/>
        </p:nvCxnSpPr>
        <p:spPr>
          <a:xfrm flipH="1">
            <a:off x="6820734" y="3774132"/>
            <a:ext cx="148367" cy="3243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/>
          <p:cNvCxnSpPr>
            <a:stCxn id="60" idx="5"/>
            <a:endCxn id="103" idx="0"/>
          </p:cNvCxnSpPr>
          <p:nvPr/>
        </p:nvCxnSpPr>
        <p:spPr>
          <a:xfrm>
            <a:off x="7129567" y="3774132"/>
            <a:ext cx="148367" cy="34066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Oval 102"/>
          <p:cNvSpPr/>
          <p:nvPr/>
        </p:nvSpPr>
        <p:spPr>
          <a:xfrm>
            <a:off x="7164468" y="4114800"/>
            <a:ext cx="226932" cy="244921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E</a:t>
            </a:r>
            <a:endParaRPr lang="th-TH" sz="1100" dirty="0"/>
          </a:p>
        </p:txBody>
      </p:sp>
      <p:sp>
        <p:nvSpPr>
          <p:cNvPr id="105" name="Oval 104"/>
          <p:cNvSpPr/>
          <p:nvPr/>
        </p:nvSpPr>
        <p:spPr>
          <a:xfrm>
            <a:off x="7469268" y="4114800"/>
            <a:ext cx="226932" cy="244921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D</a:t>
            </a:r>
            <a:endParaRPr lang="th-TH" sz="1100" dirty="0"/>
          </a:p>
        </p:txBody>
      </p:sp>
      <p:sp>
        <p:nvSpPr>
          <p:cNvPr id="106" name="Oval 105"/>
          <p:cNvSpPr/>
          <p:nvPr/>
        </p:nvSpPr>
        <p:spPr>
          <a:xfrm>
            <a:off x="7924800" y="4114800"/>
            <a:ext cx="226932" cy="244921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F</a:t>
            </a:r>
            <a:endParaRPr lang="th-TH" sz="1100" dirty="0"/>
          </a:p>
        </p:txBody>
      </p:sp>
      <p:cxnSp>
        <p:nvCxnSpPr>
          <p:cNvPr id="107" name="Straight Arrow Connector 106"/>
          <p:cNvCxnSpPr>
            <a:stCxn id="61" idx="3"/>
            <a:endCxn id="105" idx="0"/>
          </p:cNvCxnSpPr>
          <p:nvPr/>
        </p:nvCxnSpPr>
        <p:spPr>
          <a:xfrm flipH="1">
            <a:off x="7582734" y="3774132"/>
            <a:ext cx="146699" cy="34066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/>
          <p:cNvCxnSpPr>
            <a:stCxn id="61" idx="5"/>
            <a:endCxn id="106" idx="0"/>
          </p:cNvCxnSpPr>
          <p:nvPr/>
        </p:nvCxnSpPr>
        <p:spPr>
          <a:xfrm>
            <a:off x="7889899" y="3774132"/>
            <a:ext cx="148367" cy="34066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3799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500"/>
                            </p:stCondLst>
                            <p:childTnLst>
                              <p:par>
                                <p:cTn id="1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500"/>
                            </p:stCondLst>
                            <p:childTnLst>
                              <p:par>
                                <p:cTn id="1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2" grpId="0"/>
      <p:bldP spid="27" grpId="0"/>
      <p:bldP spid="30" grpId="0"/>
      <p:bldP spid="35" grpId="0"/>
      <p:bldP spid="38" grpId="0"/>
      <p:bldP spid="40" grpId="0"/>
      <p:bldP spid="43" grpId="0" animBg="1"/>
      <p:bldP spid="44" grpId="0" animBg="1"/>
      <p:bldP spid="45" grpId="0" animBg="1"/>
      <p:bldP spid="46" grpId="0" animBg="1"/>
      <p:bldP spid="54" grpId="0" animBg="1"/>
      <p:bldP spid="57" grpId="0" animBg="1"/>
      <p:bldP spid="60" grpId="0" animBg="1"/>
      <p:bldP spid="61" grpId="0" animBg="1"/>
      <p:bldP spid="75" grpId="0" animBg="1"/>
      <p:bldP spid="76" grpId="0" animBg="1"/>
      <p:bldP spid="84" grpId="0" animBg="1"/>
      <p:bldP spid="88" grpId="0" animBg="1"/>
      <p:bldP spid="89" grpId="0" animBg="1"/>
      <p:bldP spid="97" grpId="0" animBg="1"/>
      <p:bldP spid="103" grpId="0" animBg="1"/>
      <p:bldP spid="105" grpId="0" animBg="1"/>
      <p:bldP spid="10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Straight Connector 70"/>
          <p:cNvCxnSpPr/>
          <p:nvPr/>
        </p:nvCxnSpPr>
        <p:spPr>
          <a:xfrm flipV="1">
            <a:off x="1690442" y="3809207"/>
            <a:ext cx="788877" cy="1036883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flipV="1">
            <a:off x="2479319" y="3494708"/>
            <a:ext cx="1100021" cy="310572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>
            <a:off x="1728541" y="3067396"/>
            <a:ext cx="750778" cy="74181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Locality-sensitive </a:t>
            </a:r>
            <a:r>
              <a:rPr lang="en-US" dirty="0"/>
              <a:t>Hashing (LSH)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Dimension Reduction</a:t>
            </a:r>
          </a:p>
          <a:p>
            <a:pPr lvl="1"/>
            <a:r>
              <a:rPr lang="en-US" dirty="0" smtClean="0"/>
              <a:t>Hash </a:t>
            </a:r>
            <a:r>
              <a:rPr lang="en-US" dirty="0" smtClean="0">
                <a:sym typeface="Wingdings" panose="05000000000000000000" pitchFamily="2" charset="2"/>
              </a:rPr>
              <a:t> Bit</a:t>
            </a:r>
            <a:endParaRPr lang="th-TH" dirty="0"/>
          </a:p>
        </p:txBody>
      </p:sp>
      <p:sp>
        <p:nvSpPr>
          <p:cNvPr id="5" name="Oval 4"/>
          <p:cNvSpPr/>
          <p:nvPr/>
        </p:nvSpPr>
        <p:spPr>
          <a:xfrm>
            <a:off x="3429000" y="3342308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1542516" y="4679077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580616" y="2914996"/>
            <a:ext cx="304800" cy="304800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</a:t>
            </a:r>
            <a:endParaRPr lang="en-US" dirty="0"/>
          </a:p>
        </p:txBody>
      </p:sp>
      <p:cxnSp>
        <p:nvCxnSpPr>
          <p:cNvPr id="15" name="Straight Arrow Connector 14"/>
          <p:cNvCxnSpPr/>
          <p:nvPr/>
        </p:nvCxnSpPr>
        <p:spPr>
          <a:xfrm rot="5400000" flipH="1" flipV="1">
            <a:off x="918410" y="3847703"/>
            <a:ext cx="3123406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879913" y="3809206"/>
            <a:ext cx="32004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V="1">
            <a:off x="1885416" y="2210594"/>
            <a:ext cx="1051897" cy="3656806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956113" y="2590800"/>
            <a:ext cx="3124200" cy="236220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H="1" flipV="1">
            <a:off x="1760921" y="2442092"/>
            <a:ext cx="1577440" cy="3044308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62" name="Right Arrow 61"/>
          <p:cNvSpPr/>
          <p:nvPr/>
        </p:nvSpPr>
        <p:spPr>
          <a:xfrm rot="11778960">
            <a:off x="930491" y="3506022"/>
            <a:ext cx="1600200" cy="142702"/>
          </a:xfrm>
          <a:prstGeom prst="right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3" name="Right Arrow 62"/>
          <p:cNvSpPr/>
          <p:nvPr/>
        </p:nvSpPr>
        <p:spPr>
          <a:xfrm rot="19993504">
            <a:off x="2376879" y="3371214"/>
            <a:ext cx="1600200" cy="142702"/>
          </a:xfrm>
          <a:prstGeom prst="right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8" name="Right Arrow 57"/>
          <p:cNvSpPr/>
          <p:nvPr/>
        </p:nvSpPr>
        <p:spPr>
          <a:xfrm rot="3159281">
            <a:off x="2150657" y="4379907"/>
            <a:ext cx="1600200" cy="142702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76" name="TextBox 75"/>
          <p:cNvSpPr txBox="1"/>
          <p:nvPr/>
        </p:nvSpPr>
        <p:spPr>
          <a:xfrm>
            <a:off x="3865343" y="290668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th-TH" dirty="0"/>
          </a:p>
        </p:txBody>
      </p:sp>
      <p:sp>
        <p:nvSpPr>
          <p:cNvPr id="77" name="TextBox 76"/>
          <p:cNvSpPr txBox="1"/>
          <p:nvPr/>
        </p:nvSpPr>
        <p:spPr>
          <a:xfrm>
            <a:off x="3386047" y="505994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th-TH" dirty="0"/>
          </a:p>
        </p:txBody>
      </p:sp>
      <p:sp>
        <p:nvSpPr>
          <p:cNvPr id="78" name="TextBox 77"/>
          <p:cNvSpPr txBox="1"/>
          <p:nvPr/>
        </p:nvSpPr>
        <p:spPr>
          <a:xfrm>
            <a:off x="685800" y="31358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th-TH" dirty="0"/>
          </a:p>
        </p:txBody>
      </p:sp>
      <p:graphicFrame>
        <p:nvGraphicFramePr>
          <p:cNvPr id="80" name="Table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4657795"/>
              </p:ext>
            </p:extLst>
          </p:nvPr>
        </p:nvGraphicFramePr>
        <p:xfrm>
          <a:off x="4334410" y="3030220"/>
          <a:ext cx="4129835" cy="1483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25967"/>
                <a:gridCol w="825967"/>
                <a:gridCol w="825967"/>
                <a:gridCol w="825967"/>
                <a:gridCol w="825967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th-T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th-T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th-T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th-T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Code</a:t>
                      </a:r>
                      <a:endParaRPr lang="th-TH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</a:t>
                      </a:r>
                      <a:endParaRPr lang="th-T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th-T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th-T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th-T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th-TH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</a:t>
                      </a:r>
                      <a:endParaRPr lang="th-T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th-T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th-T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th-T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th-TH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</a:t>
                      </a:r>
                      <a:endParaRPr lang="th-T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th-T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th-T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th-T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th-TH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61913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E43709EEEC435429F4CB77381565165" ma:contentTypeVersion="0" ma:contentTypeDescription="Create a new document." ma:contentTypeScope="" ma:versionID="6e01cbf3cd60125f58481046a604bdb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569C662-3846-48E2-B05A-4F9D0F84C49D}"/>
</file>

<file path=customXml/itemProps2.xml><?xml version="1.0" encoding="utf-8"?>
<ds:datastoreItem xmlns:ds="http://schemas.openxmlformats.org/officeDocument/2006/customXml" ds:itemID="{008FD06B-1C65-455F-BD61-7714B118DB25}"/>
</file>

<file path=customXml/itemProps3.xml><?xml version="1.0" encoding="utf-8"?>
<ds:datastoreItem xmlns:ds="http://schemas.openxmlformats.org/officeDocument/2006/customXml" ds:itemID="{43509658-76C0-45D2-867D-1899B4CED508}"/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190</TotalTime>
  <Words>425</Words>
  <Application>Microsoft Office PowerPoint</Application>
  <PresentationFormat>On-screen Show (4:3)</PresentationFormat>
  <Paragraphs>179</Paragraphs>
  <Slides>18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31" baseType="lpstr">
      <vt:lpstr>Arial</vt:lpstr>
      <vt:lpstr>Bookman Old Style</vt:lpstr>
      <vt:lpstr>Browallia New</vt:lpstr>
      <vt:lpstr>Calibri</vt:lpstr>
      <vt:lpstr>Cambria Math</vt:lpstr>
      <vt:lpstr>Consolas</vt:lpstr>
      <vt:lpstr>Cordia New</vt:lpstr>
      <vt:lpstr>Gill Sans MT</vt:lpstr>
      <vt:lpstr>TH SarabunPSK</vt:lpstr>
      <vt:lpstr>Wingdings</vt:lpstr>
      <vt:lpstr>Wingdings 3</vt:lpstr>
      <vt:lpstr>Origin</vt:lpstr>
      <vt:lpstr>Equation</vt:lpstr>
      <vt:lpstr>k-Nearest Neighbors</vt:lpstr>
      <vt:lpstr>Look up Table</vt:lpstr>
      <vt:lpstr>Iris Classification</vt:lpstr>
      <vt:lpstr>Sample Space</vt:lpstr>
      <vt:lpstr>k-NN</vt:lpstr>
      <vt:lpstr>k-NN Procedure</vt:lpstr>
      <vt:lpstr>Similarity Measurement</vt:lpstr>
      <vt:lpstr>Vector Length</vt:lpstr>
      <vt:lpstr>Norm</vt:lpstr>
      <vt:lpstr>L1-norm</vt:lpstr>
      <vt:lpstr>L2-norm</vt:lpstr>
      <vt:lpstr>L∞-norm</vt:lpstr>
      <vt:lpstr>Lp-norm</vt:lpstr>
      <vt:lpstr>Pros &amp; Cons</vt:lpstr>
      <vt:lpstr>Condensed nearest neighbor (CNN)</vt:lpstr>
      <vt:lpstr>Border ratio</vt:lpstr>
      <vt:lpstr>K-d Tree</vt:lpstr>
      <vt:lpstr>Locality-sensitive Hashing (LSH)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k-Nearest Neighbors</dc:title>
  <dc:creator>TON</dc:creator>
  <cp:lastModifiedBy>Parinya Sanguansat</cp:lastModifiedBy>
  <cp:revision>20</cp:revision>
  <dcterms:created xsi:type="dcterms:W3CDTF">2006-08-16T00:00:00Z</dcterms:created>
  <dcterms:modified xsi:type="dcterms:W3CDTF">2015-12-22T07:16:22Z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0x010100FE43709EEEC435429F4CB77381565165</vt:lpwstr>
  </property>
</Properties>
</file>
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5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53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4.xml" ContentType="application/vnd.openxmlformats-officedocument.presentationml.slide+xml"/>
  <Override PartName="/ppt/slides/slide5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4" r:id="rId5"/>
    <p:sldId id="265" r:id="rId6"/>
    <p:sldId id="266" r:id="rId7"/>
    <p:sldId id="261" r:id="rId8"/>
    <p:sldId id="267" r:id="rId9"/>
    <p:sldId id="258" r:id="rId10"/>
    <p:sldId id="257" r:id="rId11"/>
    <p:sldId id="313" r:id="rId12"/>
    <p:sldId id="276" r:id="rId13"/>
    <p:sldId id="277" r:id="rId14"/>
    <p:sldId id="278" r:id="rId15"/>
    <p:sldId id="279" r:id="rId16"/>
    <p:sldId id="280" r:id="rId17"/>
    <p:sldId id="268" r:id="rId18"/>
    <p:sldId id="269" r:id="rId19"/>
    <p:sldId id="270" r:id="rId20"/>
    <p:sldId id="291" r:id="rId21"/>
    <p:sldId id="304" r:id="rId22"/>
    <p:sldId id="309" r:id="rId23"/>
    <p:sldId id="314" r:id="rId24"/>
    <p:sldId id="315" r:id="rId25"/>
    <p:sldId id="292" r:id="rId26"/>
    <p:sldId id="293" r:id="rId27"/>
    <p:sldId id="294" r:id="rId28"/>
    <p:sldId id="317" r:id="rId29"/>
    <p:sldId id="290" r:id="rId30"/>
    <p:sldId id="281" r:id="rId31"/>
    <p:sldId id="282" r:id="rId32"/>
    <p:sldId id="283" r:id="rId33"/>
    <p:sldId id="286" r:id="rId34"/>
    <p:sldId id="287" r:id="rId35"/>
    <p:sldId id="316" r:id="rId36"/>
    <p:sldId id="288" r:id="rId37"/>
    <p:sldId id="289" r:id="rId38"/>
    <p:sldId id="285" r:id="rId39"/>
    <p:sldId id="295" r:id="rId40"/>
    <p:sldId id="284" r:id="rId41"/>
    <p:sldId id="296" r:id="rId42"/>
    <p:sldId id="297" r:id="rId43"/>
    <p:sldId id="298" r:id="rId44"/>
    <p:sldId id="300" r:id="rId45"/>
    <p:sldId id="301" r:id="rId46"/>
    <p:sldId id="302" r:id="rId47"/>
    <p:sldId id="299" r:id="rId48"/>
    <p:sldId id="303" r:id="rId49"/>
    <p:sldId id="308" r:id="rId50"/>
    <p:sldId id="305" r:id="rId51"/>
    <p:sldId id="306" r:id="rId52"/>
    <p:sldId id="307" r:id="rId53"/>
    <p:sldId id="312" r:id="rId54"/>
    <p:sldId id="310" r:id="rId55"/>
    <p:sldId id="311" r:id="rId56"/>
    <p:sldId id="262" r:id="rId57"/>
  </p:sldIdLst>
  <p:sldSz cx="9144000" cy="6858000" type="screen4x3"/>
  <p:notesSz cx="6858000" cy="9144000"/>
  <p:custDataLst>
    <p:tags r:id="rId5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33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65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Relationship Id="rId9" Type="http://schemas.openxmlformats.org/officeDocument/2006/relationships/image" Target="../media/image3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28DC49A5-15EF-422A-ACDA-D80A939E2000}" type="datetimeFigureOut">
              <a:rPr lang="en-US" smtClean="0"/>
              <a:pPr/>
              <a:t>19-Mar-20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57CCF80-ACE5-4353-882A-02E576675E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49A5-15EF-422A-ACDA-D80A939E2000}" type="datetimeFigureOut">
              <a:rPr lang="en-US" smtClean="0"/>
              <a:pPr/>
              <a:t>19-Mar-20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CCF80-ACE5-4353-882A-02E576675E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28DC49A5-15EF-422A-ACDA-D80A939E2000}" type="datetimeFigureOut">
              <a:rPr lang="en-US" smtClean="0"/>
              <a:pPr/>
              <a:t>19-Mar-20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57CCF80-ACE5-4353-882A-02E576675E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49A5-15EF-422A-ACDA-D80A939E2000}" type="datetimeFigureOut">
              <a:rPr lang="en-US" smtClean="0"/>
              <a:pPr/>
              <a:t>19-Mar-20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CCF80-ACE5-4353-882A-02E576675E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49A5-15EF-422A-ACDA-D80A939E2000}" type="datetimeFigureOut">
              <a:rPr lang="en-US" smtClean="0"/>
              <a:pPr/>
              <a:t>19-Mar-20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CCF80-ACE5-4353-882A-02E576675E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49A5-15EF-422A-ACDA-D80A939E2000}" type="datetimeFigureOut">
              <a:rPr lang="en-US" smtClean="0"/>
              <a:pPr/>
              <a:t>19-Mar-20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CCF80-ACE5-4353-882A-02E576675E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49A5-15EF-422A-ACDA-D80A939E2000}" type="datetimeFigureOut">
              <a:rPr lang="en-US" smtClean="0"/>
              <a:pPr/>
              <a:t>19-Mar-20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CCF80-ACE5-4353-882A-02E576675E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49A5-15EF-422A-ACDA-D80A939E2000}" type="datetimeFigureOut">
              <a:rPr lang="en-US" smtClean="0"/>
              <a:pPr/>
              <a:t>19-Mar-20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CCF80-ACE5-4353-882A-02E576675E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49A5-15EF-422A-ACDA-D80A939E2000}" type="datetimeFigureOut">
              <a:rPr lang="en-US" smtClean="0"/>
              <a:pPr/>
              <a:t>19-Mar-20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CCF80-ACE5-4353-882A-02E576675E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49A5-15EF-422A-ACDA-D80A939E2000}" type="datetimeFigureOut">
              <a:rPr lang="en-US" smtClean="0"/>
              <a:pPr/>
              <a:t>19-Mar-20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CCF80-ACE5-4353-882A-02E576675E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49A5-15EF-422A-ACDA-D80A939E2000}" type="datetimeFigureOut">
              <a:rPr lang="en-US" smtClean="0"/>
              <a:pPr/>
              <a:t>19-Mar-20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CCF80-ACE5-4353-882A-02E576675E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371600"/>
            <a:ext cx="3810000" cy="4687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687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86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934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5AF51F2-6D9E-48D5-80BC-CD868C83231F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8DC49A5-15EF-422A-ACDA-D80A939E2000}" type="datetimeFigureOut">
              <a:rPr lang="en-US" smtClean="0"/>
              <a:pPr/>
              <a:t>19-Mar-20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57CCF80-ACE5-4353-882A-02E576675E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1.tiff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6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7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8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1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2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3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5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3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2.wmf"/><Relationship Id="rId20" Type="http://schemas.openxmlformats.org/officeDocument/2006/relationships/image" Target="../media/image34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9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31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35.bin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40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1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4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5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5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7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9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tif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Artificial Neural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Parinya </a:t>
            </a:r>
            <a:r>
              <a:rPr lang="en-US" dirty="0"/>
              <a:t>Sanguansat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Neural Networks (ANN)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Neural network inspired by biological nervous systems, such as our brain</a:t>
            </a:r>
          </a:p>
          <a:p>
            <a:r>
              <a:rPr lang="en-US" dirty="0"/>
              <a:t>Useful for learning real-valued, discrete-valued or vector valued functions</a:t>
            </a:r>
          </a:p>
          <a:p>
            <a:r>
              <a:rPr lang="en-US" dirty="0"/>
              <a:t>Applied to problems such as interpreting visual scenes, speech recognition, learning robot control strategies</a:t>
            </a:r>
          </a:p>
          <a:p>
            <a:r>
              <a:rPr lang="en-US" dirty="0"/>
              <a:t>Works well with noisy, complex sensor data such as inputs from cameras and microphones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Neurons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 structures</a:t>
            </a:r>
          </a:p>
          <a:p>
            <a:pPr lvl="1"/>
            <a:r>
              <a:rPr lang="en-US" dirty="0"/>
              <a:t>Cell body</a:t>
            </a:r>
          </a:p>
          <a:p>
            <a:pPr lvl="1"/>
            <a:r>
              <a:rPr lang="en-US" dirty="0"/>
              <a:t>Dendrites</a:t>
            </a:r>
          </a:p>
          <a:p>
            <a:pPr lvl="1"/>
            <a:r>
              <a:rPr lang="en-US" dirty="0"/>
              <a:t>Axon</a:t>
            </a:r>
          </a:p>
          <a:p>
            <a:pPr lvl="1"/>
            <a:r>
              <a:rPr lang="en-US" dirty="0"/>
              <a:t>Synaptic terminals</a:t>
            </a:r>
          </a:p>
        </p:txBody>
      </p:sp>
      <p:pic>
        <p:nvPicPr>
          <p:cNvPr id="230404" name="Picture 4" descr="neuron_lar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1219200"/>
            <a:ext cx="3763963" cy="5049838"/>
          </a:xfrm>
          <a:prstGeom prst="rect">
            <a:avLst/>
          </a:prstGeom>
          <a:noFill/>
        </p:spPr>
      </p:pic>
      <p:sp>
        <p:nvSpPr>
          <p:cNvPr id="230405" name="Line 5"/>
          <p:cNvSpPr>
            <a:spLocks noChangeShapeType="1"/>
          </p:cNvSpPr>
          <p:nvPr/>
        </p:nvSpPr>
        <p:spPr bwMode="auto">
          <a:xfrm>
            <a:off x="2362200" y="1981200"/>
            <a:ext cx="3035300" cy="231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230406" name="Line 6"/>
          <p:cNvSpPr>
            <a:spLocks noChangeShapeType="1"/>
          </p:cNvSpPr>
          <p:nvPr/>
        </p:nvSpPr>
        <p:spPr bwMode="auto">
          <a:xfrm>
            <a:off x="2362201" y="2362200"/>
            <a:ext cx="21336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230408" name="Line 8"/>
          <p:cNvSpPr>
            <a:spLocks noChangeShapeType="1"/>
          </p:cNvSpPr>
          <p:nvPr/>
        </p:nvSpPr>
        <p:spPr bwMode="auto">
          <a:xfrm>
            <a:off x="1905000" y="2819400"/>
            <a:ext cx="4648200" cy="4571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230409" name="Line 9"/>
          <p:cNvSpPr>
            <a:spLocks noChangeShapeType="1"/>
          </p:cNvSpPr>
          <p:nvPr/>
        </p:nvSpPr>
        <p:spPr bwMode="auto">
          <a:xfrm>
            <a:off x="3352800" y="3276600"/>
            <a:ext cx="1371600" cy="1219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A2AA3A-D06B-4ADF-886D-2DFA652128F7}" type="slidenum">
              <a:rPr lang="en-US"/>
              <a:pPr/>
              <a:t>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Communication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325" y="1371600"/>
            <a:ext cx="8016875" cy="46878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Electrical potential across cell membrane exhibits spikes called action potentials.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Spike originates in cell body, travels down </a:t>
            </a:r>
            <a:br>
              <a:rPr lang="en-US" sz="2400" dirty="0"/>
            </a:br>
            <a:r>
              <a:rPr lang="en-US" sz="2400" dirty="0"/>
              <a:t>axon, and causes synaptic terminals to </a:t>
            </a:r>
            <a:br>
              <a:rPr lang="en-US" sz="2400" dirty="0"/>
            </a:br>
            <a:r>
              <a:rPr lang="en-US" sz="2400" dirty="0"/>
              <a:t>release neurotransmitters.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Chemical diffuses across synapse to </a:t>
            </a:r>
            <a:br>
              <a:rPr lang="en-US" sz="2400" dirty="0"/>
            </a:br>
            <a:r>
              <a:rPr lang="en-US" sz="2400" dirty="0"/>
              <a:t>dendrites of other neurons.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Neurotransmitters can be excitatory or </a:t>
            </a:r>
            <a:br>
              <a:rPr lang="en-US" sz="2400" dirty="0"/>
            </a:br>
            <a:r>
              <a:rPr lang="en-US" sz="2400" dirty="0"/>
              <a:t>inhibitory.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B050"/>
                </a:solidFill>
              </a:rPr>
              <a:t>If net input of neurotransmitters to a neuron from other neurons is excitatory and exceeds some threshold, it fires an action potential.</a:t>
            </a: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pic>
        <p:nvPicPr>
          <p:cNvPr id="231428" name="Picture 4" descr="300px-Action-potent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03938" y="1922463"/>
            <a:ext cx="2857500" cy="2819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4E329E-58F5-4E3B-B224-E309A4DDC874}" type="slidenum">
              <a:rPr lang="en-US"/>
              <a:pPr/>
              <a:t>5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Neural Learning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Synapses change size and strength with experience.</a:t>
            </a:r>
          </a:p>
          <a:p>
            <a:r>
              <a:rPr lang="en-US" dirty="0" err="1">
                <a:solidFill>
                  <a:srgbClr val="FF0000"/>
                </a:solidFill>
              </a:rPr>
              <a:t>Hebbian</a:t>
            </a:r>
            <a:r>
              <a:rPr lang="en-US" dirty="0">
                <a:solidFill>
                  <a:srgbClr val="FF0000"/>
                </a:solidFill>
              </a:rPr>
              <a:t> learning</a:t>
            </a:r>
            <a:r>
              <a:rPr lang="en-US" dirty="0"/>
              <a:t>: When two connected neurons are firing at the same time, the strength of the synapse between them increases.</a:t>
            </a:r>
          </a:p>
          <a:p>
            <a:r>
              <a:rPr lang="en-US" dirty="0"/>
              <a:t>“Neurons that fire together, wire together.”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2DFDE1-8F45-482B-A22C-50B6CEF61F7D}" type="slidenum">
              <a:rPr lang="en-US"/>
              <a:pPr/>
              <a:t>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Neuron Model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1600"/>
            <a:ext cx="7832725" cy="4687888"/>
          </a:xfrm>
        </p:spPr>
        <p:txBody>
          <a:bodyPr/>
          <a:lstStyle/>
          <a:p>
            <a:r>
              <a:rPr lang="en-US" sz="2400" dirty="0"/>
              <a:t>Model network as a graph with cells as nodes and synaptic connections as weighted edges from node </a:t>
            </a:r>
            <a:r>
              <a:rPr lang="en-US" sz="2400" i="1" dirty="0" err="1"/>
              <a:t>i</a:t>
            </a:r>
            <a:r>
              <a:rPr lang="en-US" sz="2400" dirty="0"/>
              <a:t> to node </a:t>
            </a:r>
            <a:r>
              <a:rPr lang="en-US" sz="2400" i="1" dirty="0"/>
              <a:t>j</a:t>
            </a:r>
            <a:r>
              <a:rPr lang="en-US" sz="2400" dirty="0"/>
              <a:t>, </a:t>
            </a:r>
            <a:r>
              <a:rPr lang="en-US" sz="2400" i="1" dirty="0" err="1"/>
              <a:t>w</a:t>
            </a:r>
            <a:r>
              <a:rPr lang="en-US" sz="2400" i="1" baseline="-25000" dirty="0" err="1"/>
              <a:t>ji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Model net input to cell as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Cell output is: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baseline="-250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837238" y="2147889"/>
            <a:ext cx="2205037" cy="1773238"/>
            <a:chOff x="3339" y="1637"/>
            <a:chExt cx="1389" cy="1117"/>
          </a:xfrm>
        </p:grpSpPr>
        <p:sp>
          <p:nvSpPr>
            <p:cNvPr id="233478" name="Oval 6"/>
            <p:cNvSpPr>
              <a:spLocks noChangeArrowheads="1"/>
            </p:cNvSpPr>
            <p:nvPr/>
          </p:nvSpPr>
          <p:spPr bwMode="auto">
            <a:xfrm>
              <a:off x="3398" y="2444"/>
              <a:ext cx="77" cy="8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233479" name="Oval 7"/>
            <p:cNvSpPr>
              <a:spLocks noChangeArrowheads="1"/>
            </p:cNvSpPr>
            <p:nvPr/>
          </p:nvSpPr>
          <p:spPr bwMode="auto">
            <a:xfrm>
              <a:off x="3701" y="2444"/>
              <a:ext cx="77" cy="8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233480" name="Oval 8"/>
            <p:cNvSpPr>
              <a:spLocks noChangeArrowheads="1"/>
            </p:cNvSpPr>
            <p:nvPr/>
          </p:nvSpPr>
          <p:spPr bwMode="auto">
            <a:xfrm>
              <a:off x="4005" y="2444"/>
              <a:ext cx="77" cy="8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233481" name="Oval 9"/>
            <p:cNvSpPr>
              <a:spLocks noChangeArrowheads="1"/>
            </p:cNvSpPr>
            <p:nvPr/>
          </p:nvSpPr>
          <p:spPr bwMode="auto">
            <a:xfrm>
              <a:off x="4308" y="2444"/>
              <a:ext cx="77" cy="8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233482" name="Oval 10"/>
            <p:cNvSpPr>
              <a:spLocks noChangeArrowheads="1"/>
            </p:cNvSpPr>
            <p:nvPr/>
          </p:nvSpPr>
          <p:spPr bwMode="auto">
            <a:xfrm>
              <a:off x="4612" y="2444"/>
              <a:ext cx="77" cy="8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233483" name="Text Box 11"/>
            <p:cNvSpPr txBox="1">
              <a:spLocks noChangeArrowheads="1"/>
            </p:cNvSpPr>
            <p:nvPr/>
          </p:nvSpPr>
          <p:spPr bwMode="auto">
            <a:xfrm>
              <a:off x="3939" y="1637"/>
              <a:ext cx="194" cy="2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sz="1800" b="1"/>
                <a:t>1</a:t>
              </a:r>
            </a:p>
          </p:txBody>
        </p:sp>
        <p:sp>
          <p:nvSpPr>
            <p:cNvPr id="233484" name="Text Box 12"/>
            <p:cNvSpPr txBox="1">
              <a:spLocks noChangeArrowheads="1"/>
            </p:cNvSpPr>
            <p:nvPr/>
          </p:nvSpPr>
          <p:spPr bwMode="auto">
            <a:xfrm>
              <a:off x="3651" y="2520"/>
              <a:ext cx="194" cy="2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sz="1800" b="1"/>
                <a:t>3</a:t>
              </a:r>
            </a:p>
          </p:txBody>
        </p:sp>
        <p:sp>
          <p:nvSpPr>
            <p:cNvPr id="233485" name="Text Box 13"/>
            <p:cNvSpPr txBox="1">
              <a:spLocks noChangeArrowheads="1"/>
            </p:cNvSpPr>
            <p:nvPr/>
          </p:nvSpPr>
          <p:spPr bwMode="auto">
            <a:xfrm>
              <a:off x="3339" y="2520"/>
              <a:ext cx="194" cy="2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sz="1800" b="1" dirty="0"/>
                <a:t>2</a:t>
              </a:r>
            </a:p>
          </p:txBody>
        </p:sp>
        <p:sp>
          <p:nvSpPr>
            <p:cNvPr id="233486" name="Text Box 14"/>
            <p:cNvSpPr txBox="1">
              <a:spLocks noChangeArrowheads="1"/>
            </p:cNvSpPr>
            <p:nvPr/>
          </p:nvSpPr>
          <p:spPr bwMode="auto">
            <a:xfrm>
              <a:off x="4257" y="2520"/>
              <a:ext cx="194" cy="2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sz="1800" b="1" dirty="0"/>
                <a:t>5</a:t>
              </a:r>
            </a:p>
          </p:txBody>
        </p:sp>
        <p:sp>
          <p:nvSpPr>
            <p:cNvPr id="233487" name="Text Box 15"/>
            <p:cNvSpPr txBox="1">
              <a:spLocks noChangeArrowheads="1"/>
            </p:cNvSpPr>
            <p:nvPr/>
          </p:nvSpPr>
          <p:spPr bwMode="auto">
            <a:xfrm>
              <a:off x="3954" y="2520"/>
              <a:ext cx="194" cy="2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sz="1800" b="1"/>
                <a:t>4</a:t>
              </a:r>
            </a:p>
          </p:txBody>
        </p:sp>
        <p:sp>
          <p:nvSpPr>
            <p:cNvPr id="233488" name="Text Box 16"/>
            <p:cNvSpPr txBox="1">
              <a:spLocks noChangeArrowheads="1"/>
            </p:cNvSpPr>
            <p:nvPr/>
          </p:nvSpPr>
          <p:spPr bwMode="auto">
            <a:xfrm>
              <a:off x="4534" y="2520"/>
              <a:ext cx="194" cy="2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sz="1800" b="1"/>
                <a:t>6</a:t>
              </a:r>
            </a:p>
          </p:txBody>
        </p:sp>
        <p:sp>
          <p:nvSpPr>
            <p:cNvPr id="233489" name="Line 17"/>
            <p:cNvSpPr>
              <a:spLocks noChangeShapeType="1"/>
            </p:cNvSpPr>
            <p:nvPr/>
          </p:nvSpPr>
          <p:spPr bwMode="auto">
            <a:xfrm flipH="1">
              <a:off x="3436" y="1916"/>
              <a:ext cx="546" cy="526"/>
            </a:xfrm>
            <a:prstGeom prst="line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33490" name="Line 18"/>
            <p:cNvSpPr>
              <a:spLocks noChangeShapeType="1"/>
            </p:cNvSpPr>
            <p:nvPr/>
          </p:nvSpPr>
          <p:spPr bwMode="auto">
            <a:xfrm flipH="1">
              <a:off x="3739" y="1916"/>
              <a:ext cx="243" cy="528"/>
            </a:xfrm>
            <a:prstGeom prst="line">
              <a:avLst/>
            </a:prstGeom>
            <a:ln>
              <a:headEnd type="arrow"/>
              <a:tailE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33491" name="Line 19"/>
            <p:cNvSpPr>
              <a:spLocks noChangeShapeType="1"/>
            </p:cNvSpPr>
            <p:nvPr/>
          </p:nvSpPr>
          <p:spPr bwMode="auto">
            <a:xfrm>
              <a:off x="4001" y="1920"/>
              <a:ext cx="35" cy="522"/>
            </a:xfrm>
            <a:prstGeom prst="line">
              <a:avLst/>
            </a:prstGeom>
            <a:ln>
              <a:headEnd type="arrow"/>
              <a:tailE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33493" name="Line 21"/>
            <p:cNvSpPr>
              <a:spLocks noChangeShapeType="1"/>
            </p:cNvSpPr>
            <p:nvPr/>
          </p:nvSpPr>
          <p:spPr bwMode="auto">
            <a:xfrm>
              <a:off x="4030" y="1916"/>
              <a:ext cx="620" cy="528"/>
            </a:xfrm>
            <a:prstGeom prst="line">
              <a:avLst/>
            </a:prstGeom>
            <a:ln>
              <a:headEnd type="arrow"/>
              <a:tailE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33494" name="Text Box 22"/>
            <p:cNvSpPr txBox="1">
              <a:spLocks noChangeArrowheads="1"/>
            </p:cNvSpPr>
            <p:nvPr/>
          </p:nvSpPr>
          <p:spPr bwMode="auto">
            <a:xfrm>
              <a:off x="3388" y="2108"/>
              <a:ext cx="30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sz="1800" i="1"/>
                <a:t>w</a:t>
              </a:r>
              <a:r>
                <a:rPr lang="en-US" sz="1800" baseline="-25000"/>
                <a:t>12</a:t>
              </a:r>
            </a:p>
          </p:txBody>
        </p:sp>
        <p:sp>
          <p:nvSpPr>
            <p:cNvPr id="233495" name="Text Box 23"/>
            <p:cNvSpPr txBox="1">
              <a:spLocks noChangeArrowheads="1"/>
            </p:cNvSpPr>
            <p:nvPr/>
          </p:nvSpPr>
          <p:spPr bwMode="auto">
            <a:xfrm>
              <a:off x="3637" y="2108"/>
              <a:ext cx="30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sz="1800" i="1" dirty="0"/>
                <a:t>w</a:t>
              </a:r>
              <a:r>
                <a:rPr lang="en-US" sz="1800" baseline="-25000" dirty="0"/>
                <a:t>13</a:t>
              </a:r>
            </a:p>
          </p:txBody>
        </p:sp>
        <p:sp>
          <p:nvSpPr>
            <p:cNvPr id="233496" name="Text Box 24"/>
            <p:cNvSpPr txBox="1">
              <a:spLocks noChangeArrowheads="1"/>
            </p:cNvSpPr>
            <p:nvPr/>
          </p:nvSpPr>
          <p:spPr bwMode="auto">
            <a:xfrm>
              <a:off x="3917" y="2108"/>
              <a:ext cx="30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sz="1800" i="1" dirty="0"/>
                <a:t>w</a:t>
              </a:r>
              <a:r>
                <a:rPr lang="en-US" sz="1800" baseline="-25000" dirty="0"/>
                <a:t>14</a:t>
              </a:r>
            </a:p>
          </p:txBody>
        </p:sp>
        <p:sp>
          <p:nvSpPr>
            <p:cNvPr id="233497" name="Text Box 25"/>
            <p:cNvSpPr txBox="1">
              <a:spLocks noChangeArrowheads="1"/>
            </p:cNvSpPr>
            <p:nvPr/>
          </p:nvSpPr>
          <p:spPr bwMode="auto">
            <a:xfrm>
              <a:off x="4108" y="2108"/>
              <a:ext cx="30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sz="1800" i="1" dirty="0"/>
                <a:t>w</a:t>
              </a:r>
              <a:r>
                <a:rPr lang="en-US" sz="1800" baseline="-25000" dirty="0"/>
                <a:t>15</a:t>
              </a:r>
            </a:p>
          </p:txBody>
        </p:sp>
        <p:sp>
          <p:nvSpPr>
            <p:cNvPr id="233498" name="Text Box 26"/>
            <p:cNvSpPr txBox="1">
              <a:spLocks noChangeArrowheads="1"/>
            </p:cNvSpPr>
            <p:nvPr/>
          </p:nvSpPr>
          <p:spPr bwMode="auto">
            <a:xfrm>
              <a:off x="4318" y="2108"/>
              <a:ext cx="30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sz="1800" i="1" dirty="0"/>
                <a:t>w</a:t>
              </a:r>
              <a:r>
                <a:rPr lang="en-US" sz="1800" baseline="-25000" dirty="0"/>
                <a:t>16</a:t>
              </a:r>
            </a:p>
          </p:txBody>
        </p:sp>
        <p:sp>
          <p:nvSpPr>
            <p:cNvPr id="233492" name="Line 20"/>
            <p:cNvSpPr>
              <a:spLocks noChangeShapeType="1"/>
            </p:cNvSpPr>
            <p:nvPr/>
          </p:nvSpPr>
          <p:spPr bwMode="auto">
            <a:xfrm>
              <a:off x="4024" y="1905"/>
              <a:ext cx="308" cy="537"/>
            </a:xfrm>
            <a:prstGeom prst="line">
              <a:avLst/>
            </a:prstGeom>
            <a:ln>
              <a:headEnd type="arrow"/>
              <a:tailE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33477" name="Oval 5"/>
            <p:cNvSpPr>
              <a:spLocks noChangeArrowheads="1"/>
            </p:cNvSpPr>
            <p:nvPr/>
          </p:nvSpPr>
          <p:spPr bwMode="auto">
            <a:xfrm>
              <a:off x="3963" y="1866"/>
              <a:ext cx="77" cy="8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233499" name="Object 27"/>
          <p:cNvGraphicFramePr>
            <a:graphicFrameLocks noChangeAspect="1"/>
          </p:cNvGraphicFramePr>
          <p:nvPr/>
        </p:nvGraphicFramePr>
        <p:xfrm>
          <a:off x="1244600" y="3143250"/>
          <a:ext cx="209232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" name="Equation" r:id="rId3" imgW="914400" imgH="342720" progId="Equation.3">
                  <p:embed/>
                </p:oleObj>
              </mc:Choice>
              <mc:Fallback>
                <p:oleObj name="Equation" r:id="rId3" imgW="914400" imgH="342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3143250"/>
                        <a:ext cx="2092325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500" name="Text Box 28"/>
          <p:cNvSpPr txBox="1">
            <a:spLocks noChangeArrowheads="1"/>
          </p:cNvSpPr>
          <p:nvPr/>
        </p:nvSpPr>
        <p:spPr bwMode="auto">
          <a:xfrm>
            <a:off x="1185863" y="5599113"/>
            <a:ext cx="32162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 sz="2400"/>
              <a:t>(</a:t>
            </a:r>
            <a:r>
              <a:rPr lang="en-US" sz="2400" i="1"/>
              <a:t>T</a:t>
            </a:r>
            <a:r>
              <a:rPr lang="en-US" sz="2400" i="1" baseline="-25000"/>
              <a:t>j</a:t>
            </a:r>
            <a:r>
              <a:rPr lang="en-US" sz="2400" baseline="-25000"/>
              <a:t> </a:t>
            </a:r>
            <a:r>
              <a:rPr lang="en-US" sz="2400"/>
              <a:t>is threshold for unit </a:t>
            </a:r>
            <a:r>
              <a:rPr lang="en-US" sz="2400" i="1"/>
              <a:t>j</a:t>
            </a:r>
            <a:r>
              <a:rPr lang="en-US" sz="2400"/>
              <a:t>)</a:t>
            </a:r>
          </a:p>
        </p:txBody>
      </p:sp>
      <p:graphicFrame>
        <p:nvGraphicFramePr>
          <p:cNvPr id="233501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1638300" y="4545013"/>
          <a:ext cx="20748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" name="Equation" r:id="rId5" imgW="1117440" imgH="457200" progId="Equation.3">
                  <p:embed/>
                </p:oleObj>
              </mc:Choice>
              <mc:Fallback>
                <p:oleObj name="Equation" r:id="rId5" imgW="1117440" imgH="457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4545013"/>
                        <a:ext cx="2074863" cy="849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4975225" y="4325938"/>
            <a:ext cx="3205163" cy="2022475"/>
            <a:chOff x="4975225" y="4325938"/>
            <a:chExt cx="3205163" cy="2022475"/>
          </a:xfrm>
        </p:grpSpPr>
        <p:sp>
          <p:nvSpPr>
            <p:cNvPr id="233502" name="Line 30"/>
            <p:cNvSpPr>
              <a:spLocks noChangeShapeType="1"/>
            </p:cNvSpPr>
            <p:nvPr/>
          </p:nvSpPr>
          <p:spPr bwMode="auto">
            <a:xfrm flipV="1">
              <a:off x="5376863" y="4389438"/>
              <a:ext cx="0" cy="15605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33503" name="Line 31"/>
            <p:cNvSpPr>
              <a:spLocks noChangeShapeType="1"/>
            </p:cNvSpPr>
            <p:nvPr/>
          </p:nvSpPr>
          <p:spPr bwMode="auto">
            <a:xfrm>
              <a:off x="5376863" y="5949950"/>
              <a:ext cx="28035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33504" name="Text Box 32"/>
            <p:cNvSpPr txBox="1">
              <a:spLocks noChangeArrowheads="1"/>
            </p:cNvSpPr>
            <p:nvPr/>
          </p:nvSpPr>
          <p:spPr bwMode="auto">
            <a:xfrm>
              <a:off x="7524750" y="5951538"/>
              <a:ext cx="536575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i="1"/>
                <a:t>net</a:t>
              </a:r>
              <a:r>
                <a:rPr lang="en-US" i="1" baseline="-25000"/>
                <a:t>j</a:t>
              </a:r>
            </a:p>
          </p:txBody>
        </p:sp>
        <p:sp>
          <p:nvSpPr>
            <p:cNvPr id="233505" name="Text Box 33"/>
            <p:cNvSpPr txBox="1">
              <a:spLocks noChangeArrowheads="1"/>
            </p:cNvSpPr>
            <p:nvPr/>
          </p:nvSpPr>
          <p:spPr bwMode="auto">
            <a:xfrm>
              <a:off x="4975225" y="4325938"/>
              <a:ext cx="354013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i="1"/>
                <a:t>o</a:t>
              </a:r>
              <a:r>
                <a:rPr lang="en-US" i="1" baseline="-25000"/>
                <a:t>j</a:t>
              </a:r>
            </a:p>
          </p:txBody>
        </p:sp>
        <p:sp>
          <p:nvSpPr>
            <p:cNvPr id="233506" name="Text Box 34"/>
            <p:cNvSpPr txBox="1">
              <a:spLocks noChangeArrowheads="1"/>
            </p:cNvSpPr>
            <p:nvPr/>
          </p:nvSpPr>
          <p:spPr bwMode="auto">
            <a:xfrm>
              <a:off x="6511925" y="5940425"/>
              <a:ext cx="368300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i="1"/>
                <a:t>T</a:t>
              </a:r>
              <a:r>
                <a:rPr lang="en-US" i="1" baseline="-25000"/>
                <a:t>j</a:t>
              </a:r>
            </a:p>
          </p:txBody>
        </p:sp>
        <p:sp>
          <p:nvSpPr>
            <p:cNvPr id="233507" name="Line 35"/>
            <p:cNvSpPr>
              <a:spLocks noChangeShapeType="1"/>
            </p:cNvSpPr>
            <p:nvPr/>
          </p:nvSpPr>
          <p:spPr bwMode="auto">
            <a:xfrm>
              <a:off x="6692900" y="5827713"/>
              <a:ext cx="0" cy="1825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33508" name="Text Box 36"/>
            <p:cNvSpPr txBox="1">
              <a:spLocks noChangeArrowheads="1"/>
            </p:cNvSpPr>
            <p:nvPr/>
          </p:nvSpPr>
          <p:spPr bwMode="auto">
            <a:xfrm>
              <a:off x="4992688" y="5757863"/>
              <a:ext cx="307975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b="1"/>
                <a:t>0</a:t>
              </a:r>
            </a:p>
          </p:txBody>
        </p:sp>
        <p:sp>
          <p:nvSpPr>
            <p:cNvPr id="233509" name="Text Box 37"/>
            <p:cNvSpPr txBox="1">
              <a:spLocks noChangeArrowheads="1"/>
            </p:cNvSpPr>
            <p:nvPr/>
          </p:nvSpPr>
          <p:spPr bwMode="auto">
            <a:xfrm>
              <a:off x="4984750" y="4849813"/>
              <a:ext cx="307975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b="1"/>
                <a:t>1</a:t>
              </a:r>
            </a:p>
          </p:txBody>
        </p:sp>
        <p:sp>
          <p:nvSpPr>
            <p:cNvPr id="233510" name="Line 38"/>
            <p:cNvSpPr>
              <a:spLocks noChangeShapeType="1"/>
            </p:cNvSpPr>
            <p:nvPr/>
          </p:nvSpPr>
          <p:spPr bwMode="auto">
            <a:xfrm flipV="1">
              <a:off x="5267325" y="5048250"/>
              <a:ext cx="268288" cy="11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33511" name="Line 39"/>
            <p:cNvSpPr>
              <a:spLocks noChangeShapeType="1"/>
            </p:cNvSpPr>
            <p:nvPr/>
          </p:nvSpPr>
          <p:spPr bwMode="auto">
            <a:xfrm flipV="1">
              <a:off x="5376863" y="5937250"/>
              <a:ext cx="1304925" cy="127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33512" name="Line 40"/>
            <p:cNvSpPr>
              <a:spLocks noChangeShapeType="1"/>
            </p:cNvSpPr>
            <p:nvPr/>
          </p:nvSpPr>
          <p:spPr bwMode="auto">
            <a:xfrm flipV="1">
              <a:off x="6681788" y="5022850"/>
              <a:ext cx="0" cy="914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33513" name="Line 41"/>
            <p:cNvSpPr>
              <a:spLocks noChangeShapeType="1"/>
            </p:cNvSpPr>
            <p:nvPr/>
          </p:nvSpPr>
          <p:spPr bwMode="auto">
            <a:xfrm flipV="1">
              <a:off x="6664325" y="4992688"/>
              <a:ext cx="1304925" cy="127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ANN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McCulloch &amp; Pitts (1943) are generally recognized as the designers of the first neural network</a:t>
            </a:r>
          </a:p>
          <a:p>
            <a:r>
              <a:rPr lang="en-US" dirty="0"/>
              <a:t>Their ideas such as threshold and many simple units combining to give increased computational power are still in use today</a:t>
            </a:r>
          </a:p>
          <a:p>
            <a:r>
              <a:rPr lang="en-US" dirty="0"/>
              <a:t>In the 50’s and 60’s, many researchers worked on the </a:t>
            </a:r>
            <a:r>
              <a:rPr lang="en-US" dirty="0" err="1">
                <a:solidFill>
                  <a:srgbClr val="FF0000"/>
                </a:solidFill>
              </a:rPr>
              <a:t>perceptron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In 1967, </a:t>
            </a:r>
            <a:r>
              <a:rPr lang="en-US" dirty="0" err="1"/>
              <a:t>Minsky</a:t>
            </a:r>
            <a:r>
              <a:rPr lang="en-US" dirty="0"/>
              <a:t> and </a:t>
            </a:r>
            <a:r>
              <a:rPr lang="en-US" dirty="0" err="1"/>
              <a:t>Papert</a:t>
            </a:r>
            <a:r>
              <a:rPr lang="en-US" dirty="0"/>
              <a:t> showed that </a:t>
            </a:r>
            <a:r>
              <a:rPr lang="en-US" dirty="0" err="1"/>
              <a:t>perceptrons</a:t>
            </a:r>
            <a:r>
              <a:rPr lang="en-US" dirty="0"/>
              <a:t> were limited so neural network research died down for about 15 years</a:t>
            </a:r>
          </a:p>
          <a:p>
            <a:r>
              <a:rPr lang="en-US" dirty="0"/>
              <a:t>In the mid 80’s interest revived (</a:t>
            </a:r>
            <a:r>
              <a:rPr lang="en-US" dirty="0" err="1"/>
              <a:t>Rumehart</a:t>
            </a:r>
            <a:r>
              <a:rPr lang="en-US" dirty="0"/>
              <a:t>, Hinton, Williams), many researchers worked on the </a:t>
            </a:r>
            <a:r>
              <a:rPr lang="en-US" dirty="0" err="1">
                <a:solidFill>
                  <a:srgbClr val="00B050"/>
                </a:solidFill>
              </a:rPr>
              <a:t>backpropagation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1987 – IEEE International Conference on Neural 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Recognition</a:t>
            </a:r>
          </a:p>
          <a:p>
            <a:r>
              <a:rPr lang="en-US" dirty="0"/>
              <a:t>Prediction</a:t>
            </a:r>
          </a:p>
          <a:p>
            <a:r>
              <a:rPr lang="en-US" dirty="0"/>
              <a:t>Adaptive filtering</a:t>
            </a:r>
          </a:p>
          <a:p>
            <a:r>
              <a:rPr lang="en-US" dirty="0"/>
              <a:t>Function Approximation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Perceptron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Use Symmetric hard-limit as the transfer (activation) function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85800" y="1981200"/>
            <a:ext cx="7086600" cy="3048000"/>
            <a:chOff x="685800" y="1981200"/>
            <a:chExt cx="7086600" cy="3048000"/>
          </a:xfrm>
        </p:grpSpPr>
        <p:sp>
          <p:nvSpPr>
            <p:cNvPr id="4" name="Oval 3"/>
            <p:cNvSpPr/>
            <p:nvPr/>
          </p:nvSpPr>
          <p:spPr>
            <a:xfrm>
              <a:off x="685800" y="1981200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en-US" dirty="0"/>
                <a:t>x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685800" y="2667000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en-US" dirty="0"/>
                <a:t>x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590800" y="3276600"/>
              <a:ext cx="533400" cy="5334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en-US" dirty="0">
                  <a:sym typeface="Symbol"/>
                </a:rPr>
                <a:t></a:t>
              </a:r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5029200" y="3276600"/>
              <a:ext cx="533400" cy="533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dirty="0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144193" y="3431771"/>
              <a:ext cx="304800" cy="230188"/>
              <a:chOff x="6400800" y="2286000"/>
              <a:chExt cx="304800" cy="230188"/>
            </a:xfrm>
          </p:grpSpPr>
          <p:cxnSp>
            <p:nvCxnSpPr>
              <p:cNvPr id="9" name="Straight Connector 8"/>
              <p:cNvCxnSpPr/>
              <p:nvPr/>
            </p:nvCxnSpPr>
            <p:spPr>
              <a:xfrm rot="5400000">
                <a:off x="6439694" y="2399506"/>
                <a:ext cx="227806" cy="79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6553200" y="22860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6400800" y="25146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/>
            <p:cNvSpPr/>
            <p:nvPr/>
          </p:nvSpPr>
          <p:spPr>
            <a:xfrm>
              <a:off x="7239000" y="3276600"/>
              <a:ext cx="533400" cy="53340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en-US" dirty="0"/>
                <a:t>o</a:t>
              </a:r>
            </a:p>
          </p:txBody>
        </p:sp>
        <p:cxnSp>
          <p:nvCxnSpPr>
            <p:cNvPr id="13" name="Straight Arrow Connector 12"/>
            <p:cNvCxnSpPr>
              <a:stCxn id="4" idx="5"/>
              <a:endCxn id="6" idx="2"/>
            </p:cNvCxnSpPr>
            <p:nvPr/>
          </p:nvCxnSpPr>
          <p:spPr>
            <a:xfrm rot="16200000" flipH="1">
              <a:off x="1312535" y="2265034"/>
              <a:ext cx="1106815" cy="144971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5" idx="6"/>
              <a:endCxn id="6" idx="2"/>
            </p:cNvCxnSpPr>
            <p:nvPr/>
          </p:nvCxnSpPr>
          <p:spPr>
            <a:xfrm>
              <a:off x="1219200" y="2933700"/>
              <a:ext cx="1371600" cy="609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6" idx="6"/>
              <a:endCxn id="7" idx="2"/>
            </p:cNvCxnSpPr>
            <p:nvPr/>
          </p:nvCxnSpPr>
          <p:spPr>
            <a:xfrm>
              <a:off x="3124200" y="3543300"/>
              <a:ext cx="1905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7" idx="6"/>
              <a:endCxn id="12" idx="2"/>
            </p:cNvCxnSpPr>
            <p:nvPr/>
          </p:nvCxnSpPr>
          <p:spPr>
            <a:xfrm>
              <a:off x="5562600" y="3543300"/>
              <a:ext cx="1676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endCxn id="6" idx="0"/>
            </p:cNvCxnSpPr>
            <p:nvPr/>
          </p:nvCxnSpPr>
          <p:spPr>
            <a:xfrm rot="5400000">
              <a:off x="2628900" y="3048000"/>
              <a:ext cx="457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/>
            <p:cNvSpPr/>
            <p:nvPr/>
          </p:nvSpPr>
          <p:spPr>
            <a:xfrm>
              <a:off x="685800" y="3352800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en-US" dirty="0"/>
                <a:t>x</a:t>
              </a:r>
              <a:r>
                <a:rPr lang="en-US" baseline="-25000" dirty="0"/>
                <a:t>3</a:t>
              </a:r>
            </a:p>
          </p:txBody>
        </p:sp>
        <p:cxnSp>
          <p:nvCxnSpPr>
            <p:cNvPr id="39" name="Straight Arrow Connector 38"/>
            <p:cNvCxnSpPr>
              <a:stCxn id="38" idx="6"/>
              <a:endCxn id="6" idx="2"/>
            </p:cNvCxnSpPr>
            <p:nvPr/>
          </p:nvCxnSpPr>
          <p:spPr>
            <a:xfrm flipV="1">
              <a:off x="1219200" y="3543300"/>
              <a:ext cx="1371600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/>
            <p:cNvSpPr/>
            <p:nvPr/>
          </p:nvSpPr>
          <p:spPr>
            <a:xfrm>
              <a:off x="685800" y="4495800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r>
                <a:rPr lang="en-US" dirty="0" err="1"/>
                <a:t>x</a:t>
              </a:r>
              <a:r>
                <a:rPr lang="en-US" baseline="-25000" dirty="0" err="1"/>
                <a:t>n</a:t>
              </a:r>
              <a:endParaRPr lang="en-US" baseline="-25000" dirty="0"/>
            </a:p>
          </p:txBody>
        </p:sp>
        <p:cxnSp>
          <p:nvCxnSpPr>
            <p:cNvPr id="42" name="Straight Arrow Connector 41"/>
            <p:cNvCxnSpPr>
              <a:stCxn id="41" idx="7"/>
              <a:endCxn id="6" idx="2"/>
            </p:cNvCxnSpPr>
            <p:nvPr/>
          </p:nvCxnSpPr>
          <p:spPr>
            <a:xfrm rot="5400000" flipH="1" flipV="1">
              <a:off x="1350635" y="3333751"/>
              <a:ext cx="1030615" cy="144971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838200" y="3974068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: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747918" y="245006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819400" y="2819400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US" baseline="-25000" dirty="0"/>
                <a:t>0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676400" y="2590800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400478" y="3505200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US" baseline="-25000" dirty="0"/>
                <a:t>3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400478" y="2971800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676400" y="4038600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w</a:t>
              </a:r>
              <a:r>
                <a:rPr lang="en-US" baseline="-25000" dirty="0" err="1"/>
                <a:t>n</a:t>
              </a:r>
              <a:endParaRPr lang="en-US" baseline="-25000" dirty="0"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2743200" y="2133600"/>
              <a:ext cx="1146927" cy="1066800"/>
              <a:chOff x="3962400" y="2133600"/>
              <a:chExt cx="1146927" cy="1066800"/>
            </a:xfrm>
          </p:grpSpPr>
          <p:sp>
            <p:nvSpPr>
              <p:cNvPr id="53" name="Oval 52"/>
              <p:cNvSpPr/>
              <p:nvPr/>
            </p:nvSpPr>
            <p:spPr>
              <a:xfrm>
                <a:off x="3962400" y="2362200"/>
                <a:ext cx="609600" cy="83820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5" name="Straight Arrow Connector 54"/>
              <p:cNvCxnSpPr>
                <a:stCxn id="53" idx="7"/>
              </p:cNvCxnSpPr>
              <p:nvPr/>
            </p:nvCxnSpPr>
            <p:spPr>
              <a:xfrm rot="5400000" flipH="1" flipV="1">
                <a:off x="4504088" y="2340839"/>
                <a:ext cx="122751" cy="16547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/>
              <p:cNvSpPr txBox="1"/>
              <p:nvPr/>
            </p:nvSpPr>
            <p:spPr>
              <a:xfrm>
                <a:off x="4572000" y="2133600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bias</a:t>
                </a:r>
              </a:p>
            </p:txBody>
          </p:sp>
        </p:grpSp>
      </p:grpSp>
      <p:graphicFrame>
        <p:nvGraphicFramePr>
          <p:cNvPr id="58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067639"/>
              </p:ext>
            </p:extLst>
          </p:nvPr>
        </p:nvGraphicFramePr>
        <p:xfrm>
          <a:off x="5892800" y="2286000"/>
          <a:ext cx="3251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2" name="Equation" r:id="rId3" imgW="2438280" imgH="685800" progId="Equation.DSMT4">
                  <p:embed/>
                </p:oleObj>
              </mc:Choice>
              <mc:Fallback>
                <p:oleObj name="Equation" r:id="rId3" imgW="2438280" imgH="6858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800" y="2286000"/>
                        <a:ext cx="32512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33320"/>
              </p:ext>
            </p:extLst>
          </p:nvPr>
        </p:nvGraphicFramePr>
        <p:xfrm>
          <a:off x="4094062" y="4058608"/>
          <a:ext cx="25574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3" name="Equation" r:id="rId5" imgW="1917360" imgH="457200" progId="Equation.DSMT4">
                  <p:embed/>
                </p:oleObj>
              </mc:Choice>
              <mc:Fallback>
                <p:oleObj name="Equation" r:id="rId5" imgW="1917360" imgH="457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4062" y="4058608"/>
                        <a:ext cx="2557462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8"/>
          <p:cNvGrpSpPr/>
          <p:nvPr/>
        </p:nvGrpSpPr>
        <p:grpSpPr>
          <a:xfrm>
            <a:off x="5967412" y="4182309"/>
            <a:ext cx="2806700" cy="2051311"/>
            <a:chOff x="2759075" y="4343400"/>
            <a:chExt cx="2806700" cy="2051311"/>
          </a:xfrm>
        </p:grpSpPr>
        <p:sp>
          <p:nvSpPr>
            <p:cNvPr id="43" name="Text Box 33"/>
            <p:cNvSpPr txBox="1">
              <a:spLocks noChangeArrowheads="1"/>
            </p:cNvSpPr>
            <p:nvPr/>
          </p:nvSpPr>
          <p:spPr bwMode="auto">
            <a:xfrm>
              <a:off x="3760787" y="4343400"/>
              <a:ext cx="354013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i="1"/>
                <a:t>o</a:t>
              </a:r>
              <a:r>
                <a:rPr lang="en-US" i="1" baseline="-25000"/>
                <a:t>j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2759075" y="4453199"/>
              <a:ext cx="2806700" cy="1941512"/>
              <a:chOff x="2759075" y="4453199"/>
              <a:chExt cx="2806700" cy="1941512"/>
            </a:xfrm>
          </p:grpSpPr>
          <p:sp>
            <p:nvSpPr>
              <p:cNvPr id="36" name="Line 30"/>
              <p:cNvSpPr>
                <a:spLocks noChangeShapeType="1"/>
              </p:cNvSpPr>
              <p:nvPr/>
            </p:nvSpPr>
            <p:spPr bwMode="auto">
              <a:xfrm flipV="1">
                <a:off x="4073819" y="4453199"/>
                <a:ext cx="0" cy="15605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7" name="Line 31"/>
              <p:cNvSpPr>
                <a:spLocks noChangeShapeType="1"/>
              </p:cNvSpPr>
              <p:nvPr/>
            </p:nvSpPr>
            <p:spPr bwMode="auto">
              <a:xfrm>
                <a:off x="2759075" y="5562600"/>
                <a:ext cx="28035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" name="Text Box 32"/>
              <p:cNvSpPr txBox="1">
                <a:spLocks noChangeArrowheads="1"/>
              </p:cNvSpPr>
              <p:nvPr/>
            </p:nvSpPr>
            <p:spPr bwMode="auto">
              <a:xfrm>
                <a:off x="5029200" y="5608181"/>
                <a:ext cx="536575" cy="39687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i="1" dirty="0" err="1"/>
                  <a:t>net</a:t>
                </a:r>
                <a:r>
                  <a:rPr lang="en-US" i="1" baseline="-25000" dirty="0" err="1"/>
                  <a:t>j</a:t>
                </a:r>
                <a:endParaRPr lang="en-US" i="1" baseline="-25000" dirty="0"/>
              </a:p>
            </p:txBody>
          </p:sp>
          <p:sp>
            <p:nvSpPr>
              <p:cNvPr id="44" name="Text Box 34"/>
              <p:cNvSpPr txBox="1">
                <a:spLocks noChangeArrowheads="1"/>
              </p:cNvSpPr>
              <p:nvPr/>
            </p:nvSpPr>
            <p:spPr bwMode="auto">
              <a:xfrm>
                <a:off x="3894137" y="5997836"/>
                <a:ext cx="368300" cy="39687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i="1"/>
                  <a:t>T</a:t>
                </a:r>
                <a:r>
                  <a:rPr lang="en-US" i="1" baseline="-25000"/>
                  <a:t>j</a:t>
                </a:r>
              </a:p>
            </p:txBody>
          </p:sp>
          <p:sp>
            <p:nvSpPr>
              <p:cNvPr id="45" name="Line 35"/>
              <p:cNvSpPr>
                <a:spLocks noChangeShapeType="1"/>
              </p:cNvSpPr>
              <p:nvPr/>
            </p:nvSpPr>
            <p:spPr bwMode="auto">
              <a:xfrm>
                <a:off x="4075112" y="5885124"/>
                <a:ext cx="0" cy="18256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" name="Text Box 36"/>
              <p:cNvSpPr txBox="1">
                <a:spLocks noChangeArrowheads="1"/>
              </p:cNvSpPr>
              <p:nvPr/>
            </p:nvSpPr>
            <p:spPr bwMode="auto">
              <a:xfrm>
                <a:off x="4158749" y="5815274"/>
                <a:ext cx="385340" cy="37151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b="1" dirty="0"/>
                  <a:t>-1</a:t>
                </a:r>
              </a:p>
            </p:txBody>
          </p:sp>
          <p:sp>
            <p:nvSpPr>
              <p:cNvPr id="59" name="Text Box 37"/>
              <p:cNvSpPr txBox="1">
                <a:spLocks noChangeArrowheads="1"/>
              </p:cNvSpPr>
              <p:nvPr/>
            </p:nvSpPr>
            <p:spPr bwMode="auto">
              <a:xfrm>
                <a:off x="3621881" y="4856403"/>
                <a:ext cx="307975" cy="39687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60" name="Line 38"/>
              <p:cNvSpPr>
                <a:spLocks noChangeShapeType="1"/>
              </p:cNvSpPr>
              <p:nvPr/>
            </p:nvSpPr>
            <p:spPr bwMode="auto">
              <a:xfrm flipV="1">
                <a:off x="3929856" y="5043728"/>
                <a:ext cx="268288" cy="1111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90000" tIns="46800" rIns="90000" bIns="4680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" name="Line 39"/>
              <p:cNvSpPr>
                <a:spLocks noChangeShapeType="1"/>
              </p:cNvSpPr>
              <p:nvPr/>
            </p:nvSpPr>
            <p:spPr bwMode="auto">
              <a:xfrm flipV="1">
                <a:off x="2759075" y="5994661"/>
                <a:ext cx="1304925" cy="127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" name="Line 40"/>
              <p:cNvSpPr>
                <a:spLocks noChangeShapeType="1"/>
              </p:cNvSpPr>
              <p:nvPr/>
            </p:nvSpPr>
            <p:spPr bwMode="auto">
              <a:xfrm flipV="1">
                <a:off x="4073819" y="5080261"/>
                <a:ext cx="0" cy="9144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" name="Line 41"/>
              <p:cNvSpPr>
                <a:spLocks noChangeShapeType="1"/>
              </p:cNvSpPr>
              <p:nvPr/>
            </p:nvSpPr>
            <p:spPr bwMode="auto">
              <a:xfrm flipV="1">
                <a:off x="4046537" y="5050099"/>
                <a:ext cx="1304925" cy="127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yperplane.tif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600" y="2895600"/>
            <a:ext cx="4191000" cy="31432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Hyperplane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2-D space, we use line to classify the features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n-D space, we use </a:t>
            </a:r>
            <a:r>
              <a:rPr lang="en-US" dirty="0" err="1"/>
              <a:t>hyperplane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        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209800" y="1981200"/>
          <a:ext cx="1478868" cy="390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" name="Equation" r:id="rId4" imgW="672840" imgH="177480" progId="Equation.DSMT4">
                  <p:embed/>
                </p:oleObj>
              </mc:Choice>
              <mc:Fallback>
                <p:oleObj name="Equation" r:id="rId4" imgW="672840" imgH="177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81200"/>
                        <a:ext cx="1478868" cy="3906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4724400" y="1905000"/>
          <a:ext cx="1981200" cy="447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" name="Equation" r:id="rId6" imgW="901440" imgH="203040" progId="Equation.DSMT4">
                  <p:embed/>
                </p:oleObj>
              </mc:Choice>
              <mc:Fallback>
                <p:oleObj name="Equation" r:id="rId6" imgW="901440" imgH="2030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905000"/>
                        <a:ext cx="1981200" cy="4474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838200" y="3200400"/>
          <a:ext cx="3810363" cy="289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" name="Equation" r:id="rId8" imgW="1841400" imgH="1396800" progId="Equation.DSMT4">
                  <p:embed/>
                </p:oleObj>
              </mc:Choice>
              <mc:Fallback>
                <p:oleObj name="Equation" r:id="rId8" imgW="1841400" imgH="13968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200400"/>
                        <a:ext cx="3810363" cy="289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Perceptron</a:t>
            </a:r>
            <a:r>
              <a:rPr lang="en-US" dirty="0"/>
              <a:t>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/>
              <a:t>Initial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to small value or zero</a:t>
            </a:r>
            <a:endParaRPr lang="en-US" baseline="-25000" dirty="0"/>
          </a:p>
          <a:p>
            <a:pPr lvl="0"/>
            <a:r>
              <a:rPr lang="en-US" dirty="0"/>
              <a:t>Until the termination condition is met, Do</a:t>
            </a:r>
            <a:endParaRPr lang="en-US" baseline="-25000" dirty="0"/>
          </a:p>
          <a:p>
            <a:pPr lvl="1"/>
            <a:r>
              <a:rPr lang="en-US" dirty="0"/>
              <a:t>For each &lt;(x</a:t>
            </a:r>
            <a:r>
              <a:rPr lang="en-US" baseline="-25000" dirty="0"/>
              <a:t>1</a:t>
            </a:r>
            <a:r>
              <a:rPr lang="en-US" dirty="0"/>
              <a:t>,…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),t&gt; in </a:t>
            </a:r>
            <a:r>
              <a:rPr lang="en-US" dirty="0" err="1"/>
              <a:t>training_examples</a:t>
            </a:r>
            <a:r>
              <a:rPr lang="en-US" dirty="0"/>
              <a:t> Do</a:t>
            </a:r>
            <a:endParaRPr lang="en-US" baseline="-25000" dirty="0"/>
          </a:p>
          <a:p>
            <a:pPr lvl="2"/>
            <a:r>
              <a:rPr lang="en-US" dirty="0"/>
              <a:t>If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&lt;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/>
              <a:t>x</a:t>
            </a:r>
            <a:r>
              <a:rPr lang="en-US" baseline="-25000" dirty="0"/>
              <a:t>i</a:t>
            </a:r>
            <a:r>
              <a:rPr lang="en-US" dirty="0"/>
              <a:t>&gt; &lt;= 0, Do </a:t>
            </a:r>
            <a:br>
              <a:rPr lang="en-US" dirty="0"/>
            </a:br>
            <a:r>
              <a:rPr lang="en-US" dirty="0"/>
              <a:t>w= w + η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endParaRPr lang="en-US" dirty="0"/>
          </a:p>
          <a:p>
            <a:r>
              <a:rPr lang="en-US" dirty="0"/>
              <a:t>Return 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Perceptron</a:t>
            </a:r>
            <a:r>
              <a:rPr lang="en-US" dirty="0"/>
              <a:t>: Step 0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2326881" y="3769119"/>
            <a:ext cx="4343400" cy="5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133600" y="3732212"/>
            <a:ext cx="480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34200" y="351686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7374" y="1219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rot="5400000" flipH="1" flipV="1">
            <a:off x="4229100" y="3162300"/>
            <a:ext cx="838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 flipH="1" flipV="1">
            <a:off x="4343400" y="2819400"/>
            <a:ext cx="10668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4495800" y="3352800"/>
            <a:ext cx="1066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0800000" flipV="1">
            <a:off x="3581400" y="3733800"/>
            <a:ext cx="9144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rot="5400000">
            <a:off x="3657600" y="4038600"/>
            <a:ext cx="11430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16200000" flipH="1">
            <a:off x="4152900" y="4076700"/>
            <a:ext cx="11430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105400" y="25146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5410200" y="32004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4648200" y="2743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429000" y="41148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38100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48006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Perceptron</a:t>
            </a:r>
            <a:r>
              <a:rPr lang="en-US" dirty="0"/>
              <a:t>: Step 1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2326881" y="3769119"/>
            <a:ext cx="4343400" cy="5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133600" y="3732212"/>
            <a:ext cx="480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34200" y="351686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7374" y="1219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rot="5400000" flipH="1" flipV="1">
            <a:off x="4229100" y="3162300"/>
            <a:ext cx="838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 flipH="1" flipV="1">
            <a:off x="4343400" y="2819400"/>
            <a:ext cx="10668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4495800" y="3352800"/>
            <a:ext cx="1066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0800000" flipV="1">
            <a:off x="4495800" y="3200400"/>
            <a:ext cx="914400" cy="53340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rot="5400000">
            <a:off x="4191000" y="2895600"/>
            <a:ext cx="1143000" cy="53340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16200000" flipH="1">
            <a:off x="3695700" y="2933700"/>
            <a:ext cx="1143000" cy="45720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105400" y="25146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10200" y="32004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648200" y="2743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257800" y="3048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876800" y="2438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886200" y="2438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Perceptron</a:t>
            </a:r>
            <a:r>
              <a:rPr lang="en-US" dirty="0"/>
              <a:t>: Step 2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2326881" y="3769119"/>
            <a:ext cx="4343400" cy="5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133600" y="3732212"/>
            <a:ext cx="480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34200" y="351686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7374" y="1219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rot="5400000" flipH="1" flipV="1">
            <a:off x="4229100" y="3162300"/>
            <a:ext cx="838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 flipH="1" flipV="1">
            <a:off x="4343400" y="2819400"/>
            <a:ext cx="10668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4495800" y="3352800"/>
            <a:ext cx="1066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0800000" flipV="1">
            <a:off x="4495800" y="3200400"/>
            <a:ext cx="914400" cy="53340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rot="5400000">
            <a:off x="4191000" y="2895600"/>
            <a:ext cx="1143000" cy="53340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16200000" flipH="1">
            <a:off x="3695700" y="2933700"/>
            <a:ext cx="1143000" cy="45720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105400" y="25146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10200" y="32004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648200" y="2743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257800" y="3048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876800" y="2438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886200" y="2438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/>
          <p:cNvSpPr/>
          <p:nvPr/>
        </p:nvSpPr>
        <p:spPr>
          <a:xfrm rot="15048372">
            <a:off x="4883429" y="3117830"/>
            <a:ext cx="152400" cy="914400"/>
          </a:xfrm>
          <a:prstGeom prst="downArrow">
            <a:avLst/>
          </a:prstGeom>
          <a:solidFill>
            <a:srgbClr val="FFFF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 rot="15048372">
            <a:off x="3058455" y="3709997"/>
            <a:ext cx="2895600" cy="45719"/>
          </a:xfrm>
          <a:prstGeom prst="rect">
            <a:avLst/>
          </a:prstGeom>
          <a:solidFill>
            <a:srgbClr val="FFFF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581400" y="2209800"/>
            <a:ext cx="914400" cy="68580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Perceptron</a:t>
            </a:r>
            <a:r>
              <a:rPr lang="en-US" dirty="0"/>
              <a:t>: Step 3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2326881" y="3769119"/>
            <a:ext cx="4343400" cy="5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133600" y="3732212"/>
            <a:ext cx="480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34200" y="351686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7374" y="1219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rot="5400000" flipH="1" flipV="1">
            <a:off x="4229100" y="3162300"/>
            <a:ext cx="838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 flipH="1" flipV="1">
            <a:off x="4343400" y="2819400"/>
            <a:ext cx="10668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4495800" y="3352800"/>
            <a:ext cx="1066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0800000" flipV="1">
            <a:off x="4495800" y="3200400"/>
            <a:ext cx="914400" cy="53340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rot="5400000">
            <a:off x="4191000" y="2895600"/>
            <a:ext cx="1143000" cy="53340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16200000" flipH="1">
            <a:off x="3695700" y="2933700"/>
            <a:ext cx="1143000" cy="45720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105400" y="25146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10200" y="32004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648200" y="2743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257800" y="3048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876800" y="2438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886200" y="2438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196855" y="2502379"/>
            <a:ext cx="1219974" cy="1251291"/>
            <a:chOff x="4196855" y="2502379"/>
            <a:chExt cx="1219974" cy="1251291"/>
          </a:xfrm>
        </p:grpSpPr>
        <p:sp>
          <p:nvSpPr>
            <p:cNvPr id="20" name="Down Arrow 19"/>
            <p:cNvSpPr/>
            <p:nvPr/>
          </p:nvSpPr>
          <p:spPr>
            <a:xfrm rot="15048372">
              <a:off x="4883429" y="3117830"/>
              <a:ext cx="152400" cy="914400"/>
            </a:xfrm>
            <a:prstGeom prst="downArrow">
              <a:avLst/>
            </a:prstGeom>
            <a:solidFill>
              <a:srgbClr val="FFFF00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Down Arrow 23"/>
            <p:cNvSpPr/>
            <p:nvPr/>
          </p:nvSpPr>
          <p:spPr>
            <a:xfrm rot="9460221">
              <a:off x="4196855" y="2502379"/>
              <a:ext cx="142345" cy="1251291"/>
            </a:xfrm>
            <a:prstGeom prst="downArrow">
              <a:avLst/>
            </a:prstGeom>
            <a:solidFill>
              <a:srgbClr val="FFFF00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030322" y="2258327"/>
            <a:ext cx="1361093" cy="1511567"/>
            <a:chOff x="4030322" y="2258327"/>
            <a:chExt cx="1361093" cy="1511567"/>
          </a:xfrm>
        </p:grpSpPr>
        <p:cxnSp>
          <p:nvCxnSpPr>
            <p:cNvPr id="29" name="Straight Connector 28"/>
            <p:cNvCxnSpPr>
              <a:stCxn id="24" idx="2"/>
            </p:cNvCxnSpPr>
            <p:nvPr/>
          </p:nvCxnSpPr>
          <p:spPr>
            <a:xfrm flipV="1">
              <a:off x="4030322" y="2271807"/>
              <a:ext cx="770278" cy="277487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endCxn id="20" idx="2"/>
            </p:cNvCxnSpPr>
            <p:nvPr/>
          </p:nvCxnSpPr>
          <p:spPr>
            <a:xfrm rot="16200000" flipH="1">
              <a:off x="4564750" y="2598054"/>
              <a:ext cx="1138717" cy="514612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41" name="Down Arrow 40"/>
            <p:cNvSpPr/>
            <p:nvPr/>
          </p:nvSpPr>
          <p:spPr>
            <a:xfrm rot="11520000">
              <a:off x="4615397" y="2258327"/>
              <a:ext cx="130404" cy="1511567"/>
            </a:xfrm>
            <a:prstGeom prst="downArrow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Perceptron</a:t>
            </a:r>
            <a:r>
              <a:rPr lang="en-US" dirty="0"/>
              <a:t>: Step 4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2326881" y="3769119"/>
            <a:ext cx="4343400" cy="5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133600" y="3732212"/>
            <a:ext cx="480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34200" y="351686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7374" y="1219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rot="5400000" flipH="1" flipV="1">
            <a:off x="4229100" y="3162300"/>
            <a:ext cx="838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 flipH="1" flipV="1">
            <a:off x="4343400" y="2819400"/>
            <a:ext cx="10668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4495800" y="3352800"/>
            <a:ext cx="1066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0800000" flipV="1">
            <a:off x="3581400" y="3733800"/>
            <a:ext cx="9144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rot="5400000">
            <a:off x="3657600" y="4038600"/>
            <a:ext cx="11430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16200000" flipH="1">
            <a:off x="4152900" y="4076700"/>
            <a:ext cx="11430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105400" y="25146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10200" y="32004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648200" y="2743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429000" y="41148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8100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8006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 rot="720000">
            <a:off x="3064364" y="3724609"/>
            <a:ext cx="2895600" cy="762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 rot="11520000">
            <a:off x="4615397" y="2258327"/>
            <a:ext cx="130404" cy="1511567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Problem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991394" y="4342606"/>
            <a:ext cx="3200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14400" y="4572000"/>
            <a:ext cx="3505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447800" y="5334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429000" y="3505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447800" y="35052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29000" y="5334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800600" y="3048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cxnSp>
        <p:nvCxnSpPr>
          <p:cNvPr id="29" name="Straight Connector 28"/>
          <p:cNvCxnSpPr/>
          <p:nvPr/>
        </p:nvCxnSpPr>
        <p:spPr>
          <a:xfrm rot="5400000">
            <a:off x="1447006" y="4572000"/>
            <a:ext cx="304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3429794" y="4571206"/>
            <a:ext cx="304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10800000" flipV="1">
            <a:off x="2438400" y="3657600"/>
            <a:ext cx="305594" cy="7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0800000" flipV="1">
            <a:off x="2438400" y="5486400"/>
            <a:ext cx="305594" cy="7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71600" y="465986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33600" y="526946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09800" y="3440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659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5943600" y="3048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43" name="Oval 42"/>
          <p:cNvSpPr/>
          <p:nvPr/>
        </p:nvSpPr>
        <p:spPr>
          <a:xfrm>
            <a:off x="5334000" y="18288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sp>
        <p:nvSpPr>
          <p:cNvPr id="45" name="Oval 44"/>
          <p:cNvSpPr/>
          <p:nvPr/>
        </p:nvSpPr>
        <p:spPr>
          <a:xfrm>
            <a:off x="7162800" y="1828800"/>
            <a:ext cx="5334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dirty="0"/>
          </a:p>
        </p:txBody>
      </p:sp>
      <p:grpSp>
        <p:nvGrpSpPr>
          <p:cNvPr id="55" name="Group 54"/>
          <p:cNvGrpSpPr/>
          <p:nvPr/>
        </p:nvGrpSpPr>
        <p:grpSpPr>
          <a:xfrm>
            <a:off x="7266039" y="1995948"/>
            <a:ext cx="304800" cy="230188"/>
            <a:chOff x="6400800" y="2286000"/>
            <a:chExt cx="304800" cy="230188"/>
          </a:xfrm>
        </p:grpSpPr>
        <p:cxnSp>
          <p:nvCxnSpPr>
            <p:cNvPr id="49" name="Straight Connector 48"/>
            <p:cNvCxnSpPr/>
            <p:nvPr/>
          </p:nvCxnSpPr>
          <p:spPr>
            <a:xfrm rot="5400000">
              <a:off x="6439694" y="2399506"/>
              <a:ext cx="227806" cy="79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6553200" y="2286000"/>
              <a:ext cx="152400" cy="158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6400800" y="2514600"/>
              <a:ext cx="152400" cy="158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6" name="Oval 55"/>
          <p:cNvSpPr/>
          <p:nvPr/>
        </p:nvSpPr>
        <p:spPr>
          <a:xfrm>
            <a:off x="8077200" y="1828800"/>
            <a:ext cx="533400" cy="533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dirty="0"/>
          </a:p>
        </p:txBody>
      </p:sp>
      <p:cxnSp>
        <p:nvCxnSpPr>
          <p:cNvPr id="58" name="Straight Arrow Connector 57"/>
          <p:cNvCxnSpPr>
            <a:stCxn id="27" idx="0"/>
            <a:endCxn id="43" idx="3"/>
          </p:cNvCxnSpPr>
          <p:nvPr/>
        </p:nvCxnSpPr>
        <p:spPr>
          <a:xfrm rot="5400000" flipH="1" flipV="1">
            <a:off x="4857750" y="2493636"/>
            <a:ext cx="763915" cy="344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2" idx="0"/>
            <a:endCxn id="43" idx="5"/>
          </p:cNvCxnSpPr>
          <p:nvPr/>
        </p:nvCxnSpPr>
        <p:spPr>
          <a:xfrm rot="16200000" flipV="1">
            <a:off x="5617836" y="2455535"/>
            <a:ext cx="763915" cy="421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43" idx="6"/>
            <a:endCxn id="45" idx="2"/>
          </p:cNvCxnSpPr>
          <p:nvPr/>
        </p:nvCxnSpPr>
        <p:spPr>
          <a:xfrm>
            <a:off x="5867400" y="2095500"/>
            <a:ext cx="1295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45" idx="6"/>
            <a:endCxn id="56" idx="2"/>
          </p:cNvCxnSpPr>
          <p:nvPr/>
        </p:nvCxnSpPr>
        <p:spPr>
          <a:xfrm>
            <a:off x="7696200" y="20955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endCxn id="43" idx="2"/>
          </p:cNvCxnSpPr>
          <p:nvPr/>
        </p:nvCxnSpPr>
        <p:spPr>
          <a:xfrm>
            <a:off x="4894006" y="2091813"/>
            <a:ext cx="439994" cy="36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/>
          <p:cNvGrpSpPr/>
          <p:nvPr/>
        </p:nvGrpSpPr>
        <p:grpSpPr>
          <a:xfrm>
            <a:off x="4419600" y="1905000"/>
            <a:ext cx="2057400" cy="978932"/>
            <a:chOff x="4419600" y="1905000"/>
            <a:chExt cx="2057400" cy="978932"/>
          </a:xfrm>
        </p:grpSpPr>
        <p:sp>
          <p:nvSpPr>
            <p:cNvPr id="75" name="TextBox 74"/>
            <p:cNvSpPr txBox="1"/>
            <p:nvPr/>
          </p:nvSpPr>
          <p:spPr>
            <a:xfrm>
              <a:off x="4800600" y="2514600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0.5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10206" y="2514600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419600" y="1905000"/>
              <a:ext cx="5421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-0.5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AD422F7-478E-41A1-B3F1-8C4ACD25D25F}"/>
              </a:ext>
            </a:extLst>
          </p:cNvPr>
          <p:cNvGrpSpPr/>
          <p:nvPr/>
        </p:nvGrpSpPr>
        <p:grpSpPr>
          <a:xfrm>
            <a:off x="4800600" y="3733800"/>
            <a:ext cx="3733800" cy="1740932"/>
            <a:chOff x="4800600" y="3733800"/>
            <a:chExt cx="3733800" cy="1740932"/>
          </a:xfrm>
        </p:grpSpPr>
        <p:sp>
          <p:nvSpPr>
            <p:cNvPr id="88" name="TextBox 87"/>
            <p:cNvSpPr txBox="1"/>
            <p:nvPr/>
          </p:nvSpPr>
          <p:spPr>
            <a:xfrm>
              <a:off x="4876800" y="37338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100718" y="37338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153206" y="3733800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0.5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8234318" y="37338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881518" y="420266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019800" y="4202668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086600" y="4202668"/>
              <a:ext cx="5421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-0.5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153400" y="4202668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800600" y="46482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100718" y="46482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086600" y="4648200"/>
              <a:ext cx="5421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-0.5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8153400" y="46482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4800600" y="51054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6019800" y="51054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7086600" y="5105400"/>
              <a:ext cx="5421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-1.5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8153400" y="51054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</p:grpSp>
      <p:sp>
        <p:nvSpPr>
          <p:cNvPr id="106" name="TextBox 105"/>
          <p:cNvSpPr txBox="1"/>
          <p:nvPr/>
        </p:nvSpPr>
        <p:spPr>
          <a:xfrm>
            <a:off x="4419600" y="4343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38400" y="2438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48200" y="5715000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 </a:t>
            </a:r>
            <a:r>
              <a:rPr lang="en-US" dirty="0"/>
              <a:t>= - X</a:t>
            </a:r>
            <a:r>
              <a:rPr lang="en-US" baseline="-25000" dirty="0"/>
              <a:t>1</a:t>
            </a:r>
            <a:r>
              <a:rPr lang="en-US" dirty="0"/>
              <a:t>+1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1524000" y="2590800"/>
            <a:ext cx="3124200" cy="3048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Problem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991394" y="4342606"/>
            <a:ext cx="3200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14400" y="4572000"/>
            <a:ext cx="3505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447800" y="5334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429000" y="3505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447800" y="3505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29000" y="53340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800600" y="3048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cxnSp>
        <p:nvCxnSpPr>
          <p:cNvPr id="29" name="Straight Connector 28"/>
          <p:cNvCxnSpPr/>
          <p:nvPr/>
        </p:nvCxnSpPr>
        <p:spPr>
          <a:xfrm rot="5400000">
            <a:off x="1447006" y="4572000"/>
            <a:ext cx="304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3429794" y="4571206"/>
            <a:ext cx="304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10800000" flipV="1">
            <a:off x="2438400" y="3657600"/>
            <a:ext cx="305594" cy="7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0800000" flipV="1">
            <a:off x="2438400" y="5486400"/>
            <a:ext cx="305594" cy="7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71600" y="465986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33600" y="526946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09800" y="3440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659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5943600" y="3048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43" name="Oval 42"/>
          <p:cNvSpPr/>
          <p:nvPr/>
        </p:nvSpPr>
        <p:spPr>
          <a:xfrm>
            <a:off x="5334000" y="18288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sp>
        <p:nvSpPr>
          <p:cNvPr id="45" name="Oval 44"/>
          <p:cNvSpPr/>
          <p:nvPr/>
        </p:nvSpPr>
        <p:spPr>
          <a:xfrm>
            <a:off x="7162800" y="1828800"/>
            <a:ext cx="5334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dirty="0"/>
          </a:p>
        </p:txBody>
      </p:sp>
      <p:grpSp>
        <p:nvGrpSpPr>
          <p:cNvPr id="3" name="Group 54"/>
          <p:cNvGrpSpPr/>
          <p:nvPr/>
        </p:nvGrpSpPr>
        <p:grpSpPr>
          <a:xfrm>
            <a:off x="7266039" y="1995948"/>
            <a:ext cx="304800" cy="230188"/>
            <a:chOff x="6400800" y="2286000"/>
            <a:chExt cx="304800" cy="230188"/>
          </a:xfrm>
        </p:grpSpPr>
        <p:cxnSp>
          <p:nvCxnSpPr>
            <p:cNvPr id="49" name="Straight Connector 48"/>
            <p:cNvCxnSpPr/>
            <p:nvPr/>
          </p:nvCxnSpPr>
          <p:spPr>
            <a:xfrm rot="5400000">
              <a:off x="6439694" y="2399506"/>
              <a:ext cx="227806" cy="79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6553200" y="2286000"/>
              <a:ext cx="152400" cy="158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6400800" y="2514600"/>
              <a:ext cx="152400" cy="158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6" name="Oval 55"/>
          <p:cNvSpPr/>
          <p:nvPr/>
        </p:nvSpPr>
        <p:spPr>
          <a:xfrm>
            <a:off x="8077200" y="1828800"/>
            <a:ext cx="533400" cy="533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dirty="0"/>
          </a:p>
        </p:txBody>
      </p:sp>
      <p:cxnSp>
        <p:nvCxnSpPr>
          <p:cNvPr id="58" name="Straight Arrow Connector 57"/>
          <p:cNvCxnSpPr>
            <a:stCxn id="27" idx="0"/>
            <a:endCxn id="43" idx="3"/>
          </p:cNvCxnSpPr>
          <p:nvPr/>
        </p:nvCxnSpPr>
        <p:spPr>
          <a:xfrm rot="5400000" flipH="1" flipV="1">
            <a:off x="4857750" y="2493636"/>
            <a:ext cx="763915" cy="344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2" idx="0"/>
            <a:endCxn id="43" idx="5"/>
          </p:cNvCxnSpPr>
          <p:nvPr/>
        </p:nvCxnSpPr>
        <p:spPr>
          <a:xfrm rot="16200000" flipV="1">
            <a:off x="5617836" y="2455535"/>
            <a:ext cx="763915" cy="421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43" idx="6"/>
            <a:endCxn id="45" idx="2"/>
          </p:cNvCxnSpPr>
          <p:nvPr/>
        </p:nvCxnSpPr>
        <p:spPr>
          <a:xfrm>
            <a:off x="5867400" y="2095500"/>
            <a:ext cx="1295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45" idx="6"/>
            <a:endCxn id="56" idx="2"/>
          </p:cNvCxnSpPr>
          <p:nvPr/>
        </p:nvCxnSpPr>
        <p:spPr>
          <a:xfrm>
            <a:off x="7696200" y="20955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endCxn id="43" idx="2"/>
          </p:cNvCxnSpPr>
          <p:nvPr/>
        </p:nvCxnSpPr>
        <p:spPr>
          <a:xfrm>
            <a:off x="4894006" y="2091813"/>
            <a:ext cx="439994" cy="36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/>
          <p:cNvGrpSpPr/>
          <p:nvPr/>
        </p:nvGrpSpPr>
        <p:grpSpPr>
          <a:xfrm>
            <a:off x="4419600" y="1905000"/>
            <a:ext cx="2057400" cy="978932"/>
            <a:chOff x="4419600" y="1905000"/>
            <a:chExt cx="2057400" cy="978932"/>
          </a:xfrm>
        </p:grpSpPr>
        <p:sp>
          <p:nvSpPr>
            <p:cNvPr id="75" name="TextBox 74"/>
            <p:cNvSpPr txBox="1"/>
            <p:nvPr/>
          </p:nvSpPr>
          <p:spPr>
            <a:xfrm>
              <a:off x="4800600" y="2514600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0.5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10206" y="2514600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419600" y="1905000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0.5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A1018AB-ECF8-4863-A14C-CB5C2DEB846D}"/>
              </a:ext>
            </a:extLst>
          </p:cNvPr>
          <p:cNvGrpSpPr/>
          <p:nvPr/>
        </p:nvGrpSpPr>
        <p:grpSpPr>
          <a:xfrm>
            <a:off x="4800600" y="3733800"/>
            <a:ext cx="3733800" cy="1740932"/>
            <a:chOff x="4800600" y="3733800"/>
            <a:chExt cx="3733800" cy="1740932"/>
          </a:xfrm>
        </p:grpSpPr>
        <p:sp>
          <p:nvSpPr>
            <p:cNvPr id="88" name="TextBox 87"/>
            <p:cNvSpPr txBox="1"/>
            <p:nvPr/>
          </p:nvSpPr>
          <p:spPr>
            <a:xfrm>
              <a:off x="4876800" y="37338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100718" y="37338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153206" y="3733800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1.5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8234318" y="37338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881518" y="420266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019800" y="4202668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153206" y="4202668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0.5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234318" y="420266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800600" y="46482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100718" y="46482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153206" y="4648200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0.5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8234318" y="46482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4800600" y="51054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6019800" y="51054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7086600" y="5105400"/>
              <a:ext cx="5421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-0.5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8153400" y="510540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3581400" y="5867400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 </a:t>
            </a:r>
            <a:r>
              <a:rPr lang="en-US" dirty="0"/>
              <a:t>= - X</a:t>
            </a:r>
            <a:r>
              <a:rPr lang="en-US" baseline="-25000" dirty="0"/>
              <a:t>1</a:t>
            </a:r>
            <a:r>
              <a:rPr lang="en-US" dirty="0"/>
              <a:t>-1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19600" y="4343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38400" y="2438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57200" y="3429000"/>
            <a:ext cx="3124200" cy="3048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 Problem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991394" y="4342606"/>
            <a:ext cx="3200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14400" y="4572000"/>
            <a:ext cx="3505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447800" y="5334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429000" y="35052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447800" y="3505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29000" y="53340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800600" y="3048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cxnSp>
        <p:nvCxnSpPr>
          <p:cNvPr id="29" name="Straight Connector 28"/>
          <p:cNvCxnSpPr/>
          <p:nvPr/>
        </p:nvCxnSpPr>
        <p:spPr>
          <a:xfrm rot="5400000">
            <a:off x="1447006" y="4572000"/>
            <a:ext cx="304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3429794" y="4571206"/>
            <a:ext cx="304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10800000" flipV="1">
            <a:off x="2438400" y="3657600"/>
            <a:ext cx="305594" cy="7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0800000" flipV="1">
            <a:off x="2438400" y="5486400"/>
            <a:ext cx="305594" cy="7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71600" y="465986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33600" y="526946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09800" y="3440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659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5943600" y="3048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43" name="Oval 42"/>
          <p:cNvSpPr/>
          <p:nvPr/>
        </p:nvSpPr>
        <p:spPr>
          <a:xfrm>
            <a:off x="5334000" y="18288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sp>
        <p:nvSpPr>
          <p:cNvPr id="45" name="Oval 44"/>
          <p:cNvSpPr/>
          <p:nvPr/>
        </p:nvSpPr>
        <p:spPr>
          <a:xfrm>
            <a:off x="7162800" y="1828800"/>
            <a:ext cx="5334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dirty="0"/>
          </a:p>
        </p:txBody>
      </p:sp>
      <p:grpSp>
        <p:nvGrpSpPr>
          <p:cNvPr id="3" name="Group 54"/>
          <p:cNvGrpSpPr/>
          <p:nvPr/>
        </p:nvGrpSpPr>
        <p:grpSpPr>
          <a:xfrm>
            <a:off x="7266039" y="1995948"/>
            <a:ext cx="304800" cy="230188"/>
            <a:chOff x="6400800" y="2286000"/>
            <a:chExt cx="304800" cy="230188"/>
          </a:xfrm>
        </p:grpSpPr>
        <p:cxnSp>
          <p:nvCxnSpPr>
            <p:cNvPr id="49" name="Straight Connector 48"/>
            <p:cNvCxnSpPr/>
            <p:nvPr/>
          </p:nvCxnSpPr>
          <p:spPr>
            <a:xfrm rot="5400000">
              <a:off x="6439694" y="2399506"/>
              <a:ext cx="227806" cy="79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6553200" y="2286000"/>
              <a:ext cx="152400" cy="158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6400800" y="2514600"/>
              <a:ext cx="152400" cy="158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6" name="Oval 55"/>
          <p:cNvSpPr/>
          <p:nvPr/>
        </p:nvSpPr>
        <p:spPr>
          <a:xfrm>
            <a:off x="8077200" y="1828800"/>
            <a:ext cx="533400" cy="533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dirty="0"/>
          </a:p>
        </p:txBody>
      </p:sp>
      <p:cxnSp>
        <p:nvCxnSpPr>
          <p:cNvPr id="58" name="Straight Arrow Connector 57"/>
          <p:cNvCxnSpPr>
            <a:stCxn id="27" idx="0"/>
            <a:endCxn id="43" idx="3"/>
          </p:cNvCxnSpPr>
          <p:nvPr/>
        </p:nvCxnSpPr>
        <p:spPr>
          <a:xfrm rot="5400000" flipH="1" flipV="1">
            <a:off x="4857750" y="2493636"/>
            <a:ext cx="763915" cy="344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2" idx="0"/>
            <a:endCxn id="43" idx="5"/>
          </p:cNvCxnSpPr>
          <p:nvPr/>
        </p:nvCxnSpPr>
        <p:spPr>
          <a:xfrm rot="16200000" flipV="1">
            <a:off x="5617836" y="2455535"/>
            <a:ext cx="763915" cy="421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43" idx="6"/>
            <a:endCxn id="45" idx="2"/>
          </p:cNvCxnSpPr>
          <p:nvPr/>
        </p:nvCxnSpPr>
        <p:spPr>
          <a:xfrm>
            <a:off x="5867400" y="2095500"/>
            <a:ext cx="1295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45" idx="6"/>
            <a:endCxn id="56" idx="2"/>
          </p:cNvCxnSpPr>
          <p:nvPr/>
        </p:nvCxnSpPr>
        <p:spPr>
          <a:xfrm>
            <a:off x="7696200" y="20955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endCxn id="43" idx="2"/>
          </p:cNvCxnSpPr>
          <p:nvPr/>
        </p:nvCxnSpPr>
        <p:spPr>
          <a:xfrm>
            <a:off x="4894006" y="2091813"/>
            <a:ext cx="439994" cy="36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108"/>
          <p:cNvGrpSpPr/>
          <p:nvPr/>
        </p:nvGrpSpPr>
        <p:grpSpPr>
          <a:xfrm>
            <a:off x="4691390" y="1905000"/>
            <a:ext cx="1580426" cy="978932"/>
            <a:chOff x="4691390" y="1905000"/>
            <a:chExt cx="1580426" cy="978932"/>
          </a:xfrm>
        </p:grpSpPr>
        <p:sp>
          <p:nvSpPr>
            <p:cNvPr id="75" name="TextBox 74"/>
            <p:cNvSpPr txBox="1"/>
            <p:nvPr/>
          </p:nvSpPr>
          <p:spPr>
            <a:xfrm>
              <a:off x="4996190" y="25146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10206" y="25146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691390" y="19050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</a:t>
              </a:r>
            </a:p>
          </p:txBody>
        </p:sp>
      </p:grpSp>
      <p:sp>
        <p:nvSpPr>
          <p:cNvPr id="106" name="TextBox 105"/>
          <p:cNvSpPr txBox="1"/>
          <p:nvPr/>
        </p:nvSpPr>
        <p:spPr>
          <a:xfrm>
            <a:off x="4419600" y="4343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38400" y="2438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38" name="32-Point Star 37"/>
          <p:cNvSpPr/>
          <p:nvPr/>
        </p:nvSpPr>
        <p:spPr>
          <a:xfrm>
            <a:off x="4953000" y="4419600"/>
            <a:ext cx="3505200" cy="1371600"/>
          </a:xfrm>
          <a:prstGeom prst="star32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00"/>
                </a:solidFill>
              </a:rPr>
              <a:t>Perceptron</a:t>
            </a:r>
            <a:r>
              <a:rPr lang="en-US" dirty="0">
                <a:solidFill>
                  <a:srgbClr val="FFFF00"/>
                </a:solidFill>
              </a:rPr>
              <a:t> cannot solve XOR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Multi-layer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the hidden layer between the input and output layers</a:t>
            </a:r>
          </a:p>
        </p:txBody>
      </p:sp>
      <p:sp>
        <p:nvSpPr>
          <p:cNvPr id="5" name="Oval 4"/>
          <p:cNvSpPr/>
          <p:nvPr/>
        </p:nvSpPr>
        <p:spPr>
          <a:xfrm>
            <a:off x="4267200" y="5029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6" name="Oval 5"/>
          <p:cNvSpPr/>
          <p:nvPr/>
        </p:nvSpPr>
        <p:spPr>
          <a:xfrm>
            <a:off x="3352800" y="5029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7" name="Oval 6"/>
          <p:cNvSpPr/>
          <p:nvPr/>
        </p:nvSpPr>
        <p:spPr>
          <a:xfrm>
            <a:off x="5181600" y="5029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9" name="Oval 8"/>
          <p:cNvSpPr/>
          <p:nvPr/>
        </p:nvSpPr>
        <p:spPr>
          <a:xfrm>
            <a:off x="3200400" y="3733800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0" name="Oval 9"/>
          <p:cNvSpPr/>
          <p:nvPr/>
        </p:nvSpPr>
        <p:spPr>
          <a:xfrm>
            <a:off x="4267200" y="3733800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1" name="Oval 10"/>
          <p:cNvSpPr/>
          <p:nvPr/>
        </p:nvSpPr>
        <p:spPr>
          <a:xfrm>
            <a:off x="5334000" y="3733800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2" name="Oval 11"/>
          <p:cNvSpPr/>
          <p:nvPr/>
        </p:nvSpPr>
        <p:spPr>
          <a:xfrm>
            <a:off x="3810000" y="2286000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13" name="Oval 12"/>
          <p:cNvSpPr/>
          <p:nvPr/>
        </p:nvSpPr>
        <p:spPr>
          <a:xfrm>
            <a:off x="4724400" y="2286000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cxnSp>
        <p:nvCxnSpPr>
          <p:cNvPr id="17" name="Straight Arrow Connector 16"/>
          <p:cNvCxnSpPr>
            <a:stCxn id="6" idx="0"/>
            <a:endCxn id="9" idx="4"/>
          </p:cNvCxnSpPr>
          <p:nvPr/>
        </p:nvCxnSpPr>
        <p:spPr>
          <a:xfrm rot="16200000" flipV="1">
            <a:off x="3162300" y="4572000"/>
            <a:ext cx="762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" idx="0"/>
            <a:endCxn id="9" idx="4"/>
          </p:cNvCxnSpPr>
          <p:nvPr/>
        </p:nvCxnSpPr>
        <p:spPr>
          <a:xfrm rot="16200000" flipV="1">
            <a:off x="3619500" y="4114800"/>
            <a:ext cx="7620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0"/>
            <a:endCxn id="9" idx="4"/>
          </p:cNvCxnSpPr>
          <p:nvPr/>
        </p:nvCxnSpPr>
        <p:spPr>
          <a:xfrm rot="16200000" flipV="1">
            <a:off x="4076700" y="3657600"/>
            <a:ext cx="762000" cy="1981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6" idx="0"/>
            <a:endCxn id="10" idx="4"/>
          </p:cNvCxnSpPr>
          <p:nvPr/>
        </p:nvCxnSpPr>
        <p:spPr>
          <a:xfrm rot="5400000" flipH="1" flipV="1">
            <a:off x="3695700" y="4191000"/>
            <a:ext cx="7620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5" idx="0"/>
            <a:endCxn id="10" idx="4"/>
          </p:cNvCxnSpPr>
          <p:nvPr/>
        </p:nvCxnSpPr>
        <p:spPr>
          <a:xfrm rot="5400000" flipH="1" flipV="1">
            <a:off x="4152900" y="4648200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7" idx="0"/>
            <a:endCxn id="10" idx="4"/>
          </p:cNvCxnSpPr>
          <p:nvPr/>
        </p:nvCxnSpPr>
        <p:spPr>
          <a:xfrm rot="16200000" flipV="1">
            <a:off x="4610100" y="4191000"/>
            <a:ext cx="7620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5" idx="0"/>
            <a:endCxn id="11" idx="4"/>
          </p:cNvCxnSpPr>
          <p:nvPr/>
        </p:nvCxnSpPr>
        <p:spPr>
          <a:xfrm rot="5400000" flipH="1" flipV="1">
            <a:off x="4686300" y="4114800"/>
            <a:ext cx="7620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7" idx="0"/>
            <a:endCxn id="11" idx="4"/>
          </p:cNvCxnSpPr>
          <p:nvPr/>
        </p:nvCxnSpPr>
        <p:spPr>
          <a:xfrm rot="5400000" flipH="1" flipV="1">
            <a:off x="5143500" y="4572000"/>
            <a:ext cx="762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6" idx="0"/>
            <a:endCxn id="11" idx="4"/>
          </p:cNvCxnSpPr>
          <p:nvPr/>
        </p:nvCxnSpPr>
        <p:spPr>
          <a:xfrm rot="5400000" flipH="1" flipV="1">
            <a:off x="4229100" y="3657600"/>
            <a:ext cx="762000" cy="1981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9" idx="0"/>
            <a:endCxn id="12" idx="4"/>
          </p:cNvCxnSpPr>
          <p:nvPr/>
        </p:nvCxnSpPr>
        <p:spPr>
          <a:xfrm rot="5400000" flipH="1" flipV="1">
            <a:off x="3314700" y="2971800"/>
            <a:ext cx="9144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0" idx="0"/>
            <a:endCxn id="12" idx="4"/>
          </p:cNvCxnSpPr>
          <p:nvPr/>
        </p:nvCxnSpPr>
        <p:spPr>
          <a:xfrm rot="16200000" flipV="1">
            <a:off x="3848100" y="3048000"/>
            <a:ext cx="914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1" idx="0"/>
            <a:endCxn id="12" idx="4"/>
          </p:cNvCxnSpPr>
          <p:nvPr/>
        </p:nvCxnSpPr>
        <p:spPr>
          <a:xfrm rot="16200000" flipV="1">
            <a:off x="4381500" y="2514600"/>
            <a:ext cx="914400" cy="1524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9" idx="0"/>
            <a:endCxn id="13" idx="4"/>
          </p:cNvCxnSpPr>
          <p:nvPr/>
        </p:nvCxnSpPr>
        <p:spPr>
          <a:xfrm rot="5400000" flipH="1" flipV="1">
            <a:off x="3771900" y="2514600"/>
            <a:ext cx="914400" cy="1524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0" idx="0"/>
            <a:endCxn id="13" idx="4"/>
          </p:cNvCxnSpPr>
          <p:nvPr/>
        </p:nvCxnSpPr>
        <p:spPr>
          <a:xfrm rot="5400000" flipH="1" flipV="1">
            <a:off x="4305300" y="3048000"/>
            <a:ext cx="914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1" idx="0"/>
            <a:endCxn id="13" idx="4"/>
          </p:cNvCxnSpPr>
          <p:nvPr/>
        </p:nvCxnSpPr>
        <p:spPr>
          <a:xfrm rot="16200000" flipV="1">
            <a:off x="4838700" y="2971800"/>
            <a:ext cx="9144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286000" y="2362200"/>
            <a:ext cx="137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layer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76400" y="3810000"/>
            <a:ext cx="1364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layer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2516" y="5105400"/>
            <a:ext cx="1167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117068"/>
            <a:ext cx="888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0" y="2362200"/>
            <a:ext cx="1712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Estimated target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3810000"/>
            <a:ext cx="1854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 of feature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Unit Representations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Trained hidden units can be seen as newly constructed features that make the target concept linearly separable in the transformed space.</a:t>
            </a:r>
          </a:p>
          <a:p>
            <a:r>
              <a:rPr lang="en-US" sz="2800" dirty="0"/>
              <a:t>On many real domains, hidden units can be interpreted as representing meaningful features such as vowel detectors or edge detectors, etc..</a:t>
            </a:r>
          </a:p>
          <a:p>
            <a:r>
              <a:rPr lang="en-US" sz="2800" dirty="0"/>
              <a:t>However, the hidden layer can also become a distributed representation of the input in which each individual unit is not easily interpretable as a meaningful feature.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Unit Representations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feature of feature</a:t>
            </a: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286000"/>
            <a:ext cx="270510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1981200"/>
            <a:ext cx="5119104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181600" y="2743200"/>
            <a:ext cx="4572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181600" y="3086100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181600" y="3429000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5181600" y="3771900"/>
            <a:ext cx="4572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181600" y="4114800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5181600" y="4457700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5181600" y="4800600"/>
            <a:ext cx="4572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5181600" y="5143500"/>
            <a:ext cx="4572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5715000" y="2743200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5715000" y="3086100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5715000" y="3429000"/>
            <a:ext cx="4572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5715000" y="3771900"/>
            <a:ext cx="4572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5715000" y="4114800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5715000" y="4457700"/>
            <a:ext cx="4572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5715000" y="4800600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5715000" y="5143500"/>
            <a:ext cx="4572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6248400" y="2743200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248400" y="3086100"/>
            <a:ext cx="4572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248400" y="3429000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6248400" y="3771900"/>
            <a:ext cx="4572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248400" y="4114800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248400" y="4457700"/>
            <a:ext cx="4572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248400" y="4800600"/>
            <a:ext cx="4572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248400" y="5143500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Multi-layer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the hidden layer between the input and output layers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1822" y="1752600"/>
            <a:ext cx="137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layer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4100" y="3790950"/>
            <a:ext cx="1364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layer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50752" y="5791200"/>
            <a:ext cx="1167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66800" y="2286000"/>
            <a:ext cx="6934200" cy="3290888"/>
            <a:chOff x="1066800" y="2286000"/>
            <a:chExt cx="6934200" cy="3290888"/>
          </a:xfrm>
        </p:grpSpPr>
        <p:sp>
          <p:nvSpPr>
            <p:cNvPr id="5" name="Oval 4"/>
            <p:cNvSpPr/>
            <p:nvPr/>
          </p:nvSpPr>
          <p:spPr>
            <a:xfrm>
              <a:off x="1981200" y="5029994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1066800" y="5029200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895600" y="5029994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2438400" y="3733801"/>
              <a:ext cx="533400" cy="53340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4267200" y="3733800"/>
              <a:ext cx="533400" cy="53340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6115050" y="3733801"/>
              <a:ext cx="533400" cy="53340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3810000" y="2286000"/>
              <a:ext cx="533400" cy="533400"/>
            </a:xfrm>
            <a:prstGeom prst="ellipse">
              <a:avLst/>
            </a:prstGeom>
            <a:solidFill>
              <a:srgbClr val="00B05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724400" y="2286000"/>
              <a:ext cx="533400" cy="533400"/>
            </a:xfrm>
            <a:prstGeom prst="ellipse">
              <a:avLst/>
            </a:prstGeom>
            <a:solidFill>
              <a:srgbClr val="00B05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cxnSp>
          <p:nvCxnSpPr>
            <p:cNvPr id="17" name="Straight Arrow Connector 16"/>
            <p:cNvCxnSpPr>
              <a:stCxn id="6" idx="0"/>
              <a:endCxn id="9" idx="4"/>
            </p:cNvCxnSpPr>
            <p:nvPr/>
          </p:nvCxnSpPr>
          <p:spPr>
            <a:xfrm flipV="1">
              <a:off x="1333500" y="4267201"/>
              <a:ext cx="1371600" cy="76199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5" idx="0"/>
              <a:endCxn id="9" idx="4"/>
            </p:cNvCxnSpPr>
            <p:nvPr/>
          </p:nvCxnSpPr>
          <p:spPr>
            <a:xfrm flipV="1">
              <a:off x="2247900" y="4267201"/>
              <a:ext cx="457200" cy="76279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7" idx="0"/>
              <a:endCxn id="9" idx="4"/>
            </p:cNvCxnSpPr>
            <p:nvPr/>
          </p:nvCxnSpPr>
          <p:spPr>
            <a:xfrm flipH="1" flipV="1">
              <a:off x="2705100" y="4267201"/>
              <a:ext cx="457200" cy="76279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0"/>
              <a:endCxn id="10" idx="4"/>
            </p:cNvCxnSpPr>
            <p:nvPr/>
          </p:nvCxnSpPr>
          <p:spPr>
            <a:xfrm flipV="1">
              <a:off x="1333500" y="4267200"/>
              <a:ext cx="3200400" cy="762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5" idx="0"/>
              <a:endCxn id="10" idx="4"/>
            </p:cNvCxnSpPr>
            <p:nvPr/>
          </p:nvCxnSpPr>
          <p:spPr>
            <a:xfrm flipV="1">
              <a:off x="2247900" y="4267200"/>
              <a:ext cx="2286000" cy="7627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7" idx="0"/>
              <a:endCxn id="10" idx="4"/>
            </p:cNvCxnSpPr>
            <p:nvPr/>
          </p:nvCxnSpPr>
          <p:spPr>
            <a:xfrm flipV="1">
              <a:off x="3162300" y="4267200"/>
              <a:ext cx="1371600" cy="7627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5" idx="0"/>
              <a:endCxn id="11" idx="4"/>
            </p:cNvCxnSpPr>
            <p:nvPr/>
          </p:nvCxnSpPr>
          <p:spPr>
            <a:xfrm flipV="1">
              <a:off x="2247900" y="4267201"/>
              <a:ext cx="4133850" cy="76279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7" idx="0"/>
              <a:endCxn id="11" idx="4"/>
            </p:cNvCxnSpPr>
            <p:nvPr/>
          </p:nvCxnSpPr>
          <p:spPr>
            <a:xfrm flipV="1">
              <a:off x="3162300" y="4267201"/>
              <a:ext cx="3219450" cy="76279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6" idx="0"/>
              <a:endCxn id="11" idx="4"/>
            </p:cNvCxnSpPr>
            <p:nvPr/>
          </p:nvCxnSpPr>
          <p:spPr>
            <a:xfrm flipV="1">
              <a:off x="1333500" y="4267201"/>
              <a:ext cx="5048250" cy="76199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9" idx="0"/>
              <a:endCxn id="12" idx="4"/>
            </p:cNvCxnSpPr>
            <p:nvPr/>
          </p:nvCxnSpPr>
          <p:spPr>
            <a:xfrm flipV="1">
              <a:off x="2705100" y="2819400"/>
              <a:ext cx="137160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10" idx="0"/>
              <a:endCxn id="12" idx="4"/>
            </p:cNvCxnSpPr>
            <p:nvPr/>
          </p:nvCxnSpPr>
          <p:spPr>
            <a:xfrm rot="16200000" flipV="1">
              <a:off x="3848100" y="3048000"/>
              <a:ext cx="914400" cy="457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0"/>
              <a:endCxn id="12" idx="4"/>
            </p:cNvCxnSpPr>
            <p:nvPr/>
          </p:nvCxnSpPr>
          <p:spPr>
            <a:xfrm flipH="1" flipV="1">
              <a:off x="4076700" y="2819400"/>
              <a:ext cx="230505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9" idx="0"/>
              <a:endCxn id="13" idx="4"/>
            </p:cNvCxnSpPr>
            <p:nvPr/>
          </p:nvCxnSpPr>
          <p:spPr>
            <a:xfrm flipV="1">
              <a:off x="2705100" y="2819400"/>
              <a:ext cx="228600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10" idx="0"/>
              <a:endCxn id="13" idx="4"/>
            </p:cNvCxnSpPr>
            <p:nvPr/>
          </p:nvCxnSpPr>
          <p:spPr>
            <a:xfrm rot="5400000" flipH="1" flipV="1">
              <a:off x="4305300" y="3048000"/>
              <a:ext cx="914400" cy="457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1" idx="0"/>
              <a:endCxn id="13" idx="4"/>
            </p:cNvCxnSpPr>
            <p:nvPr/>
          </p:nvCxnSpPr>
          <p:spPr>
            <a:xfrm flipH="1" flipV="1">
              <a:off x="4991100" y="2819400"/>
              <a:ext cx="139065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2895600" y="2286000"/>
              <a:ext cx="533400" cy="533400"/>
            </a:xfrm>
            <a:prstGeom prst="ellipse">
              <a:avLst/>
            </a:prstGeom>
            <a:solidFill>
              <a:srgbClr val="00B05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5638800" y="2286000"/>
              <a:ext cx="533400" cy="533400"/>
            </a:xfrm>
            <a:prstGeom prst="ellipse">
              <a:avLst/>
            </a:prstGeom>
            <a:solidFill>
              <a:srgbClr val="00B05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39" name="Oval 38"/>
            <p:cNvSpPr/>
            <p:nvPr/>
          </p:nvSpPr>
          <p:spPr>
            <a:xfrm>
              <a:off x="6553200" y="2286000"/>
              <a:ext cx="533400" cy="533400"/>
            </a:xfrm>
            <a:prstGeom prst="ellipse">
              <a:avLst/>
            </a:prstGeom>
            <a:solidFill>
              <a:srgbClr val="00B05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45" name="Oval 44"/>
            <p:cNvSpPr/>
            <p:nvPr/>
          </p:nvSpPr>
          <p:spPr>
            <a:xfrm>
              <a:off x="7467600" y="2286000"/>
              <a:ext cx="533400" cy="533400"/>
            </a:xfrm>
            <a:prstGeom prst="ellipse">
              <a:avLst/>
            </a:prstGeom>
            <a:solidFill>
              <a:srgbClr val="00B05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47" name="Oval 46"/>
            <p:cNvSpPr/>
            <p:nvPr/>
          </p:nvSpPr>
          <p:spPr>
            <a:xfrm>
              <a:off x="1066800" y="2286000"/>
              <a:ext cx="533400" cy="533400"/>
            </a:xfrm>
            <a:prstGeom prst="ellipse">
              <a:avLst/>
            </a:prstGeom>
            <a:solidFill>
              <a:srgbClr val="00B05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48" name="Oval 47"/>
            <p:cNvSpPr/>
            <p:nvPr/>
          </p:nvSpPr>
          <p:spPr>
            <a:xfrm>
              <a:off x="1981200" y="2286000"/>
              <a:ext cx="533400" cy="533400"/>
            </a:xfrm>
            <a:prstGeom prst="ellipse">
              <a:avLst/>
            </a:prstGeom>
            <a:solidFill>
              <a:srgbClr val="00B05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57" name="Oval 56"/>
            <p:cNvSpPr/>
            <p:nvPr/>
          </p:nvSpPr>
          <p:spPr>
            <a:xfrm>
              <a:off x="4724400" y="5043488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58" name="Oval 57"/>
            <p:cNvSpPr/>
            <p:nvPr/>
          </p:nvSpPr>
          <p:spPr>
            <a:xfrm>
              <a:off x="3810000" y="5042694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59" name="Oval 58"/>
            <p:cNvSpPr/>
            <p:nvPr/>
          </p:nvSpPr>
          <p:spPr>
            <a:xfrm>
              <a:off x="5638800" y="5043488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60" name="Oval 59"/>
            <p:cNvSpPr/>
            <p:nvPr/>
          </p:nvSpPr>
          <p:spPr>
            <a:xfrm>
              <a:off x="6553200" y="5043488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sp>
          <p:nvSpPr>
            <p:cNvPr id="61" name="Oval 60"/>
            <p:cNvSpPr/>
            <p:nvPr/>
          </p:nvSpPr>
          <p:spPr>
            <a:xfrm>
              <a:off x="7467600" y="5043488"/>
              <a:ext cx="533400" cy="533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baseline="-25000" dirty="0"/>
            </a:p>
          </p:txBody>
        </p:sp>
        <p:cxnSp>
          <p:nvCxnSpPr>
            <p:cNvPr id="62" name="Straight Arrow Connector 61"/>
            <p:cNvCxnSpPr>
              <a:stCxn id="58" idx="0"/>
              <a:endCxn id="9" idx="4"/>
            </p:cNvCxnSpPr>
            <p:nvPr/>
          </p:nvCxnSpPr>
          <p:spPr>
            <a:xfrm flipH="1" flipV="1">
              <a:off x="2705100" y="4267201"/>
              <a:ext cx="1371600" cy="77549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58" idx="0"/>
              <a:endCxn id="10" idx="4"/>
            </p:cNvCxnSpPr>
            <p:nvPr/>
          </p:nvCxnSpPr>
          <p:spPr>
            <a:xfrm flipV="1">
              <a:off x="4076700" y="4267200"/>
              <a:ext cx="457200" cy="7754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58" idx="0"/>
              <a:endCxn id="11" idx="4"/>
            </p:cNvCxnSpPr>
            <p:nvPr/>
          </p:nvCxnSpPr>
          <p:spPr>
            <a:xfrm flipV="1">
              <a:off x="4076700" y="4267201"/>
              <a:ext cx="2305050" cy="77549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57" idx="0"/>
              <a:endCxn id="11" idx="4"/>
            </p:cNvCxnSpPr>
            <p:nvPr/>
          </p:nvCxnSpPr>
          <p:spPr>
            <a:xfrm flipV="1">
              <a:off x="4991100" y="4267201"/>
              <a:ext cx="1390650" cy="7762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>
              <a:stCxn id="57" idx="0"/>
              <a:endCxn id="9" idx="4"/>
            </p:cNvCxnSpPr>
            <p:nvPr/>
          </p:nvCxnSpPr>
          <p:spPr>
            <a:xfrm flipH="1" flipV="1">
              <a:off x="2705100" y="4267201"/>
              <a:ext cx="2286000" cy="7762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57" idx="0"/>
              <a:endCxn id="10" idx="4"/>
            </p:cNvCxnSpPr>
            <p:nvPr/>
          </p:nvCxnSpPr>
          <p:spPr>
            <a:xfrm flipH="1" flipV="1">
              <a:off x="4533900" y="4267200"/>
              <a:ext cx="457200" cy="7762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59" idx="0"/>
              <a:endCxn id="11" idx="4"/>
            </p:cNvCxnSpPr>
            <p:nvPr/>
          </p:nvCxnSpPr>
          <p:spPr>
            <a:xfrm flipV="1">
              <a:off x="5905500" y="4267201"/>
              <a:ext cx="476250" cy="7762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59" idx="0"/>
              <a:endCxn id="9" idx="4"/>
            </p:cNvCxnSpPr>
            <p:nvPr/>
          </p:nvCxnSpPr>
          <p:spPr>
            <a:xfrm flipH="1" flipV="1">
              <a:off x="2705100" y="4267201"/>
              <a:ext cx="3200400" cy="7762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stCxn id="59" idx="0"/>
              <a:endCxn id="10" idx="4"/>
            </p:cNvCxnSpPr>
            <p:nvPr/>
          </p:nvCxnSpPr>
          <p:spPr>
            <a:xfrm flipH="1" flipV="1">
              <a:off x="4533900" y="4267200"/>
              <a:ext cx="1371600" cy="7762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60" idx="0"/>
              <a:endCxn id="9" idx="4"/>
            </p:cNvCxnSpPr>
            <p:nvPr/>
          </p:nvCxnSpPr>
          <p:spPr>
            <a:xfrm flipH="1" flipV="1">
              <a:off x="2705100" y="4267201"/>
              <a:ext cx="4114800" cy="7762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60" idx="0"/>
              <a:endCxn id="10" idx="4"/>
            </p:cNvCxnSpPr>
            <p:nvPr/>
          </p:nvCxnSpPr>
          <p:spPr>
            <a:xfrm flipH="1" flipV="1">
              <a:off x="4533900" y="4267200"/>
              <a:ext cx="2286000" cy="7762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60" idx="0"/>
              <a:endCxn id="11" idx="4"/>
            </p:cNvCxnSpPr>
            <p:nvPr/>
          </p:nvCxnSpPr>
          <p:spPr>
            <a:xfrm flipH="1" flipV="1">
              <a:off x="6381750" y="4267201"/>
              <a:ext cx="438150" cy="7762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>
              <a:stCxn id="61" idx="0"/>
              <a:endCxn id="9" idx="4"/>
            </p:cNvCxnSpPr>
            <p:nvPr/>
          </p:nvCxnSpPr>
          <p:spPr>
            <a:xfrm flipH="1" flipV="1">
              <a:off x="2705100" y="4267201"/>
              <a:ext cx="5029200" cy="7762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stCxn id="61" idx="0"/>
              <a:endCxn id="10" idx="4"/>
            </p:cNvCxnSpPr>
            <p:nvPr/>
          </p:nvCxnSpPr>
          <p:spPr>
            <a:xfrm flipH="1" flipV="1">
              <a:off x="4533900" y="4267200"/>
              <a:ext cx="3200400" cy="7762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stCxn id="61" idx="0"/>
              <a:endCxn id="11" idx="4"/>
            </p:cNvCxnSpPr>
            <p:nvPr/>
          </p:nvCxnSpPr>
          <p:spPr>
            <a:xfrm flipH="1" flipV="1">
              <a:off x="6381750" y="4267201"/>
              <a:ext cx="1352550" cy="7762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>
              <a:stCxn id="9" idx="0"/>
              <a:endCxn id="47" idx="4"/>
            </p:cNvCxnSpPr>
            <p:nvPr/>
          </p:nvCxnSpPr>
          <p:spPr>
            <a:xfrm flipH="1" flipV="1">
              <a:off x="1333500" y="2819400"/>
              <a:ext cx="137160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stCxn id="10" idx="0"/>
              <a:endCxn id="47" idx="4"/>
            </p:cNvCxnSpPr>
            <p:nvPr/>
          </p:nvCxnSpPr>
          <p:spPr>
            <a:xfrm flipH="1" flipV="1">
              <a:off x="1333500" y="2819400"/>
              <a:ext cx="3200400" cy="914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stCxn id="11" idx="0"/>
              <a:endCxn id="47" idx="4"/>
            </p:cNvCxnSpPr>
            <p:nvPr/>
          </p:nvCxnSpPr>
          <p:spPr>
            <a:xfrm flipH="1" flipV="1">
              <a:off x="1333500" y="2819400"/>
              <a:ext cx="504825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/>
            <p:cNvCxnSpPr>
              <a:stCxn id="9" idx="0"/>
              <a:endCxn id="48" idx="4"/>
            </p:cNvCxnSpPr>
            <p:nvPr/>
          </p:nvCxnSpPr>
          <p:spPr>
            <a:xfrm flipH="1" flipV="1">
              <a:off x="2247900" y="2819400"/>
              <a:ext cx="45720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>
              <a:stCxn id="10" idx="0"/>
              <a:endCxn id="48" idx="4"/>
            </p:cNvCxnSpPr>
            <p:nvPr/>
          </p:nvCxnSpPr>
          <p:spPr>
            <a:xfrm flipH="1" flipV="1">
              <a:off x="2247900" y="2819400"/>
              <a:ext cx="2286000" cy="914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>
              <a:stCxn id="11" idx="0"/>
              <a:endCxn id="48" idx="4"/>
            </p:cNvCxnSpPr>
            <p:nvPr/>
          </p:nvCxnSpPr>
          <p:spPr>
            <a:xfrm flipH="1" flipV="1">
              <a:off x="2247900" y="2819400"/>
              <a:ext cx="413385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>
              <a:stCxn id="9" idx="0"/>
              <a:endCxn id="33" idx="4"/>
            </p:cNvCxnSpPr>
            <p:nvPr/>
          </p:nvCxnSpPr>
          <p:spPr>
            <a:xfrm flipV="1">
              <a:off x="2705100" y="2819400"/>
              <a:ext cx="45720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/>
            <p:cNvCxnSpPr>
              <a:stCxn id="10" idx="0"/>
              <a:endCxn id="33" idx="4"/>
            </p:cNvCxnSpPr>
            <p:nvPr/>
          </p:nvCxnSpPr>
          <p:spPr>
            <a:xfrm flipH="1" flipV="1">
              <a:off x="3162300" y="2819400"/>
              <a:ext cx="1371600" cy="914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11" idx="0"/>
              <a:endCxn id="33" idx="4"/>
            </p:cNvCxnSpPr>
            <p:nvPr/>
          </p:nvCxnSpPr>
          <p:spPr>
            <a:xfrm flipH="1" flipV="1">
              <a:off x="3162300" y="2819400"/>
              <a:ext cx="321945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9" idx="0"/>
              <a:endCxn id="37" idx="4"/>
            </p:cNvCxnSpPr>
            <p:nvPr/>
          </p:nvCxnSpPr>
          <p:spPr>
            <a:xfrm flipV="1">
              <a:off x="2705100" y="2819400"/>
              <a:ext cx="320040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9" idx="0"/>
              <a:endCxn id="39" idx="4"/>
            </p:cNvCxnSpPr>
            <p:nvPr/>
          </p:nvCxnSpPr>
          <p:spPr>
            <a:xfrm flipV="1">
              <a:off x="2705100" y="2819400"/>
              <a:ext cx="411480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9" idx="0"/>
              <a:endCxn id="45" idx="4"/>
            </p:cNvCxnSpPr>
            <p:nvPr/>
          </p:nvCxnSpPr>
          <p:spPr>
            <a:xfrm flipV="1">
              <a:off x="2705100" y="2819400"/>
              <a:ext cx="502920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/>
            <p:cNvCxnSpPr>
              <a:stCxn id="10" idx="0"/>
              <a:endCxn id="37" idx="4"/>
            </p:cNvCxnSpPr>
            <p:nvPr/>
          </p:nvCxnSpPr>
          <p:spPr>
            <a:xfrm flipV="1">
              <a:off x="4533900" y="2819400"/>
              <a:ext cx="1371600" cy="914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/>
            <p:cNvCxnSpPr>
              <a:stCxn id="11" idx="0"/>
              <a:endCxn id="37" idx="4"/>
            </p:cNvCxnSpPr>
            <p:nvPr/>
          </p:nvCxnSpPr>
          <p:spPr>
            <a:xfrm flipH="1" flipV="1">
              <a:off x="5905500" y="2819400"/>
              <a:ext cx="47625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/>
            <p:cNvCxnSpPr>
              <a:stCxn id="11" idx="0"/>
              <a:endCxn id="39" idx="4"/>
            </p:cNvCxnSpPr>
            <p:nvPr/>
          </p:nvCxnSpPr>
          <p:spPr>
            <a:xfrm flipV="1">
              <a:off x="6381750" y="2819400"/>
              <a:ext cx="43815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/>
            <p:cNvCxnSpPr>
              <a:stCxn id="10" idx="0"/>
              <a:endCxn id="39" idx="4"/>
            </p:cNvCxnSpPr>
            <p:nvPr/>
          </p:nvCxnSpPr>
          <p:spPr>
            <a:xfrm flipV="1">
              <a:off x="4533900" y="2819400"/>
              <a:ext cx="2286000" cy="914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/>
            <p:cNvCxnSpPr>
              <a:stCxn id="11" idx="0"/>
              <a:endCxn id="45" idx="4"/>
            </p:cNvCxnSpPr>
            <p:nvPr/>
          </p:nvCxnSpPr>
          <p:spPr>
            <a:xfrm flipV="1">
              <a:off x="6381750" y="2819400"/>
              <a:ext cx="1352550" cy="9144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/>
            <p:cNvCxnSpPr>
              <a:stCxn id="10" idx="0"/>
              <a:endCxn id="45" idx="4"/>
            </p:cNvCxnSpPr>
            <p:nvPr/>
          </p:nvCxnSpPr>
          <p:spPr>
            <a:xfrm flipV="1">
              <a:off x="4533900" y="2819400"/>
              <a:ext cx="3200400" cy="914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79430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Unit Representations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feature of feature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50287"/>
              </p:ext>
            </p:extLst>
          </p:nvPr>
        </p:nvGraphicFramePr>
        <p:xfrm>
          <a:off x="6001800" y="4876800"/>
          <a:ext cx="2304000" cy="1447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1.00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0.00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0.00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0.99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0.00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0.00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1.00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89511"/>
              </p:ext>
            </p:extLst>
          </p:nvPr>
        </p:nvGraphicFramePr>
        <p:xfrm>
          <a:off x="4131000" y="4876800"/>
          <a:ext cx="864000" cy="1447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0.00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0.98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0.99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0.93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0.99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0.98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0.98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0.99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1.00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0.97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0.01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0.95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0.01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0.01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419619"/>
              </p:ext>
            </p:extLst>
          </p:nvPr>
        </p:nvGraphicFramePr>
        <p:xfrm>
          <a:off x="820200" y="4876800"/>
          <a:ext cx="2304000" cy="1447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1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1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160767"/>
              </p:ext>
            </p:extLst>
          </p:nvPr>
        </p:nvGraphicFramePr>
        <p:xfrm>
          <a:off x="4131000" y="4876800"/>
          <a:ext cx="864000" cy="1447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1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1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0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>
                          <a:effectLst/>
                        </a:rPr>
                        <a:t>1</a:t>
                      </a:r>
                      <a:endParaRPr lang="th-TH" sz="11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1100" u="none" strike="noStrike" dirty="0">
                          <a:effectLst/>
                        </a:rPr>
                        <a:t>0</a:t>
                      </a:r>
                      <a:endParaRPr lang="th-TH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1639416" y="1524000"/>
            <a:ext cx="5952164" cy="3352800"/>
            <a:chOff x="1639416" y="1524000"/>
            <a:chExt cx="5952164" cy="3352800"/>
          </a:xfrm>
        </p:grpSpPr>
        <p:grpSp>
          <p:nvGrpSpPr>
            <p:cNvPr id="16" name="Group 15"/>
            <p:cNvGrpSpPr/>
            <p:nvPr/>
          </p:nvGrpSpPr>
          <p:grpSpPr>
            <a:xfrm>
              <a:off x="1639416" y="1524000"/>
              <a:ext cx="5952164" cy="3289525"/>
              <a:chOff x="1639416" y="1524000"/>
              <a:chExt cx="5952164" cy="3289525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1853868" y="1893333"/>
                <a:ext cx="5412247" cy="2920192"/>
                <a:chOff x="1674353" y="3363685"/>
                <a:chExt cx="5412247" cy="2920192"/>
              </a:xfrm>
            </p:grpSpPr>
            <p:sp>
              <p:nvSpPr>
                <p:cNvPr id="128" name="Oval 127"/>
                <p:cNvSpPr/>
                <p:nvPr/>
              </p:nvSpPr>
              <p:spPr>
                <a:xfrm rot="5400000">
                  <a:off x="1680036" y="3748765"/>
                  <a:ext cx="224630" cy="22463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29" name="Oval 128"/>
                <p:cNvSpPr/>
                <p:nvPr/>
              </p:nvSpPr>
              <p:spPr>
                <a:xfrm rot="5400000">
                  <a:off x="1680370" y="3363685"/>
                  <a:ext cx="224630" cy="22463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30" name="Oval 129"/>
                <p:cNvSpPr/>
                <p:nvPr/>
              </p:nvSpPr>
              <p:spPr>
                <a:xfrm rot="5400000">
                  <a:off x="1680036" y="4133846"/>
                  <a:ext cx="224630" cy="22463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31" name="Oval 130"/>
                <p:cNvSpPr/>
                <p:nvPr/>
              </p:nvSpPr>
              <p:spPr>
                <a:xfrm rot="5400000">
                  <a:off x="4271170" y="3941305"/>
                  <a:ext cx="224630" cy="224630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32" name="Oval 131"/>
                <p:cNvSpPr/>
                <p:nvPr/>
              </p:nvSpPr>
              <p:spPr>
                <a:xfrm rot="5400000">
                  <a:off x="4271170" y="4711466"/>
                  <a:ext cx="224630" cy="224630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33" name="Oval 132"/>
                <p:cNvSpPr/>
                <p:nvPr/>
              </p:nvSpPr>
              <p:spPr>
                <a:xfrm rot="5400000">
                  <a:off x="4271170" y="5489649"/>
                  <a:ext cx="224630" cy="224630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34" name="Oval 133"/>
                <p:cNvSpPr/>
                <p:nvPr/>
              </p:nvSpPr>
              <p:spPr>
                <a:xfrm rot="5400000">
                  <a:off x="6861970" y="4518926"/>
                  <a:ext cx="224630" cy="224630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35" name="Oval 134"/>
                <p:cNvSpPr/>
                <p:nvPr/>
              </p:nvSpPr>
              <p:spPr>
                <a:xfrm rot="5400000">
                  <a:off x="6861970" y="4904006"/>
                  <a:ext cx="224630" cy="224630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cxnSp>
              <p:nvCxnSpPr>
                <p:cNvPr id="136" name="Straight Arrow Connector 135"/>
                <p:cNvCxnSpPr>
                  <a:stCxn id="129" idx="0"/>
                  <a:endCxn id="131" idx="4"/>
                </p:cNvCxnSpPr>
                <p:nvPr/>
              </p:nvCxnSpPr>
              <p:spPr>
                <a:xfrm>
                  <a:off x="1905000" y="3476000"/>
                  <a:ext cx="2366170" cy="57762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/>
                <p:cNvCxnSpPr>
                  <a:stCxn id="128" idx="0"/>
                  <a:endCxn id="131" idx="4"/>
                </p:cNvCxnSpPr>
                <p:nvPr/>
              </p:nvCxnSpPr>
              <p:spPr>
                <a:xfrm>
                  <a:off x="1904666" y="3861080"/>
                  <a:ext cx="2366504" cy="19254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/>
                <p:cNvCxnSpPr>
                  <a:stCxn id="130" idx="0"/>
                  <a:endCxn id="131" idx="4"/>
                </p:cNvCxnSpPr>
                <p:nvPr/>
              </p:nvCxnSpPr>
              <p:spPr>
                <a:xfrm flipV="1">
                  <a:off x="1904666" y="4053620"/>
                  <a:ext cx="2366504" cy="19254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/>
                <p:cNvCxnSpPr>
                  <a:stCxn id="129" idx="0"/>
                  <a:endCxn id="132" idx="4"/>
                </p:cNvCxnSpPr>
                <p:nvPr/>
              </p:nvCxnSpPr>
              <p:spPr>
                <a:xfrm>
                  <a:off x="1905000" y="3476000"/>
                  <a:ext cx="2366170" cy="134778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/>
                <p:cNvCxnSpPr>
                  <a:stCxn id="128" idx="0"/>
                  <a:endCxn id="132" idx="4"/>
                </p:cNvCxnSpPr>
                <p:nvPr/>
              </p:nvCxnSpPr>
              <p:spPr>
                <a:xfrm>
                  <a:off x="1904666" y="3861080"/>
                  <a:ext cx="2366504" cy="96270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/>
                <p:cNvCxnSpPr>
                  <a:stCxn id="130" idx="0"/>
                  <a:endCxn id="132" idx="4"/>
                </p:cNvCxnSpPr>
                <p:nvPr/>
              </p:nvCxnSpPr>
              <p:spPr>
                <a:xfrm>
                  <a:off x="1904666" y="4246161"/>
                  <a:ext cx="2366504" cy="57762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/>
                <p:cNvCxnSpPr>
                  <a:stCxn id="128" idx="0"/>
                  <a:endCxn id="133" idx="4"/>
                </p:cNvCxnSpPr>
                <p:nvPr/>
              </p:nvCxnSpPr>
              <p:spPr>
                <a:xfrm>
                  <a:off x="1904666" y="3861080"/>
                  <a:ext cx="2366504" cy="1740884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Arrow Connector 142"/>
                <p:cNvCxnSpPr>
                  <a:stCxn id="130" idx="0"/>
                  <a:endCxn id="133" idx="4"/>
                </p:cNvCxnSpPr>
                <p:nvPr/>
              </p:nvCxnSpPr>
              <p:spPr>
                <a:xfrm>
                  <a:off x="1904666" y="4246161"/>
                  <a:ext cx="2366504" cy="1355803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Arrow Connector 143"/>
                <p:cNvCxnSpPr>
                  <a:stCxn id="129" idx="0"/>
                  <a:endCxn id="133" idx="4"/>
                </p:cNvCxnSpPr>
                <p:nvPr/>
              </p:nvCxnSpPr>
              <p:spPr>
                <a:xfrm>
                  <a:off x="1905000" y="3476000"/>
                  <a:ext cx="2366170" cy="2125964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44"/>
                <p:cNvCxnSpPr>
                  <a:stCxn id="131" idx="0"/>
                  <a:endCxn id="134" idx="4"/>
                </p:cNvCxnSpPr>
                <p:nvPr/>
              </p:nvCxnSpPr>
              <p:spPr>
                <a:xfrm>
                  <a:off x="4495800" y="4053620"/>
                  <a:ext cx="2366170" cy="57762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Arrow Connector 145"/>
                <p:cNvCxnSpPr>
                  <a:stCxn id="132" idx="0"/>
                  <a:endCxn id="134" idx="4"/>
                </p:cNvCxnSpPr>
                <p:nvPr/>
              </p:nvCxnSpPr>
              <p:spPr>
                <a:xfrm flipV="1">
                  <a:off x="4495800" y="4631241"/>
                  <a:ext cx="2366170" cy="19254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Arrow Connector 146"/>
                <p:cNvCxnSpPr>
                  <a:stCxn id="133" idx="0"/>
                  <a:endCxn id="134" idx="4"/>
                </p:cNvCxnSpPr>
                <p:nvPr/>
              </p:nvCxnSpPr>
              <p:spPr>
                <a:xfrm flipV="1">
                  <a:off x="4495800" y="4631241"/>
                  <a:ext cx="2366170" cy="970723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Arrow Connector 147"/>
                <p:cNvCxnSpPr>
                  <a:stCxn id="131" idx="0"/>
                  <a:endCxn id="135" idx="4"/>
                </p:cNvCxnSpPr>
                <p:nvPr/>
              </p:nvCxnSpPr>
              <p:spPr>
                <a:xfrm>
                  <a:off x="4495800" y="4053620"/>
                  <a:ext cx="2366170" cy="96270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Arrow Connector 148"/>
                <p:cNvCxnSpPr>
                  <a:stCxn id="132" idx="0"/>
                  <a:endCxn id="135" idx="4"/>
                </p:cNvCxnSpPr>
                <p:nvPr/>
              </p:nvCxnSpPr>
              <p:spPr>
                <a:xfrm>
                  <a:off x="4495800" y="4823781"/>
                  <a:ext cx="2366170" cy="19254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Arrow Connector 149"/>
                <p:cNvCxnSpPr>
                  <a:stCxn id="133" idx="0"/>
                  <a:endCxn id="135" idx="4"/>
                </p:cNvCxnSpPr>
                <p:nvPr/>
              </p:nvCxnSpPr>
              <p:spPr>
                <a:xfrm flipV="1">
                  <a:off x="4495800" y="5016321"/>
                  <a:ext cx="2366170" cy="585643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1" name="Oval 150"/>
                <p:cNvSpPr/>
                <p:nvPr/>
              </p:nvSpPr>
              <p:spPr>
                <a:xfrm rot="5400000">
                  <a:off x="6861970" y="4133846"/>
                  <a:ext cx="224630" cy="224630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52" name="Oval 151"/>
                <p:cNvSpPr/>
                <p:nvPr/>
              </p:nvSpPr>
              <p:spPr>
                <a:xfrm rot="5400000">
                  <a:off x="6861970" y="5289086"/>
                  <a:ext cx="224630" cy="224630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53" name="Oval 152"/>
                <p:cNvSpPr/>
                <p:nvPr/>
              </p:nvSpPr>
              <p:spPr>
                <a:xfrm rot="5400000">
                  <a:off x="6861970" y="5674167"/>
                  <a:ext cx="224630" cy="224630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54" name="Oval 153"/>
                <p:cNvSpPr/>
                <p:nvPr/>
              </p:nvSpPr>
              <p:spPr>
                <a:xfrm rot="5400000">
                  <a:off x="6861970" y="6059247"/>
                  <a:ext cx="224630" cy="224630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55" name="Oval 154"/>
                <p:cNvSpPr/>
                <p:nvPr/>
              </p:nvSpPr>
              <p:spPr>
                <a:xfrm rot="5400000">
                  <a:off x="6861970" y="3363685"/>
                  <a:ext cx="224630" cy="224630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56" name="Oval 155"/>
                <p:cNvSpPr/>
                <p:nvPr/>
              </p:nvSpPr>
              <p:spPr>
                <a:xfrm rot="5400000">
                  <a:off x="6861970" y="3748765"/>
                  <a:ext cx="224630" cy="224630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57" name="Oval 156"/>
                <p:cNvSpPr/>
                <p:nvPr/>
              </p:nvSpPr>
              <p:spPr>
                <a:xfrm rot="5400000">
                  <a:off x="1674353" y="4904006"/>
                  <a:ext cx="224630" cy="22463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58" name="Oval 157"/>
                <p:cNvSpPr/>
                <p:nvPr/>
              </p:nvSpPr>
              <p:spPr>
                <a:xfrm rot="5400000">
                  <a:off x="1674687" y="4518926"/>
                  <a:ext cx="224630" cy="22463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59" name="Oval 158"/>
                <p:cNvSpPr/>
                <p:nvPr/>
              </p:nvSpPr>
              <p:spPr>
                <a:xfrm rot="5400000">
                  <a:off x="1674353" y="5289086"/>
                  <a:ext cx="224630" cy="22463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60" name="Oval 159"/>
                <p:cNvSpPr/>
                <p:nvPr/>
              </p:nvSpPr>
              <p:spPr>
                <a:xfrm rot="5400000">
                  <a:off x="1674353" y="5674167"/>
                  <a:ext cx="224630" cy="22463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161" name="Oval 160"/>
                <p:cNvSpPr/>
                <p:nvPr/>
              </p:nvSpPr>
              <p:spPr>
                <a:xfrm rot="5400000">
                  <a:off x="1674353" y="6059247"/>
                  <a:ext cx="224630" cy="22463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baseline="-25000" dirty="0"/>
                </a:p>
              </p:txBody>
            </p:sp>
            <p:cxnSp>
              <p:nvCxnSpPr>
                <p:cNvPr id="162" name="Straight Arrow Connector 161"/>
                <p:cNvCxnSpPr>
                  <a:stCxn id="158" idx="0"/>
                  <a:endCxn id="131" idx="4"/>
                </p:cNvCxnSpPr>
                <p:nvPr/>
              </p:nvCxnSpPr>
              <p:spPr>
                <a:xfrm flipV="1">
                  <a:off x="1899317" y="4053620"/>
                  <a:ext cx="2371853" cy="57762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Arrow Connector 162"/>
                <p:cNvCxnSpPr>
                  <a:stCxn id="158" idx="0"/>
                  <a:endCxn id="132" idx="4"/>
                </p:cNvCxnSpPr>
                <p:nvPr/>
              </p:nvCxnSpPr>
              <p:spPr>
                <a:xfrm>
                  <a:off x="1899317" y="4631241"/>
                  <a:ext cx="2371853" cy="19254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Arrow Connector 163"/>
                <p:cNvCxnSpPr>
                  <a:stCxn id="158" idx="0"/>
                  <a:endCxn id="133" idx="4"/>
                </p:cNvCxnSpPr>
                <p:nvPr/>
              </p:nvCxnSpPr>
              <p:spPr>
                <a:xfrm>
                  <a:off x="1899317" y="4631241"/>
                  <a:ext cx="2371853" cy="970723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/>
                <p:cNvCxnSpPr>
                  <a:stCxn id="157" idx="0"/>
                  <a:endCxn id="133" idx="4"/>
                </p:cNvCxnSpPr>
                <p:nvPr/>
              </p:nvCxnSpPr>
              <p:spPr>
                <a:xfrm>
                  <a:off x="1898983" y="5016321"/>
                  <a:ext cx="2372187" cy="585643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Arrow Connector 165"/>
                <p:cNvCxnSpPr>
                  <a:stCxn id="157" idx="0"/>
                  <a:endCxn id="131" idx="4"/>
                </p:cNvCxnSpPr>
                <p:nvPr/>
              </p:nvCxnSpPr>
              <p:spPr>
                <a:xfrm flipV="1">
                  <a:off x="1898983" y="4053620"/>
                  <a:ext cx="2372187" cy="96270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Arrow Connector 166"/>
                <p:cNvCxnSpPr>
                  <a:stCxn id="157" idx="0"/>
                  <a:endCxn id="132" idx="4"/>
                </p:cNvCxnSpPr>
                <p:nvPr/>
              </p:nvCxnSpPr>
              <p:spPr>
                <a:xfrm flipV="1">
                  <a:off x="1898983" y="4823781"/>
                  <a:ext cx="2372187" cy="19254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Arrow Connector 167"/>
                <p:cNvCxnSpPr>
                  <a:stCxn id="159" idx="0"/>
                  <a:endCxn id="133" idx="4"/>
                </p:cNvCxnSpPr>
                <p:nvPr/>
              </p:nvCxnSpPr>
              <p:spPr>
                <a:xfrm>
                  <a:off x="1898983" y="5401401"/>
                  <a:ext cx="2372187" cy="200563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Arrow Connector 168"/>
                <p:cNvCxnSpPr>
                  <a:stCxn id="159" idx="0"/>
                  <a:endCxn id="131" idx="4"/>
                </p:cNvCxnSpPr>
                <p:nvPr/>
              </p:nvCxnSpPr>
              <p:spPr>
                <a:xfrm flipV="1">
                  <a:off x="1898983" y="4053620"/>
                  <a:ext cx="2372187" cy="134778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Arrow Connector 169"/>
                <p:cNvCxnSpPr>
                  <a:stCxn id="159" idx="0"/>
                  <a:endCxn id="132" idx="4"/>
                </p:cNvCxnSpPr>
                <p:nvPr/>
              </p:nvCxnSpPr>
              <p:spPr>
                <a:xfrm flipV="1">
                  <a:off x="1898983" y="4823781"/>
                  <a:ext cx="2372187" cy="57762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Arrow Connector 170"/>
                <p:cNvCxnSpPr>
                  <a:stCxn id="160" idx="0"/>
                  <a:endCxn id="131" idx="4"/>
                </p:cNvCxnSpPr>
                <p:nvPr/>
              </p:nvCxnSpPr>
              <p:spPr>
                <a:xfrm flipV="1">
                  <a:off x="1898983" y="4053620"/>
                  <a:ext cx="2372187" cy="173286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Arrow Connector 171"/>
                <p:cNvCxnSpPr>
                  <a:stCxn id="160" idx="0"/>
                  <a:endCxn id="132" idx="4"/>
                </p:cNvCxnSpPr>
                <p:nvPr/>
              </p:nvCxnSpPr>
              <p:spPr>
                <a:xfrm flipV="1">
                  <a:off x="1898983" y="4823781"/>
                  <a:ext cx="2372187" cy="96270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Arrow Connector 172"/>
                <p:cNvCxnSpPr>
                  <a:stCxn id="160" idx="0"/>
                  <a:endCxn id="133" idx="4"/>
                </p:cNvCxnSpPr>
                <p:nvPr/>
              </p:nvCxnSpPr>
              <p:spPr>
                <a:xfrm flipV="1">
                  <a:off x="1898983" y="5601964"/>
                  <a:ext cx="2372187" cy="18451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Arrow Connector 173"/>
                <p:cNvCxnSpPr>
                  <a:stCxn id="161" idx="0"/>
                  <a:endCxn id="131" idx="4"/>
                </p:cNvCxnSpPr>
                <p:nvPr/>
              </p:nvCxnSpPr>
              <p:spPr>
                <a:xfrm flipV="1">
                  <a:off x="1898983" y="4053620"/>
                  <a:ext cx="2372187" cy="211794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Arrow Connector 174"/>
                <p:cNvCxnSpPr>
                  <a:stCxn id="161" idx="0"/>
                  <a:endCxn id="132" idx="4"/>
                </p:cNvCxnSpPr>
                <p:nvPr/>
              </p:nvCxnSpPr>
              <p:spPr>
                <a:xfrm flipV="1">
                  <a:off x="1898983" y="4823781"/>
                  <a:ext cx="2372187" cy="134778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/>
                <p:cNvCxnSpPr>
                  <a:stCxn id="161" idx="0"/>
                  <a:endCxn id="133" idx="4"/>
                </p:cNvCxnSpPr>
                <p:nvPr/>
              </p:nvCxnSpPr>
              <p:spPr>
                <a:xfrm flipV="1">
                  <a:off x="1898983" y="5601964"/>
                  <a:ext cx="2372187" cy="56959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Arrow Connector 176"/>
                <p:cNvCxnSpPr>
                  <a:stCxn id="131" idx="0"/>
                  <a:endCxn id="155" idx="4"/>
                </p:cNvCxnSpPr>
                <p:nvPr/>
              </p:nvCxnSpPr>
              <p:spPr>
                <a:xfrm flipV="1">
                  <a:off x="4495800" y="3476000"/>
                  <a:ext cx="2366170" cy="57762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Arrow Connector 177"/>
                <p:cNvCxnSpPr>
                  <a:stCxn id="132" idx="0"/>
                  <a:endCxn id="155" idx="4"/>
                </p:cNvCxnSpPr>
                <p:nvPr/>
              </p:nvCxnSpPr>
              <p:spPr>
                <a:xfrm flipV="1">
                  <a:off x="4495800" y="3476000"/>
                  <a:ext cx="2366170" cy="134778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Arrow Connector 178"/>
                <p:cNvCxnSpPr>
                  <a:stCxn id="133" idx="0"/>
                  <a:endCxn id="155" idx="4"/>
                </p:cNvCxnSpPr>
                <p:nvPr/>
              </p:nvCxnSpPr>
              <p:spPr>
                <a:xfrm flipV="1">
                  <a:off x="4495800" y="3476000"/>
                  <a:ext cx="2366170" cy="2125964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Arrow Connector 179"/>
                <p:cNvCxnSpPr>
                  <a:stCxn id="131" idx="0"/>
                  <a:endCxn id="156" idx="4"/>
                </p:cNvCxnSpPr>
                <p:nvPr/>
              </p:nvCxnSpPr>
              <p:spPr>
                <a:xfrm flipV="1">
                  <a:off x="4495800" y="3861080"/>
                  <a:ext cx="2366170" cy="19254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Arrow Connector 180"/>
                <p:cNvCxnSpPr>
                  <a:stCxn id="132" idx="0"/>
                  <a:endCxn id="156" idx="4"/>
                </p:cNvCxnSpPr>
                <p:nvPr/>
              </p:nvCxnSpPr>
              <p:spPr>
                <a:xfrm flipV="1">
                  <a:off x="4495800" y="3861080"/>
                  <a:ext cx="2366170" cy="96270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Arrow Connector 181"/>
                <p:cNvCxnSpPr>
                  <a:stCxn id="133" idx="0"/>
                  <a:endCxn id="156" idx="4"/>
                </p:cNvCxnSpPr>
                <p:nvPr/>
              </p:nvCxnSpPr>
              <p:spPr>
                <a:xfrm flipV="1">
                  <a:off x="4495800" y="3861080"/>
                  <a:ext cx="2366170" cy="1740884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Arrow Connector 182"/>
                <p:cNvCxnSpPr>
                  <a:stCxn id="131" idx="0"/>
                  <a:endCxn id="151" idx="4"/>
                </p:cNvCxnSpPr>
                <p:nvPr/>
              </p:nvCxnSpPr>
              <p:spPr>
                <a:xfrm>
                  <a:off x="4495800" y="4053620"/>
                  <a:ext cx="2366170" cy="19254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Arrow Connector 183"/>
                <p:cNvCxnSpPr>
                  <a:stCxn id="132" idx="0"/>
                  <a:endCxn id="151" idx="4"/>
                </p:cNvCxnSpPr>
                <p:nvPr/>
              </p:nvCxnSpPr>
              <p:spPr>
                <a:xfrm flipV="1">
                  <a:off x="4495800" y="4246161"/>
                  <a:ext cx="2366170" cy="57762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/>
                <p:cNvCxnSpPr>
                  <a:stCxn id="133" idx="0"/>
                  <a:endCxn id="151" idx="4"/>
                </p:cNvCxnSpPr>
                <p:nvPr/>
              </p:nvCxnSpPr>
              <p:spPr>
                <a:xfrm flipV="1">
                  <a:off x="4495800" y="4246161"/>
                  <a:ext cx="2366170" cy="1355803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Arrow Connector 185"/>
                <p:cNvCxnSpPr>
                  <a:stCxn id="131" idx="0"/>
                  <a:endCxn id="152" idx="4"/>
                </p:cNvCxnSpPr>
                <p:nvPr/>
              </p:nvCxnSpPr>
              <p:spPr>
                <a:xfrm>
                  <a:off x="4495800" y="4053620"/>
                  <a:ext cx="2366170" cy="134778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Arrow Connector 186"/>
                <p:cNvCxnSpPr>
                  <a:stCxn id="131" idx="0"/>
                  <a:endCxn id="153" idx="4"/>
                </p:cNvCxnSpPr>
                <p:nvPr/>
              </p:nvCxnSpPr>
              <p:spPr>
                <a:xfrm>
                  <a:off x="4495800" y="4053620"/>
                  <a:ext cx="2366170" cy="173286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Arrow Connector 187"/>
                <p:cNvCxnSpPr>
                  <a:stCxn id="131" idx="0"/>
                  <a:endCxn id="154" idx="4"/>
                </p:cNvCxnSpPr>
                <p:nvPr/>
              </p:nvCxnSpPr>
              <p:spPr>
                <a:xfrm>
                  <a:off x="4495800" y="4053620"/>
                  <a:ext cx="2366170" cy="211794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Arrow Connector 188"/>
                <p:cNvCxnSpPr>
                  <a:stCxn id="132" idx="0"/>
                  <a:endCxn id="152" idx="4"/>
                </p:cNvCxnSpPr>
                <p:nvPr/>
              </p:nvCxnSpPr>
              <p:spPr>
                <a:xfrm>
                  <a:off x="4495800" y="4823781"/>
                  <a:ext cx="2366170" cy="57762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Arrow Connector 189"/>
                <p:cNvCxnSpPr>
                  <a:stCxn id="133" idx="0"/>
                  <a:endCxn id="152" idx="4"/>
                </p:cNvCxnSpPr>
                <p:nvPr/>
              </p:nvCxnSpPr>
              <p:spPr>
                <a:xfrm flipV="1">
                  <a:off x="4495800" y="5401401"/>
                  <a:ext cx="2366170" cy="200563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Arrow Connector 190"/>
                <p:cNvCxnSpPr>
                  <a:stCxn id="133" idx="0"/>
                  <a:endCxn id="153" idx="4"/>
                </p:cNvCxnSpPr>
                <p:nvPr/>
              </p:nvCxnSpPr>
              <p:spPr>
                <a:xfrm>
                  <a:off x="4495800" y="5601964"/>
                  <a:ext cx="2366170" cy="18451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Arrow Connector 191"/>
                <p:cNvCxnSpPr>
                  <a:stCxn id="132" idx="0"/>
                  <a:endCxn id="153" idx="4"/>
                </p:cNvCxnSpPr>
                <p:nvPr/>
              </p:nvCxnSpPr>
              <p:spPr>
                <a:xfrm>
                  <a:off x="4495800" y="4823781"/>
                  <a:ext cx="2366170" cy="96270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Arrow Connector 192"/>
                <p:cNvCxnSpPr>
                  <a:stCxn id="133" idx="0"/>
                  <a:endCxn id="154" idx="4"/>
                </p:cNvCxnSpPr>
                <p:nvPr/>
              </p:nvCxnSpPr>
              <p:spPr>
                <a:xfrm>
                  <a:off x="4495800" y="5601964"/>
                  <a:ext cx="2366170" cy="56959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Arrow Connector 193"/>
                <p:cNvCxnSpPr>
                  <a:stCxn id="132" idx="0"/>
                  <a:endCxn id="154" idx="4"/>
                </p:cNvCxnSpPr>
                <p:nvPr/>
              </p:nvCxnSpPr>
              <p:spPr>
                <a:xfrm>
                  <a:off x="4495800" y="4823781"/>
                  <a:ext cx="2366170" cy="134778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Rectangle 11"/>
              <p:cNvSpPr/>
              <p:nvPr/>
            </p:nvSpPr>
            <p:spPr>
              <a:xfrm>
                <a:off x="6716019" y="1524000"/>
                <a:ext cx="8755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Output</a:t>
                </a:r>
                <a:endParaRPr lang="th-TH" dirty="0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125219" y="2004273"/>
                <a:ext cx="8620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Hidden</a:t>
                </a:r>
                <a:endParaRPr lang="th-TH" dirty="0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1639416" y="1524000"/>
                <a:ext cx="6655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Input</a:t>
                </a:r>
                <a:endParaRPr lang="th-TH" dirty="0"/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1837038" y="1905000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</a:t>
              </a:r>
              <a:endParaRPr lang="th-TH" sz="1200" dirty="0"/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1837038" y="2286000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</a:t>
              </a:r>
              <a:endParaRPr lang="th-TH" sz="1200" dirty="0"/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1837038" y="2667000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</a:t>
              </a:r>
              <a:endParaRPr lang="th-TH" sz="1200" dirty="0"/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1837038" y="3048000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</a:t>
              </a:r>
              <a:endParaRPr lang="th-TH" sz="1200" dirty="0"/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1837038" y="3429000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5</a:t>
              </a:r>
              <a:endParaRPr lang="th-TH" sz="1200" dirty="0"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1837038" y="3837801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6</a:t>
              </a:r>
              <a:endParaRPr lang="th-TH" sz="1200" dirty="0"/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1837038" y="4218801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7</a:t>
              </a:r>
              <a:endParaRPr lang="th-TH" sz="1200" dirty="0"/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1837038" y="4599801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8</a:t>
              </a:r>
              <a:endParaRPr lang="th-TH" sz="1200" dirty="0"/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7024817" y="1905000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</a:t>
              </a:r>
              <a:endParaRPr lang="th-TH" sz="1200" dirty="0"/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7024817" y="2286000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</a:t>
              </a:r>
              <a:endParaRPr lang="th-TH" sz="1200" dirty="0"/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7024817" y="2667000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</a:t>
              </a:r>
              <a:endParaRPr lang="th-TH" sz="1200" dirty="0"/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7024817" y="3048000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</a:t>
              </a:r>
              <a:endParaRPr lang="th-TH" sz="1200" dirty="0"/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7024817" y="3429000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5</a:t>
              </a:r>
              <a:endParaRPr lang="th-TH" sz="1200" dirty="0"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7024817" y="3837801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6</a:t>
              </a:r>
              <a:endParaRPr lang="th-TH" sz="1200" dirty="0"/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7024817" y="4218801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7</a:t>
              </a:r>
              <a:endParaRPr lang="th-TH" sz="1200" dirty="0"/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7024817" y="4599801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8</a:t>
              </a:r>
              <a:endParaRPr lang="th-TH" sz="1200" dirty="0"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4419600" y="2466201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</a:t>
              </a:r>
              <a:endParaRPr lang="th-TH" sz="1200" dirty="0"/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4436076" y="3236439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</a:t>
              </a:r>
              <a:endParaRPr lang="th-TH" sz="1200" dirty="0"/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4436076" y="4005649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</a:t>
              </a:r>
              <a:endParaRPr lang="th-TH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1703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Flowchart: Process 108"/>
          <p:cNvSpPr/>
          <p:nvPr/>
        </p:nvSpPr>
        <p:spPr>
          <a:xfrm>
            <a:off x="5181600" y="5638800"/>
            <a:ext cx="2667000" cy="685800"/>
          </a:xfrm>
          <a:prstGeom prst="flowChartProcess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447800" y="5334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429000" y="35052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Process 107"/>
          <p:cNvSpPr/>
          <p:nvPr/>
        </p:nvSpPr>
        <p:spPr>
          <a:xfrm>
            <a:off x="990600" y="3048000"/>
            <a:ext cx="3200400" cy="3048000"/>
          </a:xfrm>
          <a:prstGeom prst="flowChartProcess">
            <a:avLst/>
          </a:prstGeom>
          <a:solidFill>
            <a:schemeClr val="accent1">
              <a:tint val="66000"/>
              <a:satMod val="160000"/>
              <a:alpha val="76000"/>
            </a:schemeClr>
          </a:solidFill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 Problem: Layer 0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991394" y="4342606"/>
            <a:ext cx="3200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14400" y="4572000"/>
            <a:ext cx="3505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447800" y="3505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29000" y="53340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334000" y="5715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cxnSp>
        <p:nvCxnSpPr>
          <p:cNvPr id="29" name="Straight Connector 28"/>
          <p:cNvCxnSpPr/>
          <p:nvPr/>
        </p:nvCxnSpPr>
        <p:spPr>
          <a:xfrm rot="5400000">
            <a:off x="1447006" y="4572000"/>
            <a:ext cx="304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3429794" y="4571206"/>
            <a:ext cx="304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10800000" flipV="1">
            <a:off x="2438400" y="3657600"/>
            <a:ext cx="305594" cy="7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0800000" flipV="1">
            <a:off x="2438400" y="5486400"/>
            <a:ext cx="305594" cy="7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71600" y="465986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33600" y="526946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09800" y="3440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659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162800" y="5715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43" name="Oval 42"/>
          <p:cNvSpPr/>
          <p:nvPr/>
        </p:nvSpPr>
        <p:spPr>
          <a:xfrm>
            <a:off x="5334000" y="44958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sp>
        <p:nvSpPr>
          <p:cNvPr id="56" name="Oval 55"/>
          <p:cNvSpPr/>
          <p:nvPr/>
        </p:nvSpPr>
        <p:spPr>
          <a:xfrm>
            <a:off x="6248400" y="1295400"/>
            <a:ext cx="533400" cy="533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dirty="0"/>
          </a:p>
        </p:txBody>
      </p:sp>
      <p:cxnSp>
        <p:nvCxnSpPr>
          <p:cNvPr id="58" name="Straight Arrow Connector 57"/>
          <p:cNvCxnSpPr>
            <a:stCxn id="27" idx="0"/>
            <a:endCxn id="43" idx="4"/>
          </p:cNvCxnSpPr>
          <p:nvPr/>
        </p:nvCxnSpPr>
        <p:spPr>
          <a:xfrm rot="5400000" flipH="1" flipV="1">
            <a:off x="5257800" y="53721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2" idx="1"/>
            <a:endCxn id="43" idx="5"/>
          </p:cNvCxnSpPr>
          <p:nvPr/>
        </p:nvCxnSpPr>
        <p:spPr>
          <a:xfrm rot="16200000" flipV="1">
            <a:off x="6094085" y="4646285"/>
            <a:ext cx="842030" cy="14516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4419600" y="4343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38400" y="2438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grpSp>
        <p:nvGrpSpPr>
          <p:cNvPr id="3" name="Group 37"/>
          <p:cNvGrpSpPr/>
          <p:nvPr/>
        </p:nvGrpSpPr>
        <p:grpSpPr>
          <a:xfrm>
            <a:off x="5334000" y="3733800"/>
            <a:ext cx="533400" cy="533400"/>
            <a:chOff x="7162800" y="4267200"/>
            <a:chExt cx="533400" cy="533400"/>
          </a:xfrm>
        </p:grpSpPr>
        <p:sp>
          <p:nvSpPr>
            <p:cNvPr id="45" name="Oval 44"/>
            <p:cNvSpPr/>
            <p:nvPr/>
          </p:nvSpPr>
          <p:spPr>
            <a:xfrm>
              <a:off x="7162800" y="4267200"/>
              <a:ext cx="533400" cy="533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dirty="0"/>
            </a:p>
          </p:txBody>
        </p:sp>
        <p:grpSp>
          <p:nvGrpSpPr>
            <p:cNvPr id="4" name="Group 54"/>
            <p:cNvGrpSpPr/>
            <p:nvPr/>
          </p:nvGrpSpPr>
          <p:grpSpPr>
            <a:xfrm>
              <a:off x="7266039" y="4434348"/>
              <a:ext cx="304800" cy="230188"/>
              <a:chOff x="6400800" y="2286000"/>
              <a:chExt cx="304800" cy="230188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 rot="5400000">
                <a:off x="6439694" y="2399506"/>
                <a:ext cx="227806" cy="79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6553200" y="22860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6400800" y="25146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Oval 39"/>
          <p:cNvSpPr/>
          <p:nvPr/>
        </p:nvSpPr>
        <p:spPr>
          <a:xfrm>
            <a:off x="7162800" y="44958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grpSp>
        <p:nvGrpSpPr>
          <p:cNvPr id="7" name="Group 40"/>
          <p:cNvGrpSpPr/>
          <p:nvPr/>
        </p:nvGrpSpPr>
        <p:grpSpPr>
          <a:xfrm>
            <a:off x="7162800" y="3733800"/>
            <a:ext cx="533400" cy="533400"/>
            <a:chOff x="7162800" y="4267200"/>
            <a:chExt cx="533400" cy="533400"/>
          </a:xfrm>
        </p:grpSpPr>
        <p:sp>
          <p:nvSpPr>
            <p:cNvPr id="44" name="Oval 43"/>
            <p:cNvSpPr/>
            <p:nvPr/>
          </p:nvSpPr>
          <p:spPr>
            <a:xfrm>
              <a:off x="7162800" y="4267200"/>
              <a:ext cx="533400" cy="533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dirty="0"/>
            </a:p>
          </p:txBody>
        </p:sp>
        <p:grpSp>
          <p:nvGrpSpPr>
            <p:cNvPr id="8" name="Group 54"/>
            <p:cNvGrpSpPr/>
            <p:nvPr/>
          </p:nvGrpSpPr>
          <p:grpSpPr>
            <a:xfrm>
              <a:off x="7266039" y="4434348"/>
              <a:ext cx="304800" cy="230188"/>
              <a:chOff x="6400800" y="2286000"/>
              <a:chExt cx="304800" cy="230188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 rot="5400000">
                <a:off x="6439694" y="2399506"/>
                <a:ext cx="227806" cy="79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6553200" y="22860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6400800" y="25146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2" name="Straight Arrow Connector 51"/>
          <p:cNvCxnSpPr>
            <a:stCxn id="42" idx="0"/>
            <a:endCxn id="40" idx="4"/>
          </p:cNvCxnSpPr>
          <p:nvPr/>
        </p:nvCxnSpPr>
        <p:spPr>
          <a:xfrm rot="5400000" flipH="1" flipV="1">
            <a:off x="7086600" y="53721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7" idx="7"/>
            <a:endCxn id="40" idx="3"/>
          </p:cNvCxnSpPr>
          <p:nvPr/>
        </p:nvCxnSpPr>
        <p:spPr>
          <a:xfrm rot="5400000" flipH="1" flipV="1">
            <a:off x="6094085" y="4646285"/>
            <a:ext cx="842030" cy="14516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43" idx="0"/>
          </p:cNvCxnSpPr>
          <p:nvPr/>
        </p:nvCxnSpPr>
        <p:spPr>
          <a:xfrm rot="5400000" flipH="1" flipV="1">
            <a:off x="5486400" y="43815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40" idx="0"/>
          </p:cNvCxnSpPr>
          <p:nvPr/>
        </p:nvCxnSpPr>
        <p:spPr>
          <a:xfrm rot="5400000" flipH="1" flipV="1">
            <a:off x="7315200" y="43815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6248400" y="28194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grpSp>
        <p:nvGrpSpPr>
          <p:cNvPr id="9" name="Group 80"/>
          <p:cNvGrpSpPr/>
          <p:nvPr/>
        </p:nvGrpSpPr>
        <p:grpSpPr>
          <a:xfrm>
            <a:off x="6248400" y="2057400"/>
            <a:ext cx="533400" cy="533400"/>
            <a:chOff x="7162800" y="4267200"/>
            <a:chExt cx="533400" cy="533400"/>
          </a:xfrm>
        </p:grpSpPr>
        <p:sp>
          <p:nvSpPr>
            <p:cNvPr id="82" name="Oval 81"/>
            <p:cNvSpPr/>
            <p:nvPr/>
          </p:nvSpPr>
          <p:spPr>
            <a:xfrm>
              <a:off x="7162800" y="4267200"/>
              <a:ext cx="533400" cy="533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dirty="0"/>
            </a:p>
          </p:txBody>
        </p:sp>
        <p:grpSp>
          <p:nvGrpSpPr>
            <p:cNvPr id="10" name="Group 54"/>
            <p:cNvGrpSpPr/>
            <p:nvPr/>
          </p:nvGrpSpPr>
          <p:grpSpPr>
            <a:xfrm>
              <a:off x="7266039" y="4434348"/>
              <a:ext cx="304800" cy="230188"/>
              <a:chOff x="6400800" y="2286000"/>
              <a:chExt cx="304800" cy="230188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 rot="5400000">
                <a:off x="6439694" y="2399506"/>
                <a:ext cx="227806" cy="79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6553200" y="22860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6400800" y="25146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7" name="Straight Arrow Connector 86"/>
          <p:cNvCxnSpPr>
            <a:stCxn id="80" idx="0"/>
            <a:endCxn id="82" idx="4"/>
          </p:cNvCxnSpPr>
          <p:nvPr/>
        </p:nvCxnSpPr>
        <p:spPr>
          <a:xfrm rot="5400000" flipH="1" flipV="1">
            <a:off x="6400800" y="27051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endCxn id="80" idx="3"/>
          </p:cNvCxnSpPr>
          <p:nvPr/>
        </p:nvCxnSpPr>
        <p:spPr>
          <a:xfrm rot="5400000" flipH="1" flipV="1">
            <a:off x="5789285" y="3274685"/>
            <a:ext cx="537230" cy="537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endCxn id="80" idx="5"/>
          </p:cNvCxnSpPr>
          <p:nvPr/>
        </p:nvCxnSpPr>
        <p:spPr>
          <a:xfrm rot="16200000" flipV="1">
            <a:off x="6703685" y="3274685"/>
            <a:ext cx="537230" cy="537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82" idx="0"/>
            <a:endCxn id="56" idx="4"/>
          </p:cNvCxnSpPr>
          <p:nvPr/>
        </p:nvCxnSpPr>
        <p:spPr>
          <a:xfrm rot="5400000" flipH="1" flipV="1">
            <a:off x="6400800" y="19431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5334000" y="5257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91400" y="5257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67400" y="3276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0" y="3276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19800" y="487680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34976" y="487680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72CC700-6008-485C-AC73-24809791A1D6}"/>
              </a:ext>
            </a:extLst>
          </p:cNvPr>
          <p:cNvSpPr txBox="1"/>
          <p:nvPr/>
        </p:nvSpPr>
        <p:spPr>
          <a:xfrm>
            <a:off x="5557803" y="289715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CBEB899-2268-44F2-8BFB-F48F4306677E}"/>
              </a:ext>
            </a:extLst>
          </p:cNvPr>
          <p:cNvCxnSpPr>
            <a:cxnSpLocks/>
            <a:stCxn id="61" idx="3"/>
            <a:endCxn id="80" idx="2"/>
          </p:cNvCxnSpPr>
          <p:nvPr/>
        </p:nvCxnSpPr>
        <p:spPr>
          <a:xfrm>
            <a:off x="6024597" y="3081823"/>
            <a:ext cx="223803" cy="4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08" grpId="0" animBg="1"/>
      <p:bldP spid="108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lowchart: Process 62"/>
          <p:cNvSpPr/>
          <p:nvPr/>
        </p:nvSpPr>
        <p:spPr>
          <a:xfrm>
            <a:off x="5181600" y="5638800"/>
            <a:ext cx="2667000" cy="685800"/>
          </a:xfrm>
          <a:prstGeom prst="flowChartProcess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447800" y="5334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 Problem : Layer 1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991394" y="4342606"/>
            <a:ext cx="3200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14400" y="4572000"/>
            <a:ext cx="3505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447800" y="3505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29000" y="53340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334000" y="5715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cxnSp>
        <p:nvCxnSpPr>
          <p:cNvPr id="29" name="Straight Connector 28"/>
          <p:cNvCxnSpPr/>
          <p:nvPr/>
        </p:nvCxnSpPr>
        <p:spPr>
          <a:xfrm rot="5400000">
            <a:off x="1447006" y="4572000"/>
            <a:ext cx="304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3429794" y="4571206"/>
            <a:ext cx="304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10800000" flipV="1">
            <a:off x="2438400" y="3657600"/>
            <a:ext cx="305594" cy="7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0800000" flipV="1">
            <a:off x="2438400" y="5486400"/>
            <a:ext cx="305594" cy="7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71600" y="465986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33600" y="526946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09800" y="3440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659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162800" y="5715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43" name="Oval 42"/>
          <p:cNvSpPr/>
          <p:nvPr/>
        </p:nvSpPr>
        <p:spPr>
          <a:xfrm>
            <a:off x="5334000" y="44958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sp>
        <p:nvSpPr>
          <p:cNvPr id="56" name="Oval 55"/>
          <p:cNvSpPr/>
          <p:nvPr/>
        </p:nvSpPr>
        <p:spPr>
          <a:xfrm>
            <a:off x="6248400" y="1295400"/>
            <a:ext cx="533400" cy="533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dirty="0"/>
          </a:p>
        </p:txBody>
      </p:sp>
      <p:cxnSp>
        <p:nvCxnSpPr>
          <p:cNvPr id="58" name="Straight Arrow Connector 57"/>
          <p:cNvCxnSpPr>
            <a:stCxn id="27" idx="0"/>
            <a:endCxn id="43" idx="4"/>
          </p:cNvCxnSpPr>
          <p:nvPr/>
        </p:nvCxnSpPr>
        <p:spPr>
          <a:xfrm rot="5400000" flipH="1" flipV="1">
            <a:off x="5257800" y="53721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2" idx="1"/>
            <a:endCxn id="43" idx="5"/>
          </p:cNvCxnSpPr>
          <p:nvPr/>
        </p:nvCxnSpPr>
        <p:spPr>
          <a:xfrm rot="16200000" flipV="1">
            <a:off x="6094085" y="4646285"/>
            <a:ext cx="842030" cy="14516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4419600" y="4343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38400" y="24384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2</a:t>
            </a:r>
          </a:p>
        </p:txBody>
      </p:sp>
      <p:grpSp>
        <p:nvGrpSpPr>
          <p:cNvPr id="3" name="Group 37"/>
          <p:cNvGrpSpPr/>
          <p:nvPr/>
        </p:nvGrpSpPr>
        <p:grpSpPr>
          <a:xfrm>
            <a:off x="5334000" y="3733800"/>
            <a:ext cx="533400" cy="533400"/>
            <a:chOff x="7162800" y="4267200"/>
            <a:chExt cx="533400" cy="533400"/>
          </a:xfrm>
        </p:grpSpPr>
        <p:sp>
          <p:nvSpPr>
            <p:cNvPr id="45" name="Oval 44"/>
            <p:cNvSpPr/>
            <p:nvPr/>
          </p:nvSpPr>
          <p:spPr>
            <a:xfrm>
              <a:off x="7162800" y="4267200"/>
              <a:ext cx="533400" cy="533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dirty="0"/>
            </a:p>
          </p:txBody>
        </p:sp>
        <p:grpSp>
          <p:nvGrpSpPr>
            <p:cNvPr id="4" name="Group 54"/>
            <p:cNvGrpSpPr/>
            <p:nvPr/>
          </p:nvGrpSpPr>
          <p:grpSpPr>
            <a:xfrm>
              <a:off x="7266039" y="4434348"/>
              <a:ext cx="304800" cy="230188"/>
              <a:chOff x="6400800" y="2286000"/>
              <a:chExt cx="304800" cy="230188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 rot="5400000">
                <a:off x="6439694" y="2399506"/>
                <a:ext cx="227806" cy="79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6553200" y="22860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6400800" y="25146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Oval 39"/>
          <p:cNvSpPr/>
          <p:nvPr/>
        </p:nvSpPr>
        <p:spPr>
          <a:xfrm>
            <a:off x="7162800" y="44958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grpSp>
        <p:nvGrpSpPr>
          <p:cNvPr id="7" name="Group 40"/>
          <p:cNvGrpSpPr/>
          <p:nvPr/>
        </p:nvGrpSpPr>
        <p:grpSpPr>
          <a:xfrm>
            <a:off x="7162800" y="3733800"/>
            <a:ext cx="533400" cy="533400"/>
            <a:chOff x="7162800" y="4267200"/>
            <a:chExt cx="533400" cy="533400"/>
          </a:xfrm>
        </p:grpSpPr>
        <p:sp>
          <p:nvSpPr>
            <p:cNvPr id="44" name="Oval 43"/>
            <p:cNvSpPr/>
            <p:nvPr/>
          </p:nvSpPr>
          <p:spPr>
            <a:xfrm>
              <a:off x="7162800" y="4267200"/>
              <a:ext cx="533400" cy="533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dirty="0"/>
            </a:p>
          </p:txBody>
        </p:sp>
        <p:grpSp>
          <p:nvGrpSpPr>
            <p:cNvPr id="8" name="Group 54"/>
            <p:cNvGrpSpPr/>
            <p:nvPr/>
          </p:nvGrpSpPr>
          <p:grpSpPr>
            <a:xfrm>
              <a:off x="7266039" y="4434348"/>
              <a:ext cx="304800" cy="230188"/>
              <a:chOff x="6400800" y="2286000"/>
              <a:chExt cx="304800" cy="230188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 rot="5400000">
                <a:off x="6439694" y="2399506"/>
                <a:ext cx="227806" cy="79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6553200" y="22860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6400800" y="25146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2" name="Straight Arrow Connector 51"/>
          <p:cNvCxnSpPr>
            <a:stCxn id="42" idx="0"/>
            <a:endCxn id="40" idx="4"/>
          </p:cNvCxnSpPr>
          <p:nvPr/>
        </p:nvCxnSpPr>
        <p:spPr>
          <a:xfrm rot="5400000" flipH="1" flipV="1">
            <a:off x="7086600" y="53721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7" idx="7"/>
            <a:endCxn id="40" idx="3"/>
          </p:cNvCxnSpPr>
          <p:nvPr/>
        </p:nvCxnSpPr>
        <p:spPr>
          <a:xfrm rot="5400000" flipH="1" flipV="1">
            <a:off x="6094085" y="4646285"/>
            <a:ext cx="842030" cy="14516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43" idx="0"/>
          </p:cNvCxnSpPr>
          <p:nvPr/>
        </p:nvCxnSpPr>
        <p:spPr>
          <a:xfrm rot="5400000" flipH="1" flipV="1">
            <a:off x="5486400" y="43815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40" idx="0"/>
          </p:cNvCxnSpPr>
          <p:nvPr/>
        </p:nvCxnSpPr>
        <p:spPr>
          <a:xfrm rot="5400000" flipH="1" flipV="1">
            <a:off x="7315200" y="43815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6248400" y="28194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grpSp>
        <p:nvGrpSpPr>
          <p:cNvPr id="9" name="Group 80"/>
          <p:cNvGrpSpPr/>
          <p:nvPr/>
        </p:nvGrpSpPr>
        <p:grpSpPr>
          <a:xfrm>
            <a:off x="6248400" y="2057400"/>
            <a:ext cx="533400" cy="533400"/>
            <a:chOff x="7162800" y="4267200"/>
            <a:chExt cx="533400" cy="533400"/>
          </a:xfrm>
        </p:grpSpPr>
        <p:sp>
          <p:nvSpPr>
            <p:cNvPr id="82" name="Oval 81"/>
            <p:cNvSpPr/>
            <p:nvPr/>
          </p:nvSpPr>
          <p:spPr>
            <a:xfrm>
              <a:off x="7162800" y="4267200"/>
              <a:ext cx="533400" cy="533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dirty="0"/>
            </a:p>
          </p:txBody>
        </p:sp>
        <p:grpSp>
          <p:nvGrpSpPr>
            <p:cNvPr id="10" name="Group 54"/>
            <p:cNvGrpSpPr/>
            <p:nvPr/>
          </p:nvGrpSpPr>
          <p:grpSpPr>
            <a:xfrm>
              <a:off x="7266039" y="4434348"/>
              <a:ext cx="304800" cy="230188"/>
              <a:chOff x="6400800" y="2286000"/>
              <a:chExt cx="304800" cy="230188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 rot="5400000">
                <a:off x="6439694" y="2399506"/>
                <a:ext cx="227806" cy="79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6553200" y="22860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6400800" y="25146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7" name="Straight Arrow Connector 86"/>
          <p:cNvCxnSpPr>
            <a:stCxn id="80" idx="0"/>
            <a:endCxn id="82" idx="4"/>
          </p:cNvCxnSpPr>
          <p:nvPr/>
        </p:nvCxnSpPr>
        <p:spPr>
          <a:xfrm rot="5400000" flipH="1" flipV="1">
            <a:off x="6400800" y="27051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endCxn id="80" idx="3"/>
          </p:cNvCxnSpPr>
          <p:nvPr/>
        </p:nvCxnSpPr>
        <p:spPr>
          <a:xfrm rot="5400000" flipH="1" flipV="1">
            <a:off x="5789285" y="3274685"/>
            <a:ext cx="537230" cy="537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endCxn id="80" idx="5"/>
          </p:cNvCxnSpPr>
          <p:nvPr/>
        </p:nvCxnSpPr>
        <p:spPr>
          <a:xfrm rot="16200000" flipV="1">
            <a:off x="6703685" y="3274685"/>
            <a:ext cx="537230" cy="537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82" idx="0"/>
            <a:endCxn id="56" idx="4"/>
          </p:cNvCxnSpPr>
          <p:nvPr/>
        </p:nvCxnSpPr>
        <p:spPr>
          <a:xfrm rot="5400000" flipH="1" flipV="1">
            <a:off x="6400800" y="19431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5334000" y="5257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91400" y="5257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67400" y="3276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0" y="3276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19800" y="487680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34976" y="487680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10200" y="3352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57400" y="335280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E0D174-76ED-4A1E-83A8-49DC649B4082}"/>
              </a:ext>
            </a:extLst>
          </p:cNvPr>
          <p:cNvSpPr txBox="1"/>
          <p:nvPr/>
        </p:nvSpPr>
        <p:spPr>
          <a:xfrm>
            <a:off x="5557803" y="289715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B7B0AC5-14A4-4814-B0B6-A9844EBB80E6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024597" y="3081823"/>
            <a:ext cx="223803" cy="4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-0.361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lowchart: Process 62"/>
          <p:cNvSpPr/>
          <p:nvPr/>
        </p:nvSpPr>
        <p:spPr>
          <a:xfrm>
            <a:off x="5181600" y="3200400"/>
            <a:ext cx="2667000" cy="685800"/>
          </a:xfrm>
          <a:prstGeom prst="flowChartProcess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 Problem : Layer 2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914400" y="4572000"/>
            <a:ext cx="3505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334000" y="5715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cxnSp>
        <p:nvCxnSpPr>
          <p:cNvPr id="29" name="Straight Connector 28"/>
          <p:cNvCxnSpPr/>
          <p:nvPr/>
        </p:nvCxnSpPr>
        <p:spPr>
          <a:xfrm rot="5400000">
            <a:off x="1447006" y="4572000"/>
            <a:ext cx="304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3429794" y="4571206"/>
            <a:ext cx="304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71600" y="465986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659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162800" y="5715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43" name="Oval 42"/>
          <p:cNvSpPr/>
          <p:nvPr/>
        </p:nvSpPr>
        <p:spPr>
          <a:xfrm>
            <a:off x="5334000" y="44958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sp>
        <p:nvSpPr>
          <p:cNvPr id="56" name="Oval 55"/>
          <p:cNvSpPr/>
          <p:nvPr/>
        </p:nvSpPr>
        <p:spPr>
          <a:xfrm>
            <a:off x="6248400" y="1295400"/>
            <a:ext cx="533400" cy="533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dirty="0"/>
          </a:p>
        </p:txBody>
      </p:sp>
      <p:cxnSp>
        <p:nvCxnSpPr>
          <p:cNvPr id="58" name="Straight Arrow Connector 57"/>
          <p:cNvCxnSpPr>
            <a:stCxn id="27" idx="0"/>
            <a:endCxn id="43" idx="4"/>
          </p:cNvCxnSpPr>
          <p:nvPr/>
        </p:nvCxnSpPr>
        <p:spPr>
          <a:xfrm rot="5400000" flipH="1" flipV="1">
            <a:off x="5257800" y="53721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2" idx="1"/>
            <a:endCxn id="43" idx="5"/>
          </p:cNvCxnSpPr>
          <p:nvPr/>
        </p:nvCxnSpPr>
        <p:spPr>
          <a:xfrm rot="16200000" flipV="1">
            <a:off x="6094085" y="4646285"/>
            <a:ext cx="842030" cy="14516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37"/>
          <p:cNvGrpSpPr/>
          <p:nvPr/>
        </p:nvGrpSpPr>
        <p:grpSpPr>
          <a:xfrm>
            <a:off x="5334000" y="3733800"/>
            <a:ext cx="533400" cy="533400"/>
            <a:chOff x="7162800" y="4267200"/>
            <a:chExt cx="533400" cy="533400"/>
          </a:xfrm>
        </p:grpSpPr>
        <p:sp>
          <p:nvSpPr>
            <p:cNvPr id="45" name="Oval 44"/>
            <p:cNvSpPr/>
            <p:nvPr/>
          </p:nvSpPr>
          <p:spPr>
            <a:xfrm>
              <a:off x="7162800" y="4267200"/>
              <a:ext cx="533400" cy="533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dirty="0"/>
            </a:p>
          </p:txBody>
        </p:sp>
        <p:grpSp>
          <p:nvGrpSpPr>
            <p:cNvPr id="4" name="Group 54"/>
            <p:cNvGrpSpPr/>
            <p:nvPr/>
          </p:nvGrpSpPr>
          <p:grpSpPr>
            <a:xfrm>
              <a:off x="7266039" y="4434348"/>
              <a:ext cx="304800" cy="230188"/>
              <a:chOff x="6400800" y="2286000"/>
              <a:chExt cx="304800" cy="230188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 rot="5400000">
                <a:off x="6439694" y="2399506"/>
                <a:ext cx="227806" cy="79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6553200" y="22860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6400800" y="25146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Oval 39"/>
          <p:cNvSpPr/>
          <p:nvPr/>
        </p:nvSpPr>
        <p:spPr>
          <a:xfrm>
            <a:off x="7162800" y="44958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grpSp>
        <p:nvGrpSpPr>
          <p:cNvPr id="5" name="Group 40"/>
          <p:cNvGrpSpPr/>
          <p:nvPr/>
        </p:nvGrpSpPr>
        <p:grpSpPr>
          <a:xfrm>
            <a:off x="7162800" y="3733800"/>
            <a:ext cx="533400" cy="533400"/>
            <a:chOff x="7162800" y="4267200"/>
            <a:chExt cx="533400" cy="533400"/>
          </a:xfrm>
        </p:grpSpPr>
        <p:sp>
          <p:nvSpPr>
            <p:cNvPr id="44" name="Oval 43"/>
            <p:cNvSpPr/>
            <p:nvPr/>
          </p:nvSpPr>
          <p:spPr>
            <a:xfrm>
              <a:off x="7162800" y="4267200"/>
              <a:ext cx="533400" cy="533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dirty="0"/>
            </a:p>
          </p:txBody>
        </p:sp>
        <p:grpSp>
          <p:nvGrpSpPr>
            <p:cNvPr id="7" name="Group 54"/>
            <p:cNvGrpSpPr/>
            <p:nvPr/>
          </p:nvGrpSpPr>
          <p:grpSpPr>
            <a:xfrm>
              <a:off x="7266039" y="4434348"/>
              <a:ext cx="304800" cy="230188"/>
              <a:chOff x="6400800" y="2286000"/>
              <a:chExt cx="304800" cy="230188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 rot="5400000">
                <a:off x="6439694" y="2399506"/>
                <a:ext cx="227806" cy="79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6553200" y="22860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6400800" y="25146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2" name="Straight Arrow Connector 51"/>
          <p:cNvCxnSpPr>
            <a:stCxn id="42" idx="0"/>
            <a:endCxn id="40" idx="4"/>
          </p:cNvCxnSpPr>
          <p:nvPr/>
        </p:nvCxnSpPr>
        <p:spPr>
          <a:xfrm rot="5400000" flipH="1" flipV="1">
            <a:off x="7086600" y="53721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7" idx="7"/>
            <a:endCxn id="40" idx="3"/>
          </p:cNvCxnSpPr>
          <p:nvPr/>
        </p:nvCxnSpPr>
        <p:spPr>
          <a:xfrm rot="5400000" flipH="1" flipV="1">
            <a:off x="6094085" y="4646285"/>
            <a:ext cx="842030" cy="14516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43" idx="0"/>
          </p:cNvCxnSpPr>
          <p:nvPr/>
        </p:nvCxnSpPr>
        <p:spPr>
          <a:xfrm rot="5400000" flipH="1" flipV="1">
            <a:off x="5486400" y="43815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40" idx="0"/>
          </p:cNvCxnSpPr>
          <p:nvPr/>
        </p:nvCxnSpPr>
        <p:spPr>
          <a:xfrm rot="5400000" flipH="1" flipV="1">
            <a:off x="7315200" y="43815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6248400" y="28194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grpSp>
        <p:nvGrpSpPr>
          <p:cNvPr id="8" name="Group 80"/>
          <p:cNvGrpSpPr/>
          <p:nvPr/>
        </p:nvGrpSpPr>
        <p:grpSpPr>
          <a:xfrm>
            <a:off x="6248400" y="2057400"/>
            <a:ext cx="533400" cy="533400"/>
            <a:chOff x="7162800" y="4267200"/>
            <a:chExt cx="533400" cy="533400"/>
          </a:xfrm>
        </p:grpSpPr>
        <p:sp>
          <p:nvSpPr>
            <p:cNvPr id="82" name="Oval 81"/>
            <p:cNvSpPr/>
            <p:nvPr/>
          </p:nvSpPr>
          <p:spPr>
            <a:xfrm>
              <a:off x="7162800" y="4267200"/>
              <a:ext cx="533400" cy="533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dirty="0"/>
            </a:p>
          </p:txBody>
        </p:sp>
        <p:grpSp>
          <p:nvGrpSpPr>
            <p:cNvPr id="9" name="Group 54"/>
            <p:cNvGrpSpPr/>
            <p:nvPr/>
          </p:nvGrpSpPr>
          <p:grpSpPr>
            <a:xfrm>
              <a:off x="7266039" y="4434348"/>
              <a:ext cx="304800" cy="230188"/>
              <a:chOff x="6400800" y="2286000"/>
              <a:chExt cx="304800" cy="230188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 rot="5400000">
                <a:off x="6439694" y="2399506"/>
                <a:ext cx="227806" cy="79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6553200" y="22860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6400800" y="25146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7" name="Straight Arrow Connector 86"/>
          <p:cNvCxnSpPr>
            <a:stCxn id="80" idx="0"/>
            <a:endCxn id="82" idx="4"/>
          </p:cNvCxnSpPr>
          <p:nvPr/>
        </p:nvCxnSpPr>
        <p:spPr>
          <a:xfrm rot="5400000" flipH="1" flipV="1">
            <a:off x="6400800" y="27051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endCxn id="80" idx="3"/>
          </p:cNvCxnSpPr>
          <p:nvPr/>
        </p:nvCxnSpPr>
        <p:spPr>
          <a:xfrm rot="5400000" flipH="1" flipV="1">
            <a:off x="5789285" y="3274685"/>
            <a:ext cx="537230" cy="537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endCxn id="80" idx="5"/>
          </p:cNvCxnSpPr>
          <p:nvPr/>
        </p:nvCxnSpPr>
        <p:spPr>
          <a:xfrm rot="16200000" flipV="1">
            <a:off x="6703685" y="3274685"/>
            <a:ext cx="537230" cy="537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82" idx="0"/>
            <a:endCxn id="56" idx="4"/>
          </p:cNvCxnSpPr>
          <p:nvPr/>
        </p:nvCxnSpPr>
        <p:spPr>
          <a:xfrm rot="5400000" flipH="1" flipV="1">
            <a:off x="6400800" y="19431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5334000" y="5257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91400" y="5257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67400" y="3276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0" y="3276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19800" y="487680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34976" y="487680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10200" y="3352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57400" y="335280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424282" y="44196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449388" y="44196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D1F4CD-09DE-4F46-B588-31E7759DAA60}"/>
              </a:ext>
            </a:extLst>
          </p:cNvPr>
          <p:cNvSpPr txBox="1"/>
          <p:nvPr/>
        </p:nvSpPr>
        <p:spPr>
          <a:xfrm>
            <a:off x="5557803" y="289715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D516C32-BAB9-4CE5-A800-7113C2DF0727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6024597" y="3081823"/>
            <a:ext cx="223803" cy="4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0 -0.283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27" name="Oval 26"/>
          <p:cNvSpPr/>
          <p:nvPr/>
        </p:nvSpPr>
        <p:spPr>
          <a:xfrm>
            <a:off x="5334000" y="5715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7162800" y="5715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43" name="Oval 42"/>
          <p:cNvSpPr/>
          <p:nvPr/>
        </p:nvSpPr>
        <p:spPr>
          <a:xfrm>
            <a:off x="5334000" y="44958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sp>
        <p:nvSpPr>
          <p:cNvPr id="56" name="Oval 55"/>
          <p:cNvSpPr/>
          <p:nvPr/>
        </p:nvSpPr>
        <p:spPr>
          <a:xfrm>
            <a:off x="6248400" y="1295400"/>
            <a:ext cx="533400" cy="533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dirty="0"/>
          </a:p>
        </p:txBody>
      </p:sp>
      <p:cxnSp>
        <p:nvCxnSpPr>
          <p:cNvPr id="58" name="Straight Arrow Connector 57"/>
          <p:cNvCxnSpPr>
            <a:stCxn id="27" idx="0"/>
            <a:endCxn id="43" idx="4"/>
          </p:cNvCxnSpPr>
          <p:nvPr/>
        </p:nvCxnSpPr>
        <p:spPr>
          <a:xfrm rot="5400000" flipH="1" flipV="1">
            <a:off x="5257800" y="53721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2" idx="1"/>
            <a:endCxn id="43" idx="5"/>
          </p:cNvCxnSpPr>
          <p:nvPr/>
        </p:nvCxnSpPr>
        <p:spPr>
          <a:xfrm rot="16200000" flipV="1">
            <a:off x="6094085" y="4646285"/>
            <a:ext cx="842030" cy="14516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37"/>
          <p:cNvGrpSpPr/>
          <p:nvPr/>
        </p:nvGrpSpPr>
        <p:grpSpPr>
          <a:xfrm>
            <a:off x="5334000" y="3733800"/>
            <a:ext cx="533400" cy="533400"/>
            <a:chOff x="7162800" y="4267200"/>
            <a:chExt cx="533400" cy="533400"/>
          </a:xfrm>
        </p:grpSpPr>
        <p:sp>
          <p:nvSpPr>
            <p:cNvPr id="45" name="Oval 44"/>
            <p:cNvSpPr/>
            <p:nvPr/>
          </p:nvSpPr>
          <p:spPr>
            <a:xfrm>
              <a:off x="7162800" y="4267200"/>
              <a:ext cx="533400" cy="533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dirty="0"/>
            </a:p>
          </p:txBody>
        </p:sp>
        <p:grpSp>
          <p:nvGrpSpPr>
            <p:cNvPr id="4" name="Group 54"/>
            <p:cNvGrpSpPr/>
            <p:nvPr/>
          </p:nvGrpSpPr>
          <p:grpSpPr>
            <a:xfrm>
              <a:off x="7266039" y="4434348"/>
              <a:ext cx="304800" cy="230188"/>
              <a:chOff x="6400800" y="2286000"/>
              <a:chExt cx="304800" cy="230188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 rot="5400000">
                <a:off x="6439694" y="2399506"/>
                <a:ext cx="227806" cy="79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6553200" y="22860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6400800" y="25146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Oval 39"/>
          <p:cNvSpPr/>
          <p:nvPr/>
        </p:nvSpPr>
        <p:spPr>
          <a:xfrm>
            <a:off x="7162800" y="44958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grpSp>
        <p:nvGrpSpPr>
          <p:cNvPr id="5" name="Group 40"/>
          <p:cNvGrpSpPr/>
          <p:nvPr/>
        </p:nvGrpSpPr>
        <p:grpSpPr>
          <a:xfrm>
            <a:off x="7162800" y="3733800"/>
            <a:ext cx="533400" cy="533400"/>
            <a:chOff x="7162800" y="4267200"/>
            <a:chExt cx="533400" cy="533400"/>
          </a:xfrm>
        </p:grpSpPr>
        <p:sp>
          <p:nvSpPr>
            <p:cNvPr id="44" name="Oval 43"/>
            <p:cNvSpPr/>
            <p:nvPr/>
          </p:nvSpPr>
          <p:spPr>
            <a:xfrm>
              <a:off x="7162800" y="4267200"/>
              <a:ext cx="533400" cy="533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dirty="0"/>
            </a:p>
          </p:txBody>
        </p:sp>
        <p:grpSp>
          <p:nvGrpSpPr>
            <p:cNvPr id="7" name="Group 54"/>
            <p:cNvGrpSpPr/>
            <p:nvPr/>
          </p:nvGrpSpPr>
          <p:grpSpPr>
            <a:xfrm>
              <a:off x="7266039" y="4434348"/>
              <a:ext cx="304800" cy="230188"/>
              <a:chOff x="6400800" y="2286000"/>
              <a:chExt cx="304800" cy="230188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 rot="5400000">
                <a:off x="6439694" y="2399506"/>
                <a:ext cx="227806" cy="79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6553200" y="22860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6400800" y="25146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2" name="Straight Arrow Connector 51"/>
          <p:cNvCxnSpPr>
            <a:stCxn id="42" idx="0"/>
            <a:endCxn id="40" idx="4"/>
          </p:cNvCxnSpPr>
          <p:nvPr/>
        </p:nvCxnSpPr>
        <p:spPr>
          <a:xfrm rot="5400000" flipH="1" flipV="1">
            <a:off x="7086600" y="53721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7" idx="7"/>
            <a:endCxn id="40" idx="3"/>
          </p:cNvCxnSpPr>
          <p:nvPr/>
        </p:nvCxnSpPr>
        <p:spPr>
          <a:xfrm rot="5400000" flipH="1" flipV="1">
            <a:off x="6094085" y="4646285"/>
            <a:ext cx="842030" cy="14516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43" idx="0"/>
          </p:cNvCxnSpPr>
          <p:nvPr/>
        </p:nvCxnSpPr>
        <p:spPr>
          <a:xfrm rot="5400000" flipH="1" flipV="1">
            <a:off x="5486400" y="43815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40" idx="0"/>
          </p:cNvCxnSpPr>
          <p:nvPr/>
        </p:nvCxnSpPr>
        <p:spPr>
          <a:xfrm rot="5400000" flipH="1" flipV="1">
            <a:off x="7315200" y="43815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6248400" y="28194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grpSp>
        <p:nvGrpSpPr>
          <p:cNvPr id="8" name="Group 80"/>
          <p:cNvGrpSpPr/>
          <p:nvPr/>
        </p:nvGrpSpPr>
        <p:grpSpPr>
          <a:xfrm>
            <a:off x="6248400" y="2057400"/>
            <a:ext cx="533400" cy="533400"/>
            <a:chOff x="7162800" y="4267200"/>
            <a:chExt cx="533400" cy="533400"/>
          </a:xfrm>
        </p:grpSpPr>
        <p:sp>
          <p:nvSpPr>
            <p:cNvPr id="82" name="Oval 81"/>
            <p:cNvSpPr/>
            <p:nvPr/>
          </p:nvSpPr>
          <p:spPr>
            <a:xfrm>
              <a:off x="7162800" y="4267200"/>
              <a:ext cx="533400" cy="533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algn="ctr"/>
              <a:endParaRPr lang="en-US" dirty="0"/>
            </a:p>
          </p:txBody>
        </p:sp>
        <p:grpSp>
          <p:nvGrpSpPr>
            <p:cNvPr id="9" name="Group 54"/>
            <p:cNvGrpSpPr/>
            <p:nvPr/>
          </p:nvGrpSpPr>
          <p:grpSpPr>
            <a:xfrm>
              <a:off x="7266039" y="4434348"/>
              <a:ext cx="304800" cy="230188"/>
              <a:chOff x="6400800" y="2286000"/>
              <a:chExt cx="304800" cy="230188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 rot="5400000">
                <a:off x="6439694" y="2399506"/>
                <a:ext cx="227806" cy="79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6553200" y="22860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6400800" y="2514600"/>
                <a:ext cx="152400" cy="158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7" name="Straight Arrow Connector 86"/>
          <p:cNvCxnSpPr>
            <a:stCxn id="80" idx="0"/>
            <a:endCxn id="82" idx="4"/>
          </p:cNvCxnSpPr>
          <p:nvPr/>
        </p:nvCxnSpPr>
        <p:spPr>
          <a:xfrm rot="5400000" flipH="1" flipV="1">
            <a:off x="6400800" y="27051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endCxn id="80" idx="3"/>
          </p:cNvCxnSpPr>
          <p:nvPr/>
        </p:nvCxnSpPr>
        <p:spPr>
          <a:xfrm rot="5400000" flipH="1" flipV="1">
            <a:off x="5789285" y="3274685"/>
            <a:ext cx="537230" cy="537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endCxn id="80" idx="5"/>
          </p:cNvCxnSpPr>
          <p:nvPr/>
        </p:nvCxnSpPr>
        <p:spPr>
          <a:xfrm rot="16200000" flipV="1">
            <a:off x="6703685" y="3274685"/>
            <a:ext cx="537230" cy="537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82" idx="0"/>
            <a:endCxn id="56" idx="4"/>
          </p:cNvCxnSpPr>
          <p:nvPr/>
        </p:nvCxnSpPr>
        <p:spPr>
          <a:xfrm rot="5400000" flipH="1" flipV="1">
            <a:off x="6400800" y="19431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5334000" y="5257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91400" y="5257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67400" y="327660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0" y="3276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19800" y="487680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34976" y="487680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D1F4CD-09DE-4F46-B588-31E7759DAA60}"/>
              </a:ext>
            </a:extLst>
          </p:cNvPr>
          <p:cNvSpPr txBox="1"/>
          <p:nvPr/>
        </p:nvSpPr>
        <p:spPr>
          <a:xfrm>
            <a:off x="5557803" y="289715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D516C32-BAB9-4CE5-A800-7113C2DF0727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6024597" y="3081823"/>
            <a:ext cx="223803" cy="4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78083AA-6AE1-489B-84D6-1C460DD23DA5}"/>
              </a:ext>
            </a:extLst>
          </p:cNvPr>
          <p:cNvSpPr txBox="1"/>
          <p:nvPr/>
        </p:nvSpPr>
        <p:spPr>
          <a:xfrm>
            <a:off x="4645318" y="459305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476A64B-5D4C-4CCE-9DC5-1FF630633864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5112112" y="4777725"/>
            <a:ext cx="223803" cy="4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E44388C-B778-4584-8F68-3039C486C497}"/>
              </a:ext>
            </a:extLst>
          </p:cNvPr>
          <p:cNvSpPr txBox="1"/>
          <p:nvPr/>
        </p:nvSpPr>
        <p:spPr>
          <a:xfrm>
            <a:off x="6470288" y="459305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3B0E096-1921-414D-8007-84ED4B06CCBD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6937082" y="4777725"/>
            <a:ext cx="223803" cy="4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EFDDCDE-ED15-406E-9B00-15C45E671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710942"/>
              </p:ext>
            </p:extLst>
          </p:nvPr>
        </p:nvGraphicFramePr>
        <p:xfrm>
          <a:off x="1097808" y="1791732"/>
          <a:ext cx="370922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407">
                  <a:extLst>
                    <a:ext uri="{9D8B030D-6E8A-4147-A177-3AD203B41FA5}">
                      <a16:colId xmlns:a16="http://schemas.microsoft.com/office/drawing/2014/main" val="720350662"/>
                    </a:ext>
                  </a:extLst>
                </a:gridCol>
                <a:gridCol w="1236407">
                  <a:extLst>
                    <a:ext uri="{9D8B030D-6E8A-4147-A177-3AD203B41FA5}">
                      <a16:colId xmlns:a16="http://schemas.microsoft.com/office/drawing/2014/main" val="2417561259"/>
                    </a:ext>
                  </a:extLst>
                </a:gridCol>
                <a:gridCol w="1236407">
                  <a:extLst>
                    <a:ext uri="{9D8B030D-6E8A-4147-A177-3AD203B41FA5}">
                      <a16:colId xmlns:a16="http://schemas.microsoft.com/office/drawing/2014/main" val="3967206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221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65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364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789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62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139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Use linear equation as the transfer (activation) function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81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667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590800" y="32766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029200" y="3276600"/>
            <a:ext cx="5334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7239000" y="3276600"/>
            <a:ext cx="533400" cy="533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o</a:t>
            </a:r>
          </a:p>
        </p:txBody>
      </p:sp>
      <p:cxnSp>
        <p:nvCxnSpPr>
          <p:cNvPr id="13" name="Straight Arrow Connector 12"/>
          <p:cNvCxnSpPr>
            <a:stCxn id="4" idx="5"/>
            <a:endCxn id="6" idx="2"/>
          </p:cNvCxnSpPr>
          <p:nvPr/>
        </p:nvCxnSpPr>
        <p:spPr>
          <a:xfrm rot="16200000" flipH="1">
            <a:off x="1312535" y="2265034"/>
            <a:ext cx="1106815" cy="1449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6"/>
            <a:endCxn id="6" idx="2"/>
          </p:cNvCxnSpPr>
          <p:nvPr/>
        </p:nvCxnSpPr>
        <p:spPr>
          <a:xfrm>
            <a:off x="1219200" y="2933700"/>
            <a:ext cx="13716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6"/>
            <a:endCxn id="7" idx="2"/>
          </p:cNvCxnSpPr>
          <p:nvPr/>
        </p:nvCxnSpPr>
        <p:spPr>
          <a:xfrm>
            <a:off x="3124200" y="3543300"/>
            <a:ext cx="1905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6"/>
            <a:endCxn id="12" idx="2"/>
          </p:cNvCxnSpPr>
          <p:nvPr/>
        </p:nvCxnSpPr>
        <p:spPr>
          <a:xfrm>
            <a:off x="5562600" y="3543300"/>
            <a:ext cx="1676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6" idx="0"/>
          </p:cNvCxnSpPr>
          <p:nvPr/>
        </p:nvCxnSpPr>
        <p:spPr>
          <a:xfrm rot="5400000">
            <a:off x="2628900" y="30480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85800" y="33528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3</a:t>
            </a:r>
          </a:p>
        </p:txBody>
      </p:sp>
      <p:cxnSp>
        <p:nvCxnSpPr>
          <p:cNvPr id="39" name="Straight Arrow Connector 38"/>
          <p:cNvCxnSpPr>
            <a:stCxn id="38" idx="6"/>
            <a:endCxn id="6" idx="2"/>
          </p:cNvCxnSpPr>
          <p:nvPr/>
        </p:nvCxnSpPr>
        <p:spPr>
          <a:xfrm flipV="1">
            <a:off x="1219200" y="3543300"/>
            <a:ext cx="13716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85800" y="44958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 err="1"/>
              <a:t>x</a:t>
            </a:r>
            <a:r>
              <a:rPr lang="en-US" baseline="-25000" dirty="0" err="1"/>
              <a:t>n</a:t>
            </a:r>
            <a:endParaRPr lang="en-US" baseline="-25000" dirty="0"/>
          </a:p>
        </p:txBody>
      </p:sp>
      <p:cxnSp>
        <p:nvCxnSpPr>
          <p:cNvPr id="42" name="Straight Arrow Connector 41"/>
          <p:cNvCxnSpPr>
            <a:stCxn id="41" idx="7"/>
            <a:endCxn id="6" idx="2"/>
          </p:cNvCxnSpPr>
          <p:nvPr/>
        </p:nvCxnSpPr>
        <p:spPr>
          <a:xfrm rot="5400000" flipH="1" flipV="1">
            <a:off x="1350635" y="3333751"/>
            <a:ext cx="1030615" cy="1449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38200" y="39740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7918" y="2450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19400" y="28194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76400" y="25908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00478" y="35052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00478" y="29718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76400" y="40386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</a:t>
            </a:r>
            <a:r>
              <a:rPr lang="en-US" baseline="-25000" dirty="0" err="1"/>
              <a:t>n</a:t>
            </a:r>
            <a:endParaRPr lang="en-US" baseline="-25000" dirty="0"/>
          </a:p>
        </p:txBody>
      </p:sp>
      <p:grpSp>
        <p:nvGrpSpPr>
          <p:cNvPr id="18" name="Group 56"/>
          <p:cNvGrpSpPr/>
          <p:nvPr/>
        </p:nvGrpSpPr>
        <p:grpSpPr>
          <a:xfrm>
            <a:off x="2743200" y="2133600"/>
            <a:ext cx="1146927" cy="1066800"/>
            <a:chOff x="3962400" y="2133600"/>
            <a:chExt cx="1146927" cy="1066800"/>
          </a:xfrm>
        </p:grpSpPr>
        <p:sp>
          <p:nvSpPr>
            <p:cNvPr id="53" name="Oval 52"/>
            <p:cNvSpPr/>
            <p:nvPr/>
          </p:nvSpPr>
          <p:spPr>
            <a:xfrm>
              <a:off x="3962400" y="2362200"/>
              <a:ext cx="609600" cy="838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Arrow Connector 54"/>
            <p:cNvCxnSpPr>
              <a:stCxn id="53" idx="7"/>
            </p:cNvCxnSpPr>
            <p:nvPr/>
          </p:nvCxnSpPr>
          <p:spPr>
            <a:xfrm rot="5400000" flipH="1" flipV="1">
              <a:off x="4504088" y="2340839"/>
              <a:ext cx="122751" cy="16547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4572000" y="2133600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bias</a:t>
              </a:r>
            </a:p>
          </p:txBody>
        </p:sp>
      </p:grpSp>
      <p:graphicFrame>
        <p:nvGraphicFramePr>
          <p:cNvPr id="58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689437"/>
              </p:ext>
            </p:extLst>
          </p:nvPr>
        </p:nvGraphicFramePr>
        <p:xfrm>
          <a:off x="6400800" y="2590800"/>
          <a:ext cx="240506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1" name="Equation" r:id="rId3" imgW="1803240" imgH="431640" progId="Equation.DSMT4">
                  <p:embed/>
                </p:oleObj>
              </mc:Choice>
              <mc:Fallback>
                <p:oleObj name="Equation" r:id="rId3" imgW="180324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590800"/>
                        <a:ext cx="2405063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4664075" y="3962400"/>
          <a:ext cx="1203325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2" name="Equation" r:id="rId5" imgW="901440" imgH="203040" progId="Equation.DSMT4">
                  <p:embed/>
                </p:oleObj>
              </mc:Choice>
              <mc:Fallback>
                <p:oleObj name="Equation" r:id="rId5" imgW="901440" imgH="2030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3962400"/>
                        <a:ext cx="1203325" cy="27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6" name="Straight Connector 35"/>
          <p:cNvCxnSpPr>
            <a:stCxn id="7" idx="3"/>
            <a:endCxn id="7" idx="7"/>
          </p:cNvCxnSpPr>
          <p:nvPr/>
        </p:nvCxnSpPr>
        <p:spPr>
          <a:xfrm rot="5400000" flipH="1" flipV="1">
            <a:off x="5107315" y="3354715"/>
            <a:ext cx="377170" cy="37717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4975225" y="4325938"/>
            <a:ext cx="2532534" cy="1938337"/>
            <a:chOff x="4975225" y="4325938"/>
            <a:chExt cx="2532534" cy="1938337"/>
          </a:xfrm>
        </p:grpSpPr>
        <p:sp>
          <p:nvSpPr>
            <p:cNvPr id="33" name="Line 30"/>
            <p:cNvSpPr>
              <a:spLocks noChangeShapeType="1"/>
            </p:cNvSpPr>
            <p:nvPr/>
          </p:nvSpPr>
          <p:spPr bwMode="auto">
            <a:xfrm flipV="1">
              <a:off x="5376863" y="4389438"/>
              <a:ext cx="0" cy="15605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35" name="Text Box 32"/>
            <p:cNvSpPr txBox="1">
              <a:spLocks noChangeArrowheads="1"/>
            </p:cNvSpPr>
            <p:nvPr/>
          </p:nvSpPr>
          <p:spPr bwMode="auto">
            <a:xfrm>
              <a:off x="6971184" y="5867400"/>
              <a:ext cx="536575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i="1" dirty="0" err="1"/>
                <a:t>net</a:t>
              </a:r>
              <a:r>
                <a:rPr lang="en-US" i="1" baseline="-25000" dirty="0" err="1"/>
                <a:t>j</a:t>
              </a:r>
              <a:endParaRPr lang="en-US" i="1" baseline="-25000" dirty="0"/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4975225" y="4325938"/>
              <a:ext cx="354013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i="1"/>
                <a:t>o</a:t>
              </a:r>
              <a:r>
                <a:rPr lang="en-US" i="1" baseline="-25000"/>
                <a:t>j</a:t>
              </a:r>
            </a:p>
          </p:txBody>
        </p:sp>
        <p:sp>
          <p:nvSpPr>
            <p:cNvPr id="44" name="Text Box 36"/>
            <p:cNvSpPr txBox="1">
              <a:spLocks noChangeArrowheads="1"/>
            </p:cNvSpPr>
            <p:nvPr/>
          </p:nvSpPr>
          <p:spPr bwMode="auto">
            <a:xfrm>
              <a:off x="4992688" y="5757863"/>
              <a:ext cx="307975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b="1"/>
                <a:t>0</a:t>
              </a:r>
            </a:p>
          </p:txBody>
        </p:sp>
        <p:sp>
          <p:nvSpPr>
            <p:cNvPr id="60" name="Line 41"/>
            <p:cNvSpPr>
              <a:spLocks noChangeShapeType="1"/>
            </p:cNvSpPr>
            <p:nvPr/>
          </p:nvSpPr>
          <p:spPr bwMode="auto">
            <a:xfrm flipV="1">
              <a:off x="5376862" y="4722812"/>
              <a:ext cx="1252538" cy="12271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61" name="Line 30"/>
            <p:cNvSpPr>
              <a:spLocks noChangeShapeType="1"/>
            </p:cNvSpPr>
            <p:nvPr/>
          </p:nvSpPr>
          <p:spPr bwMode="auto">
            <a:xfrm rot="5400000" flipV="1">
              <a:off x="6180052" y="5169694"/>
              <a:ext cx="0" cy="15605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find a </a:t>
            </a:r>
            <a:r>
              <a:rPr lang="en-US" dirty="0">
                <a:solidFill>
                  <a:srgbClr val="FF0000"/>
                </a:solidFill>
              </a:rPr>
              <a:t>local minimum </a:t>
            </a:r>
            <a:r>
              <a:rPr lang="en-US" dirty="0"/>
              <a:t>of a function using gradient descent, one takes steps proportional to the </a:t>
            </a:r>
            <a:r>
              <a:rPr lang="en-US" dirty="0">
                <a:solidFill>
                  <a:srgbClr val="00B0F0"/>
                </a:solidFill>
              </a:rPr>
              <a:t>negative</a:t>
            </a:r>
            <a:r>
              <a:rPr lang="en-US" dirty="0"/>
              <a:t> of the gradient of the function at the current point.</a:t>
            </a:r>
          </a:p>
          <a:p>
            <a:r>
              <a:rPr lang="en-US" dirty="0"/>
              <a:t>Other names: </a:t>
            </a:r>
            <a:r>
              <a:rPr lang="en-US" dirty="0">
                <a:solidFill>
                  <a:srgbClr val="00B050"/>
                </a:solidFill>
              </a:rPr>
              <a:t>Steepest descent</a:t>
            </a:r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Hill climbing </a:t>
            </a:r>
            <a:r>
              <a:rPr lang="en-US" dirty="0"/>
              <a:t>on continuous space</a:t>
            </a:r>
          </a:p>
          <a:p>
            <a:r>
              <a:rPr lang="en-US" dirty="0">
                <a:solidFill>
                  <a:srgbClr val="00B050"/>
                </a:solidFill>
              </a:rPr>
              <a:t>Least Mean Square (LMS) </a:t>
            </a:r>
            <a:r>
              <a:rPr lang="en-US" dirty="0"/>
              <a:t>when cannot compute exactly the gradient vector</a:t>
            </a:r>
          </a:p>
          <a:p>
            <a:pPr lvl="1"/>
            <a:r>
              <a:rPr lang="en-US" dirty="0"/>
              <a:t>Other names: Delta rule, </a:t>
            </a:r>
            <a:r>
              <a:rPr lang="en-US" dirty="0" err="1"/>
              <a:t>Adaline</a:t>
            </a:r>
            <a:r>
              <a:rPr lang="en-US" dirty="0"/>
              <a:t> rule, </a:t>
            </a:r>
            <a:r>
              <a:rPr lang="en-US" dirty="0" err="1"/>
              <a:t>Widrow</a:t>
            </a:r>
            <a:r>
              <a:rPr lang="en-US" dirty="0"/>
              <a:t>-Hoff rule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7030A0"/>
                </a:solidFill>
              </a:rPr>
              <a:t>Mean Square Error (MSE) </a:t>
            </a:r>
            <a:r>
              <a:rPr lang="en-US" dirty="0"/>
              <a:t>is used to estimate the gradient vector</a:t>
            </a:r>
          </a:p>
        </p:txBody>
      </p:sp>
      <p:graphicFrame>
        <p:nvGraphicFramePr>
          <p:cNvPr id="35841" name="Object 1"/>
          <p:cNvGraphicFramePr>
            <a:graphicFrameLocks noChangeAspect="1"/>
          </p:cNvGraphicFramePr>
          <p:nvPr/>
        </p:nvGraphicFramePr>
        <p:xfrm>
          <a:off x="3429000" y="5257800"/>
          <a:ext cx="2275166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1" name="Equation" r:id="rId3" imgW="876240" imgH="203040" progId="Equation.DSMT4">
                  <p:embed/>
                </p:oleObj>
              </mc:Choice>
              <mc:Fallback>
                <p:oleObj name="Equation" r:id="rId3" imgW="876240" imgH="20304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257800"/>
                        <a:ext cx="2275166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Square Error (MSE)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Error = Actual value – Estimated value </a:t>
            </a:r>
          </a:p>
          <a:p>
            <a:r>
              <a:rPr lang="en-US" dirty="0"/>
              <a:t>In ANN</a:t>
            </a:r>
          </a:p>
          <a:p>
            <a:pPr lvl="1"/>
            <a:r>
              <a:rPr lang="en-US" dirty="0"/>
              <a:t>Estimated value = Output</a:t>
            </a:r>
          </a:p>
          <a:p>
            <a:pPr lvl="1"/>
            <a:r>
              <a:rPr lang="en-US" dirty="0"/>
              <a:t>Actual value = Target</a:t>
            </a:r>
          </a:p>
          <a:p>
            <a:pPr lvl="1"/>
            <a:r>
              <a:rPr lang="en-US" dirty="0"/>
              <a:t>Error = Target – Output</a:t>
            </a:r>
          </a:p>
          <a:p>
            <a:pPr lvl="1"/>
            <a:r>
              <a:rPr lang="en-US" dirty="0"/>
              <a:t>Error of </a:t>
            </a:r>
            <a:r>
              <a:rPr lang="en-US" dirty="0">
                <a:solidFill>
                  <a:srgbClr val="FF0000"/>
                </a:solidFill>
              </a:rPr>
              <a:t>???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082800" y="4267200"/>
          <a:ext cx="502443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8" name="Equation" r:id="rId3" imgW="2450880" imgH="431640" progId="Equation.DSMT4">
                  <p:embed/>
                </p:oleObj>
              </mc:Choice>
              <mc:Fallback>
                <p:oleObj name="Equation" r:id="rId3" imgW="245088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4267200"/>
                        <a:ext cx="5024438" cy="88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 the gradient from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Partial derivatives of e(w) by w</a:t>
            </a:r>
          </a:p>
        </p:txBody>
      </p:sp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2311400" y="1828800"/>
          <a:ext cx="416560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2" name="Equation" r:id="rId3" imgW="2031840" imgH="482400" progId="Equation.DSMT4">
                  <p:embed/>
                </p:oleObj>
              </mc:Choice>
              <mc:Fallback>
                <p:oleObj name="Equation" r:id="rId3" imgW="2031840" imgH="4824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1828800"/>
                        <a:ext cx="4165600" cy="989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5105400" y="3124200"/>
          <a:ext cx="3052763" cy="299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3" name="Equation" r:id="rId5" imgW="1892160" imgH="1854000" progId="Equation.DSMT4">
                  <p:embed/>
                </p:oleObj>
              </mc:Choice>
              <mc:Fallback>
                <p:oleObj name="Equation" r:id="rId5" imgW="1892160" imgH="18540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124200"/>
                        <a:ext cx="3052763" cy="299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838200" y="4038600"/>
          <a:ext cx="3497262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4" name="Equation" r:id="rId7" imgW="1828800" imgH="393480" progId="Equation.DSMT4">
                  <p:embed/>
                </p:oleObj>
              </mc:Choice>
              <mc:Fallback>
                <p:oleObj name="Equation" r:id="rId7" imgW="1828800" imgH="393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038600"/>
                        <a:ext cx="3497262" cy="754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Gradient-Descent</a:t>
            </a:r>
            <a:r>
              <a:rPr lang="en-US" dirty="0"/>
              <a:t>(</a:t>
            </a:r>
            <a:r>
              <a:rPr lang="en-US" dirty="0" err="1"/>
              <a:t>training_examples</a:t>
            </a:r>
            <a:r>
              <a:rPr lang="en-US" dirty="0"/>
              <a:t>, η)</a:t>
            </a:r>
          </a:p>
          <a:p>
            <a:pPr lvl="2"/>
            <a:r>
              <a:rPr lang="en-US" dirty="0"/>
              <a:t>Each training example is a pair of the form &lt;(x</a:t>
            </a:r>
            <a:r>
              <a:rPr lang="en-US" baseline="-25000" dirty="0"/>
              <a:t>1</a:t>
            </a:r>
            <a:r>
              <a:rPr lang="en-US" dirty="0"/>
              <a:t>,…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),t&gt; where (x</a:t>
            </a:r>
            <a:r>
              <a:rPr lang="en-US" baseline="-25000" dirty="0"/>
              <a:t>1</a:t>
            </a:r>
            <a:r>
              <a:rPr lang="en-US" dirty="0"/>
              <a:t>,…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 is the vector of input values, and t is the target output value, η is the learning rate (e.g. 0.1)</a:t>
            </a:r>
          </a:p>
          <a:p>
            <a:r>
              <a:rPr lang="en-US" dirty="0"/>
              <a:t>Initialize each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to some small random value</a:t>
            </a:r>
          </a:p>
          <a:p>
            <a:r>
              <a:rPr lang="en-US" dirty="0"/>
              <a:t>Until the termination condition is met, Do</a:t>
            </a:r>
          </a:p>
          <a:p>
            <a:pPr lvl="1"/>
            <a:r>
              <a:rPr lang="en-US" dirty="0"/>
              <a:t>Initialize each </a:t>
            </a:r>
            <a:r>
              <a:rPr lang="en-US" dirty="0" err="1"/>
              <a:t>Δw</a:t>
            </a:r>
            <a:r>
              <a:rPr lang="en-US" baseline="-25000" dirty="0" err="1"/>
              <a:t>i</a:t>
            </a:r>
            <a:r>
              <a:rPr lang="en-US" dirty="0"/>
              <a:t> to zero</a:t>
            </a:r>
          </a:p>
          <a:p>
            <a:pPr lvl="1"/>
            <a:r>
              <a:rPr lang="en-US" dirty="0"/>
              <a:t>For each &lt;(x</a:t>
            </a:r>
            <a:r>
              <a:rPr lang="en-US" baseline="-25000" dirty="0"/>
              <a:t>1</a:t>
            </a:r>
            <a:r>
              <a:rPr lang="en-US" dirty="0"/>
              <a:t>,…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),t&gt; in </a:t>
            </a:r>
            <a:r>
              <a:rPr lang="en-US" dirty="0" err="1"/>
              <a:t>training_examples</a:t>
            </a:r>
            <a:r>
              <a:rPr lang="en-US" dirty="0"/>
              <a:t> Do</a:t>
            </a:r>
          </a:p>
          <a:p>
            <a:pPr lvl="2"/>
            <a:r>
              <a:rPr lang="en-US" dirty="0"/>
              <a:t>Input the instance (x</a:t>
            </a:r>
            <a:r>
              <a:rPr lang="en-US" baseline="-25000" dirty="0"/>
              <a:t>1</a:t>
            </a:r>
            <a:r>
              <a:rPr lang="en-US" dirty="0"/>
              <a:t>,…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 to the linear unit and </a:t>
            </a:r>
            <a:br>
              <a:rPr lang="en-US" dirty="0"/>
            </a:br>
            <a:r>
              <a:rPr lang="en-US" dirty="0"/>
              <a:t>compute the output o</a:t>
            </a:r>
          </a:p>
          <a:p>
            <a:pPr lvl="2"/>
            <a:r>
              <a:rPr lang="en-US" dirty="0"/>
              <a:t>For each linear unit weight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Do </a:t>
            </a:r>
            <a:br>
              <a:rPr lang="en-US" dirty="0"/>
            </a:br>
            <a:r>
              <a:rPr lang="en-US" dirty="0" err="1"/>
              <a:t>Δw</a:t>
            </a:r>
            <a:r>
              <a:rPr lang="en-US" baseline="-25000" dirty="0" err="1"/>
              <a:t>i</a:t>
            </a:r>
            <a:r>
              <a:rPr lang="en-US" dirty="0"/>
              <a:t>= </a:t>
            </a:r>
            <a:r>
              <a:rPr lang="en-US" dirty="0" err="1"/>
              <a:t>Δw</a:t>
            </a:r>
            <a:r>
              <a:rPr lang="en-US" baseline="-25000" dirty="0" err="1"/>
              <a:t>i</a:t>
            </a:r>
            <a:r>
              <a:rPr lang="en-US" dirty="0"/>
              <a:t> + η (t-o) x</a:t>
            </a:r>
            <a:r>
              <a:rPr lang="en-US" baseline="-25000" dirty="0"/>
              <a:t>i</a:t>
            </a:r>
            <a:endParaRPr lang="en-US" dirty="0"/>
          </a:p>
          <a:p>
            <a:pPr lvl="1"/>
            <a:r>
              <a:rPr lang="en-US" dirty="0"/>
              <a:t>For each linear unit weight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Do </a:t>
            </a:r>
            <a:br>
              <a:rPr lang="en-US" dirty="0"/>
            </a:b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=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 err="1"/>
              <a:t>+Δw</a:t>
            </a:r>
            <a:r>
              <a:rPr lang="en-US" baseline="-25000" dirty="0" err="1"/>
              <a:t>i</a:t>
            </a:r>
            <a:endParaRPr lang="en-US" baseline="-25000" dirty="0"/>
          </a:p>
          <a:p>
            <a:r>
              <a:rPr lang="en-US" dirty="0"/>
              <a:t>Return weight</a:t>
            </a:r>
            <a:endParaRPr lang="en-US" baseline="-25000" dirty="0"/>
          </a:p>
        </p:txBody>
      </p:sp>
      <p:grpSp>
        <p:nvGrpSpPr>
          <p:cNvPr id="8" name="Group 7"/>
          <p:cNvGrpSpPr/>
          <p:nvPr/>
        </p:nvGrpSpPr>
        <p:grpSpPr>
          <a:xfrm>
            <a:off x="2438400" y="4648200"/>
            <a:ext cx="5049837" cy="717550"/>
            <a:chOff x="2438400" y="4648200"/>
            <a:chExt cx="5049837" cy="717550"/>
          </a:xfrm>
        </p:grpSpPr>
        <p:sp>
          <p:nvSpPr>
            <p:cNvPr id="4" name="Oval 3"/>
            <p:cNvSpPr/>
            <p:nvPr/>
          </p:nvSpPr>
          <p:spPr>
            <a:xfrm>
              <a:off x="2438400" y="4800600"/>
              <a:ext cx="1676400" cy="457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???</a:t>
              </a:r>
            </a:p>
          </p:txBody>
        </p:sp>
        <p:graphicFrame>
          <p:nvGraphicFramePr>
            <p:cNvPr id="41986" name="Object 2"/>
            <p:cNvGraphicFramePr>
              <a:graphicFrameLocks noChangeAspect="1"/>
            </p:cNvGraphicFramePr>
            <p:nvPr/>
          </p:nvGraphicFramePr>
          <p:xfrm>
            <a:off x="5029200" y="4648200"/>
            <a:ext cx="2459037" cy="717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26" name="Equation" r:id="rId3" imgW="1523880" imgH="444240" progId="Equation.DSMT4">
                    <p:embed/>
                  </p:oleObj>
                </mc:Choice>
                <mc:Fallback>
                  <p:oleObj name="Equation" r:id="rId3" imgW="1523880" imgH="444240" progId="Equation.DSMT4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9200" y="4648200"/>
                          <a:ext cx="2459037" cy="71755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" name="Straight Arrow Connector 6"/>
            <p:cNvCxnSpPr>
              <a:stCxn id="4" idx="6"/>
            </p:cNvCxnSpPr>
            <p:nvPr/>
          </p:nvCxnSpPr>
          <p:spPr>
            <a:xfrm>
              <a:off x="4114800" y="5029200"/>
              <a:ext cx="914400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Incremental Stochastic Gradient</a:t>
            </a:r>
            <a:br>
              <a:rPr lang="en-US" dirty="0"/>
            </a:br>
            <a:r>
              <a:rPr lang="en-US" dirty="0"/>
              <a:t>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Batch mode : gradient descent</a:t>
            </a:r>
          </a:p>
          <a:p>
            <a:pPr lvl="1"/>
            <a:r>
              <a:rPr lang="en-US" dirty="0"/>
              <a:t>w = w - η ∇</a:t>
            </a:r>
            <a:r>
              <a:rPr lang="en-US" dirty="0" err="1"/>
              <a:t>e</a:t>
            </a:r>
            <a:r>
              <a:rPr lang="en-US" baseline="-25000" dirty="0" err="1"/>
              <a:t>D</a:t>
            </a:r>
            <a:r>
              <a:rPr lang="en-US" dirty="0"/>
              <a:t>(w) over the </a:t>
            </a:r>
            <a:r>
              <a:rPr lang="en-US" dirty="0">
                <a:solidFill>
                  <a:srgbClr val="00B0F0"/>
                </a:solidFill>
              </a:rPr>
              <a:t>entire data </a:t>
            </a:r>
            <a:r>
              <a:rPr lang="en-US" dirty="0"/>
              <a:t>D</a:t>
            </a:r>
          </a:p>
          <a:p>
            <a:pPr lvl="1"/>
            <a:r>
              <a:rPr lang="en-US" dirty="0" err="1"/>
              <a:t>e</a:t>
            </a:r>
            <a:r>
              <a:rPr lang="en-US" baseline="-25000" dirty="0" err="1"/>
              <a:t>D</a:t>
            </a:r>
            <a:r>
              <a:rPr lang="en-US" baseline="-25000" dirty="0"/>
              <a:t> </a:t>
            </a:r>
            <a:r>
              <a:rPr lang="en-US" dirty="0"/>
              <a:t>(w)=1/2 </a:t>
            </a:r>
            <a:r>
              <a:rPr lang="el-GR" dirty="0">
                <a:solidFill>
                  <a:srgbClr val="FF0000"/>
                </a:solidFill>
              </a:rPr>
              <a:t>Σ</a:t>
            </a:r>
            <a:r>
              <a:rPr lang="en-US" baseline="-25000" dirty="0">
                <a:solidFill>
                  <a:srgbClr val="FF0000"/>
                </a:solidFill>
              </a:rPr>
              <a:t>d </a:t>
            </a:r>
            <a:r>
              <a:rPr lang="en-US" dirty="0"/>
              <a:t>(t</a:t>
            </a:r>
            <a:r>
              <a:rPr lang="en-US" baseline="-25000" dirty="0"/>
              <a:t>d</a:t>
            </a:r>
            <a:r>
              <a:rPr lang="en-US" dirty="0"/>
              <a:t>-</a:t>
            </a:r>
            <a:r>
              <a:rPr lang="en-US" dirty="0" err="1"/>
              <a:t>o</a:t>
            </a:r>
            <a:r>
              <a:rPr lang="en-US" baseline="-25000" dirty="0" err="1"/>
              <a:t>d</a:t>
            </a:r>
            <a:r>
              <a:rPr lang="en-US" dirty="0"/>
              <a:t>)</a:t>
            </a:r>
            <a:r>
              <a:rPr lang="en-US" baseline="30000" dirty="0"/>
              <a:t>2</a:t>
            </a:r>
          </a:p>
          <a:p>
            <a:pPr lvl="1"/>
            <a:endParaRPr lang="en-US" dirty="0"/>
          </a:p>
          <a:p>
            <a:r>
              <a:rPr lang="en-US" dirty="0"/>
              <a:t>Incremental mode: gradient descent</a:t>
            </a:r>
          </a:p>
          <a:p>
            <a:pPr lvl="1"/>
            <a:r>
              <a:rPr lang="en-US" dirty="0"/>
              <a:t>w = w - η ∇</a:t>
            </a:r>
            <a:r>
              <a:rPr lang="en-US" dirty="0" err="1"/>
              <a:t>e</a:t>
            </a:r>
            <a:r>
              <a:rPr lang="en-US" baseline="-25000" dirty="0" err="1"/>
              <a:t>d</a:t>
            </a:r>
            <a:r>
              <a:rPr lang="en-US" dirty="0"/>
              <a:t>(w) over </a:t>
            </a:r>
            <a:r>
              <a:rPr lang="en-US" dirty="0">
                <a:solidFill>
                  <a:srgbClr val="00B0F0"/>
                </a:solidFill>
              </a:rPr>
              <a:t>individual training examples </a:t>
            </a:r>
            <a:r>
              <a:rPr lang="en-US" dirty="0"/>
              <a:t>d</a:t>
            </a:r>
          </a:p>
          <a:p>
            <a:pPr lvl="1"/>
            <a:r>
              <a:rPr lang="en-US" dirty="0" err="1"/>
              <a:t>e</a:t>
            </a:r>
            <a:r>
              <a:rPr lang="en-US" baseline="-25000" dirty="0" err="1"/>
              <a:t>d</a:t>
            </a:r>
            <a:r>
              <a:rPr lang="en-US" baseline="-25000" dirty="0"/>
              <a:t> </a:t>
            </a:r>
            <a:r>
              <a:rPr lang="en-US" dirty="0"/>
              <a:t>(w)=1/2 (t</a:t>
            </a:r>
            <a:r>
              <a:rPr lang="en-US" baseline="-25000" dirty="0"/>
              <a:t>d</a:t>
            </a:r>
            <a:r>
              <a:rPr lang="en-US" dirty="0"/>
              <a:t>-</a:t>
            </a:r>
            <a:r>
              <a:rPr lang="en-US" dirty="0" err="1"/>
              <a:t>o</a:t>
            </a:r>
            <a:r>
              <a:rPr lang="en-US" baseline="-25000" dirty="0" err="1"/>
              <a:t>d</a:t>
            </a:r>
            <a:r>
              <a:rPr lang="en-US" dirty="0"/>
              <a:t>)</a:t>
            </a:r>
            <a:r>
              <a:rPr lang="en-US" baseline="30000" dirty="0"/>
              <a:t> 2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Incremental Gradient Descent can </a:t>
            </a:r>
            <a:r>
              <a:rPr lang="en-US" dirty="0">
                <a:solidFill>
                  <a:srgbClr val="00B050"/>
                </a:solidFill>
              </a:rPr>
              <a:t>approximate</a:t>
            </a:r>
            <a:r>
              <a:rPr lang="en-US" dirty="0"/>
              <a:t> Batch Gradient Descent arbitrarily closely if η is small enough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Gradient Descent Algorithm (Incremental)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Gradient-Descent</a:t>
            </a:r>
            <a:r>
              <a:rPr lang="en-US" dirty="0"/>
              <a:t>(</a:t>
            </a:r>
            <a:r>
              <a:rPr lang="en-US" dirty="0" err="1"/>
              <a:t>training_examples</a:t>
            </a:r>
            <a:r>
              <a:rPr lang="en-US" dirty="0"/>
              <a:t>, η)</a:t>
            </a:r>
          </a:p>
          <a:p>
            <a:pPr lvl="2"/>
            <a:r>
              <a:rPr lang="en-US" dirty="0"/>
              <a:t>Each training example is a pair of the form &lt;(x</a:t>
            </a:r>
            <a:r>
              <a:rPr lang="en-US" baseline="-25000" dirty="0"/>
              <a:t>1</a:t>
            </a:r>
            <a:r>
              <a:rPr lang="en-US" dirty="0"/>
              <a:t>,…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),t&gt; where (x</a:t>
            </a:r>
            <a:r>
              <a:rPr lang="en-US" baseline="-25000" dirty="0"/>
              <a:t>1</a:t>
            </a:r>
            <a:r>
              <a:rPr lang="en-US" dirty="0"/>
              <a:t>,…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 is the vector of input values, and t is the target output value, η is the learning rate (e.g. 0.1)</a:t>
            </a:r>
          </a:p>
          <a:p>
            <a:r>
              <a:rPr lang="en-US" dirty="0"/>
              <a:t>Initialize each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to some small random value</a:t>
            </a:r>
          </a:p>
          <a:p>
            <a:r>
              <a:rPr lang="en-US" dirty="0"/>
              <a:t>Until the termination condition is met, Do</a:t>
            </a:r>
          </a:p>
          <a:p>
            <a:pPr lvl="1"/>
            <a:r>
              <a:rPr lang="en-US" dirty="0"/>
              <a:t>Initialize each </a:t>
            </a:r>
            <a:r>
              <a:rPr lang="en-US" dirty="0" err="1"/>
              <a:t>Δw</a:t>
            </a:r>
            <a:r>
              <a:rPr lang="en-US" baseline="-25000" dirty="0" err="1"/>
              <a:t>i</a:t>
            </a:r>
            <a:r>
              <a:rPr lang="en-US" dirty="0"/>
              <a:t> to zero</a:t>
            </a:r>
          </a:p>
          <a:p>
            <a:pPr lvl="1"/>
            <a:r>
              <a:rPr lang="en-US" dirty="0"/>
              <a:t>For each &lt;(x</a:t>
            </a:r>
            <a:r>
              <a:rPr lang="en-US" baseline="-25000" dirty="0"/>
              <a:t>1</a:t>
            </a:r>
            <a:r>
              <a:rPr lang="en-US" dirty="0"/>
              <a:t>,…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),t&gt; in </a:t>
            </a:r>
            <a:r>
              <a:rPr lang="en-US" dirty="0" err="1"/>
              <a:t>training_examples</a:t>
            </a:r>
            <a:r>
              <a:rPr lang="en-US" dirty="0"/>
              <a:t> Do</a:t>
            </a:r>
          </a:p>
          <a:p>
            <a:pPr lvl="2"/>
            <a:r>
              <a:rPr lang="en-US" dirty="0"/>
              <a:t>Input the instance (x</a:t>
            </a:r>
            <a:r>
              <a:rPr lang="en-US" baseline="-25000" dirty="0"/>
              <a:t>1</a:t>
            </a:r>
            <a:r>
              <a:rPr lang="en-US" dirty="0"/>
              <a:t>,…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 to the linear unit and </a:t>
            </a:r>
            <a:br>
              <a:rPr lang="en-US" dirty="0"/>
            </a:br>
            <a:r>
              <a:rPr lang="en-US" dirty="0"/>
              <a:t>compute the output o</a:t>
            </a:r>
          </a:p>
          <a:p>
            <a:pPr lvl="2"/>
            <a:r>
              <a:rPr lang="en-US" dirty="0"/>
              <a:t>For each linear unit weight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Do </a:t>
            </a:r>
            <a:br>
              <a:rPr lang="en-US" dirty="0"/>
            </a:b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=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+ η (t-o) x</a:t>
            </a:r>
            <a:r>
              <a:rPr lang="en-US" baseline="-25000" dirty="0"/>
              <a:t>i</a:t>
            </a:r>
            <a:endParaRPr lang="en-US" dirty="0"/>
          </a:p>
          <a:p>
            <a:r>
              <a:rPr lang="en-US" dirty="0"/>
              <a:t>Return weight</a:t>
            </a:r>
            <a:endParaRPr lang="en-US" baseline="-25000" dirty="0"/>
          </a:p>
        </p:txBody>
      </p:sp>
      <p:sp>
        <p:nvSpPr>
          <p:cNvPr id="5" name="TextBox 4"/>
          <p:cNvSpPr txBox="1"/>
          <p:nvPr/>
        </p:nvSpPr>
        <p:spPr>
          <a:xfrm>
            <a:off x="3810000" y="5486400"/>
            <a:ext cx="4880439" cy="36933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Frequently update (per sample) </a:t>
            </a:r>
            <a:r>
              <a:rPr lang="en-US" dirty="0">
                <a:sym typeface="Wingdings" pitchFamily="2" charset="2"/>
              </a:rPr>
              <a:t> avoid local trap</a:t>
            </a:r>
            <a:endParaRPr lang="th-TH" dirty="0"/>
          </a:p>
        </p:txBody>
      </p:sp>
      <p:cxnSp>
        <p:nvCxnSpPr>
          <p:cNvPr id="13" name="Straight Arrow Connector 12"/>
          <p:cNvCxnSpPr>
            <a:stCxn id="5" idx="1"/>
          </p:cNvCxnSpPr>
          <p:nvPr/>
        </p:nvCxnSpPr>
        <p:spPr>
          <a:xfrm flipH="1">
            <a:off x="3200400" y="5671066"/>
            <a:ext cx="6096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861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 vs. Gradient </a:t>
            </a:r>
            <a:r>
              <a:rPr lang="fr-FR" dirty="0" err="1"/>
              <a:t>Descent</a:t>
            </a:r>
            <a:r>
              <a:rPr lang="fr-FR" dirty="0"/>
              <a:t> </a:t>
            </a:r>
            <a:r>
              <a:rPr lang="fr-FR" dirty="0" err="1"/>
              <a:t>Rule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Perceptron</a:t>
            </a:r>
            <a:r>
              <a:rPr lang="en-US" dirty="0"/>
              <a:t> learning rule guaranteed to succeed if</a:t>
            </a:r>
          </a:p>
          <a:p>
            <a:pPr lvl="1"/>
            <a:r>
              <a:rPr lang="en-US" dirty="0"/>
              <a:t>Training examples are </a:t>
            </a:r>
            <a:r>
              <a:rPr lang="en-US" dirty="0">
                <a:solidFill>
                  <a:srgbClr val="FF0000"/>
                </a:solidFill>
              </a:rPr>
              <a:t>linearly separable</a:t>
            </a:r>
          </a:p>
          <a:p>
            <a:pPr lvl="1"/>
            <a:r>
              <a:rPr lang="en-US" dirty="0"/>
              <a:t>Sufficiently small learning rate η</a:t>
            </a:r>
          </a:p>
          <a:p>
            <a:pPr lvl="1"/>
            <a:endParaRPr lang="en-US" dirty="0"/>
          </a:p>
          <a:p>
            <a:r>
              <a:rPr lang="en-US" dirty="0"/>
              <a:t>Linear unit training rules uses gradient descent</a:t>
            </a:r>
          </a:p>
          <a:p>
            <a:pPr lvl="1"/>
            <a:r>
              <a:rPr lang="en-US" dirty="0"/>
              <a:t>Guaranteed to converge to hypothesis with minimum squared error</a:t>
            </a:r>
          </a:p>
          <a:p>
            <a:pPr lvl="1"/>
            <a:r>
              <a:rPr lang="en-US" dirty="0"/>
              <a:t>Given sufficiently small learning rate η</a:t>
            </a:r>
          </a:p>
          <a:p>
            <a:pPr lvl="1"/>
            <a:r>
              <a:rPr lang="en-US" dirty="0"/>
              <a:t>Even when training data contains noise</a:t>
            </a:r>
          </a:p>
          <a:p>
            <a:pPr lvl="1"/>
            <a:r>
              <a:rPr lang="en-US" dirty="0"/>
              <a:t>Even when training data </a:t>
            </a:r>
            <a:r>
              <a:rPr lang="en-US" dirty="0">
                <a:solidFill>
                  <a:srgbClr val="00B050"/>
                </a:solidFill>
              </a:rPr>
              <a:t>not separable </a:t>
            </a:r>
            <a:r>
              <a:rPr lang="en-US" dirty="0"/>
              <a:t>by 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of Training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Presenting all training examples once to the ANN is called an epoch.</a:t>
            </a:r>
          </a:p>
          <a:p>
            <a:r>
              <a:rPr lang="en-US" dirty="0"/>
              <a:t>In incremental stochastic gradient descent training examples can be presented in</a:t>
            </a:r>
          </a:p>
          <a:p>
            <a:pPr lvl="1"/>
            <a:r>
              <a:rPr lang="en-US" dirty="0"/>
              <a:t>Fixed order (1,2,3…,M)</a:t>
            </a:r>
          </a:p>
          <a:p>
            <a:pPr lvl="1"/>
            <a:r>
              <a:rPr lang="en-US" dirty="0"/>
              <a:t>Randomly permutated order (5,2,7,…,3)</a:t>
            </a:r>
          </a:p>
          <a:p>
            <a:pPr lvl="1"/>
            <a:r>
              <a:rPr lang="en-US" dirty="0"/>
              <a:t>Completely random (4,1,7,1,5,4,……)</a:t>
            </a:r>
          </a:p>
          <a:p>
            <a:pPr lvl="1"/>
            <a:endParaRPr lang="en-US" dirty="0"/>
          </a:p>
          <a:p>
            <a:r>
              <a:rPr lang="en-US" dirty="0"/>
              <a:t>1 epoch of </a:t>
            </a:r>
            <a:r>
              <a:rPr lang="en-US" dirty="0" err="1">
                <a:solidFill>
                  <a:srgbClr val="00B0F0"/>
                </a:solidFill>
              </a:rPr>
              <a:t>Perceptron</a:t>
            </a:r>
            <a:r>
              <a:rPr lang="en-US" dirty="0"/>
              <a:t> = </a:t>
            </a:r>
            <a:r>
              <a:rPr lang="en-US" dirty="0">
                <a:solidFill>
                  <a:srgbClr val="00B050"/>
                </a:solidFill>
              </a:rPr>
              <a:t>1</a:t>
            </a:r>
            <a:r>
              <a:rPr lang="en-US" dirty="0"/>
              <a:t> </a:t>
            </a:r>
            <a:r>
              <a:rPr lang="en-US" dirty="0" err="1"/>
              <a:t>traning</a:t>
            </a:r>
            <a:r>
              <a:rPr lang="en-US" dirty="0"/>
              <a:t> sample</a:t>
            </a:r>
          </a:p>
          <a:p>
            <a:r>
              <a:rPr lang="en-US" dirty="0"/>
              <a:t>1 epoch of </a:t>
            </a:r>
            <a:r>
              <a:rPr lang="en-US" dirty="0">
                <a:solidFill>
                  <a:srgbClr val="00B0F0"/>
                </a:solidFill>
              </a:rPr>
              <a:t>Gradient descent </a:t>
            </a:r>
            <a:r>
              <a:rPr lang="en-US" dirty="0"/>
              <a:t>= </a:t>
            </a:r>
            <a:r>
              <a:rPr lang="en-US" dirty="0">
                <a:solidFill>
                  <a:srgbClr val="00B050"/>
                </a:solidFill>
              </a:rPr>
              <a:t>All</a:t>
            </a:r>
            <a:r>
              <a:rPr lang="en-US" dirty="0"/>
              <a:t> </a:t>
            </a:r>
            <a:r>
              <a:rPr lang="en-US" dirty="0" err="1"/>
              <a:t>traning</a:t>
            </a:r>
            <a:r>
              <a:rPr lang="en-US" dirty="0"/>
              <a:t> samples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Use logistic function as the transfer (activation) function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81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6670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590800" y="3276600"/>
            <a:ext cx="533400" cy="5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ym typeface="Symbol"/>
              </a:rPr>
              <a:t>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029200" y="3276600"/>
            <a:ext cx="533400" cy="533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7239000" y="3276600"/>
            <a:ext cx="533400" cy="533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13" name="Straight Arrow Connector 12"/>
          <p:cNvCxnSpPr>
            <a:stCxn id="4" idx="5"/>
            <a:endCxn id="6" idx="2"/>
          </p:cNvCxnSpPr>
          <p:nvPr/>
        </p:nvCxnSpPr>
        <p:spPr>
          <a:xfrm rot="16200000" flipH="1">
            <a:off x="1312535" y="2265034"/>
            <a:ext cx="1106815" cy="1449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6"/>
            <a:endCxn id="6" idx="2"/>
          </p:cNvCxnSpPr>
          <p:nvPr/>
        </p:nvCxnSpPr>
        <p:spPr>
          <a:xfrm>
            <a:off x="1219200" y="2933700"/>
            <a:ext cx="13716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6"/>
            <a:endCxn id="7" idx="2"/>
          </p:cNvCxnSpPr>
          <p:nvPr/>
        </p:nvCxnSpPr>
        <p:spPr>
          <a:xfrm>
            <a:off x="3124200" y="3543300"/>
            <a:ext cx="1905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6"/>
            <a:endCxn id="12" idx="2"/>
          </p:cNvCxnSpPr>
          <p:nvPr/>
        </p:nvCxnSpPr>
        <p:spPr>
          <a:xfrm>
            <a:off x="5562600" y="3543300"/>
            <a:ext cx="1676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6" idx="0"/>
          </p:cNvCxnSpPr>
          <p:nvPr/>
        </p:nvCxnSpPr>
        <p:spPr>
          <a:xfrm rot="5400000">
            <a:off x="2628900" y="30480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85800" y="33528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/>
              <a:t>x</a:t>
            </a:r>
            <a:r>
              <a:rPr lang="en-US" baseline="-25000" dirty="0"/>
              <a:t>3</a:t>
            </a:r>
          </a:p>
        </p:txBody>
      </p:sp>
      <p:cxnSp>
        <p:nvCxnSpPr>
          <p:cNvPr id="39" name="Straight Arrow Connector 38"/>
          <p:cNvCxnSpPr>
            <a:stCxn id="38" idx="6"/>
            <a:endCxn id="6" idx="2"/>
          </p:cNvCxnSpPr>
          <p:nvPr/>
        </p:nvCxnSpPr>
        <p:spPr>
          <a:xfrm flipV="1">
            <a:off x="1219200" y="3543300"/>
            <a:ext cx="13716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85800" y="44958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dirty="0" err="1"/>
              <a:t>x</a:t>
            </a:r>
            <a:r>
              <a:rPr lang="en-US" baseline="-25000" dirty="0" err="1"/>
              <a:t>n</a:t>
            </a:r>
            <a:endParaRPr lang="en-US" baseline="-25000" dirty="0"/>
          </a:p>
        </p:txBody>
      </p:sp>
      <p:cxnSp>
        <p:nvCxnSpPr>
          <p:cNvPr id="42" name="Straight Arrow Connector 41"/>
          <p:cNvCxnSpPr>
            <a:stCxn id="41" idx="7"/>
            <a:endCxn id="6" idx="2"/>
          </p:cNvCxnSpPr>
          <p:nvPr/>
        </p:nvCxnSpPr>
        <p:spPr>
          <a:xfrm rot="5400000" flipH="1" flipV="1">
            <a:off x="1350635" y="3333751"/>
            <a:ext cx="1030615" cy="1449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38200" y="39740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7918" y="2450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19400" y="28194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76400" y="25908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00478" y="35052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00478" y="29718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76400" y="40386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</a:t>
            </a:r>
            <a:r>
              <a:rPr lang="en-US" baseline="-25000" dirty="0" err="1"/>
              <a:t>n</a:t>
            </a:r>
            <a:endParaRPr lang="en-US" baseline="-25000" dirty="0"/>
          </a:p>
        </p:txBody>
      </p:sp>
      <p:grpSp>
        <p:nvGrpSpPr>
          <p:cNvPr id="18" name="Group 56"/>
          <p:cNvGrpSpPr/>
          <p:nvPr/>
        </p:nvGrpSpPr>
        <p:grpSpPr>
          <a:xfrm>
            <a:off x="2743200" y="2133600"/>
            <a:ext cx="1146927" cy="1066800"/>
            <a:chOff x="3962400" y="2133600"/>
            <a:chExt cx="1146927" cy="1066800"/>
          </a:xfrm>
        </p:grpSpPr>
        <p:sp>
          <p:nvSpPr>
            <p:cNvPr id="53" name="Oval 52"/>
            <p:cNvSpPr/>
            <p:nvPr/>
          </p:nvSpPr>
          <p:spPr>
            <a:xfrm>
              <a:off x="3962400" y="2362200"/>
              <a:ext cx="609600" cy="838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Arrow Connector 54"/>
            <p:cNvCxnSpPr>
              <a:stCxn id="53" idx="7"/>
            </p:cNvCxnSpPr>
            <p:nvPr/>
          </p:nvCxnSpPr>
          <p:spPr>
            <a:xfrm rot="5400000" flipH="1" flipV="1">
              <a:off x="4504088" y="2340839"/>
              <a:ext cx="122751" cy="16547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4572000" y="2133600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bias</a:t>
              </a:r>
            </a:p>
          </p:txBody>
        </p:sp>
      </p:grpSp>
      <p:graphicFrame>
        <p:nvGraphicFramePr>
          <p:cNvPr id="58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922621"/>
              </p:ext>
            </p:extLst>
          </p:nvPr>
        </p:nvGraphicFramePr>
        <p:xfrm>
          <a:off x="6273800" y="2370138"/>
          <a:ext cx="24892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8" name="Equation" r:id="rId3" imgW="1866600" imgH="558720" progId="Equation.DSMT4">
                  <p:embed/>
                </p:oleObj>
              </mc:Choice>
              <mc:Fallback>
                <p:oleObj name="Equation" r:id="rId3" imgW="1866600" imgH="5587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3800" y="2370138"/>
                        <a:ext cx="2489200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156027"/>
              </p:ext>
            </p:extLst>
          </p:nvPr>
        </p:nvGraphicFramePr>
        <p:xfrm>
          <a:off x="4767263" y="3817937"/>
          <a:ext cx="118427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9" name="Equation" r:id="rId5" imgW="888840" imgH="393480" progId="Equation.DSMT4">
                  <p:embed/>
                </p:oleObj>
              </mc:Choice>
              <mc:Fallback>
                <p:oleObj name="Equation" r:id="rId5" imgW="888840" imgH="393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7263" y="3817937"/>
                        <a:ext cx="1184275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Freeform 39"/>
          <p:cNvSpPr/>
          <p:nvPr/>
        </p:nvSpPr>
        <p:spPr>
          <a:xfrm>
            <a:off x="5133109" y="3441469"/>
            <a:ext cx="324196" cy="221673"/>
          </a:xfrm>
          <a:custGeom>
            <a:avLst/>
            <a:gdLst>
              <a:gd name="connsiteX0" fmla="*/ 0 w 324196"/>
              <a:gd name="connsiteY0" fmla="*/ 216131 h 221673"/>
              <a:gd name="connsiteX1" fmla="*/ 141316 w 324196"/>
              <a:gd name="connsiteY1" fmla="*/ 191193 h 221673"/>
              <a:gd name="connsiteX2" fmla="*/ 191193 w 324196"/>
              <a:gd name="connsiteY2" fmla="*/ 33251 h 221673"/>
              <a:gd name="connsiteX3" fmla="*/ 324196 w 324196"/>
              <a:gd name="connsiteY3" fmla="*/ 0 h 221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196" h="221673">
                <a:moveTo>
                  <a:pt x="0" y="216131"/>
                </a:moveTo>
                <a:cubicBezTo>
                  <a:pt x="54725" y="218902"/>
                  <a:pt x="109451" y="221673"/>
                  <a:pt x="141316" y="191193"/>
                </a:cubicBezTo>
                <a:cubicBezTo>
                  <a:pt x="173181" y="160713"/>
                  <a:pt x="160713" y="65116"/>
                  <a:pt x="191193" y="33251"/>
                </a:cubicBezTo>
                <a:cubicBezTo>
                  <a:pt x="221673" y="1386"/>
                  <a:pt x="272934" y="693"/>
                  <a:pt x="324196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4267199" y="4325938"/>
            <a:ext cx="2898779" cy="1938337"/>
            <a:chOff x="4267199" y="4325938"/>
            <a:chExt cx="2898779" cy="1938337"/>
          </a:xfrm>
        </p:grpSpPr>
        <p:sp>
          <p:nvSpPr>
            <p:cNvPr id="33" name="Line 30"/>
            <p:cNvSpPr>
              <a:spLocks noChangeShapeType="1"/>
            </p:cNvSpPr>
            <p:nvPr/>
          </p:nvSpPr>
          <p:spPr bwMode="auto">
            <a:xfrm flipV="1">
              <a:off x="5376863" y="4389438"/>
              <a:ext cx="0" cy="15605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>
              <a:off x="6629403" y="5867399"/>
              <a:ext cx="536575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i="1" dirty="0" err="1"/>
                <a:t>net</a:t>
              </a:r>
              <a:r>
                <a:rPr lang="en-US" i="1" baseline="-25000" dirty="0" err="1"/>
                <a:t>j</a:t>
              </a:r>
              <a:endParaRPr lang="en-US" i="1" baseline="-25000" dirty="0"/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4975225" y="4325938"/>
              <a:ext cx="354013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i="1"/>
                <a:t>o</a:t>
              </a:r>
              <a:r>
                <a:rPr lang="en-US" i="1" baseline="-25000"/>
                <a:t>j</a:t>
              </a: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5254625" y="5867400"/>
              <a:ext cx="307975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43" name="Line 30"/>
            <p:cNvSpPr>
              <a:spLocks noChangeShapeType="1"/>
            </p:cNvSpPr>
            <p:nvPr/>
          </p:nvSpPr>
          <p:spPr bwMode="auto">
            <a:xfrm rot="5400000" flipV="1">
              <a:off x="5448301" y="4768851"/>
              <a:ext cx="0" cy="23622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squar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4478395" y="4806778"/>
              <a:ext cx="1796935" cy="1105593"/>
            </a:xfrm>
            <a:custGeom>
              <a:avLst/>
              <a:gdLst>
                <a:gd name="connsiteX0" fmla="*/ 0 w 1371600"/>
                <a:gd name="connsiteY0" fmla="*/ 939338 h 955963"/>
                <a:gd name="connsiteX1" fmla="*/ 565266 w 1371600"/>
                <a:gd name="connsiteY1" fmla="*/ 822960 h 955963"/>
                <a:gd name="connsiteX2" fmla="*/ 798022 w 1371600"/>
                <a:gd name="connsiteY2" fmla="*/ 141317 h 955963"/>
                <a:gd name="connsiteX3" fmla="*/ 1371600 w 1371600"/>
                <a:gd name="connsiteY3" fmla="*/ 0 h 955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1600" h="955963">
                  <a:moveTo>
                    <a:pt x="0" y="939338"/>
                  </a:moveTo>
                  <a:cubicBezTo>
                    <a:pt x="216131" y="947650"/>
                    <a:pt x="432262" y="955963"/>
                    <a:pt x="565266" y="822960"/>
                  </a:cubicBezTo>
                  <a:cubicBezTo>
                    <a:pt x="698270" y="689957"/>
                    <a:pt x="663633" y="278477"/>
                    <a:pt x="798022" y="141317"/>
                  </a:cubicBezTo>
                  <a:cubicBezTo>
                    <a:pt x="932411" y="4157"/>
                    <a:pt x="1152005" y="2078"/>
                    <a:pt x="1371600" y="0"/>
                  </a:cubicBezTo>
                </a:path>
              </a:pathLst>
            </a:cu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sigmoid?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signum</a:t>
            </a:r>
            <a:r>
              <a:rPr lang="en-US" dirty="0"/>
              <a:t> function is discontinuous at zero, </a:t>
            </a:r>
            <a:r>
              <a:rPr lang="en-US" dirty="0" err="1">
                <a:solidFill>
                  <a:srgbClr val="FF0000"/>
                </a:solidFill>
              </a:rPr>
              <a:t>undifferentiable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We need nonlinear </a:t>
            </a:r>
            <a:r>
              <a:rPr lang="en-US" dirty="0">
                <a:solidFill>
                  <a:srgbClr val="00B050"/>
                </a:solidFill>
              </a:rPr>
              <a:t>differentiable</a:t>
            </a:r>
            <a:r>
              <a:rPr lang="en-US" dirty="0"/>
              <a:t> function that similar to </a:t>
            </a:r>
            <a:r>
              <a:rPr lang="en-US" dirty="0" err="1"/>
              <a:t>signum</a:t>
            </a:r>
            <a:r>
              <a:rPr lang="en-US" dirty="0"/>
              <a:t> function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Moreover, the derivative is easily to compute 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276600" y="1981200"/>
            <a:ext cx="1828800" cy="839788"/>
            <a:chOff x="3200400" y="2057400"/>
            <a:chExt cx="1828800" cy="839788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3200400" y="2895600"/>
              <a:ext cx="914400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14800" y="2057400"/>
              <a:ext cx="914400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5400000" flipH="1" flipV="1">
              <a:off x="3695700" y="2476500"/>
              <a:ext cx="838200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reeform 14"/>
          <p:cNvSpPr/>
          <p:nvPr/>
        </p:nvSpPr>
        <p:spPr>
          <a:xfrm>
            <a:off x="3308465" y="3581400"/>
            <a:ext cx="1796935" cy="1105593"/>
          </a:xfrm>
          <a:custGeom>
            <a:avLst/>
            <a:gdLst>
              <a:gd name="connsiteX0" fmla="*/ 0 w 1371600"/>
              <a:gd name="connsiteY0" fmla="*/ 939338 h 955963"/>
              <a:gd name="connsiteX1" fmla="*/ 565266 w 1371600"/>
              <a:gd name="connsiteY1" fmla="*/ 822960 h 955963"/>
              <a:gd name="connsiteX2" fmla="*/ 798022 w 1371600"/>
              <a:gd name="connsiteY2" fmla="*/ 141317 h 955963"/>
              <a:gd name="connsiteX3" fmla="*/ 1371600 w 1371600"/>
              <a:gd name="connsiteY3" fmla="*/ 0 h 95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1600" h="955963">
                <a:moveTo>
                  <a:pt x="0" y="939338"/>
                </a:moveTo>
                <a:cubicBezTo>
                  <a:pt x="216131" y="947650"/>
                  <a:pt x="432262" y="955963"/>
                  <a:pt x="565266" y="822960"/>
                </a:cubicBezTo>
                <a:cubicBezTo>
                  <a:pt x="698270" y="689957"/>
                  <a:pt x="663633" y="278477"/>
                  <a:pt x="798022" y="141317"/>
                </a:cubicBezTo>
                <a:cubicBezTo>
                  <a:pt x="932411" y="4157"/>
                  <a:pt x="1152005" y="2078"/>
                  <a:pt x="1371600" y="0"/>
                </a:cubicBez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5715000" y="3810000"/>
          <a:ext cx="15456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8" name="Equation" r:id="rId3" imgW="888840" imgH="393480" progId="Equation.DSMT4">
                  <p:embed/>
                </p:oleObj>
              </mc:Choice>
              <mc:Fallback>
                <p:oleObj name="Equation" r:id="rId3" imgW="888840" imgH="393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810000"/>
                        <a:ext cx="1545638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3124200" y="5486400"/>
          <a:ext cx="261435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9" name="Equation" r:id="rId5" imgW="1498320" imgH="393480" progId="Equation.DSMT4">
                  <p:embed/>
                </p:oleObj>
              </mc:Choice>
              <mc:Fallback>
                <p:oleObj name="Equation" r:id="rId5" imgW="1498320" imgH="393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486400"/>
                        <a:ext cx="2614353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Learn the weights for a </a:t>
            </a:r>
            <a:r>
              <a:rPr lang="en-US" dirty="0">
                <a:solidFill>
                  <a:srgbClr val="00B0F0"/>
                </a:solidFill>
              </a:rPr>
              <a:t>multilayer network</a:t>
            </a:r>
          </a:p>
          <a:p>
            <a:r>
              <a:rPr lang="en-US" dirty="0"/>
              <a:t>Use </a:t>
            </a:r>
            <a:r>
              <a:rPr lang="en-US" dirty="0">
                <a:solidFill>
                  <a:srgbClr val="00B050"/>
                </a:solidFill>
              </a:rPr>
              <a:t>gradient descent </a:t>
            </a:r>
            <a:r>
              <a:rPr lang="en-US" dirty="0"/>
              <a:t>to minimize the error between output and target</a:t>
            </a:r>
          </a:p>
          <a:p>
            <a:r>
              <a:rPr lang="en-US" dirty="0"/>
              <a:t>Redefine the error of a </a:t>
            </a:r>
            <a:r>
              <a:rPr lang="en-US" dirty="0">
                <a:solidFill>
                  <a:srgbClr val="7030A0"/>
                </a:solidFill>
              </a:rPr>
              <a:t>multiple outputs</a:t>
            </a:r>
          </a:p>
          <a:p>
            <a:endParaRPr lang="en-US" dirty="0"/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2743200" y="3352800"/>
          <a:ext cx="37750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9" name="Equation" r:id="rId3" imgW="1841400" imgH="444240" progId="Equation.DSMT4">
                  <p:embed/>
                </p:oleObj>
              </mc:Choice>
              <mc:Fallback>
                <p:oleObj name="Equation" r:id="rId3" imgW="1841400" imgH="4442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352800"/>
                        <a:ext cx="3775075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Backpropagation</a:t>
            </a:r>
            <a:r>
              <a:rPr lang="en-US" dirty="0"/>
              <a:t>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i-th</a:t>
            </a:r>
            <a:r>
              <a:rPr lang="en-US" dirty="0"/>
              <a:t> input to unit j:</a:t>
            </a:r>
          </a:p>
          <a:p>
            <a:r>
              <a:rPr lang="en-US" dirty="0"/>
              <a:t>The weight of </a:t>
            </a:r>
            <a:r>
              <a:rPr lang="en-US" dirty="0" err="1"/>
              <a:t>i-th</a:t>
            </a:r>
            <a:r>
              <a:rPr lang="en-US" dirty="0"/>
              <a:t> input to unit j:</a:t>
            </a:r>
          </a:p>
          <a:p>
            <a:r>
              <a:rPr lang="en-US" dirty="0"/>
              <a:t>The weighted sum of inputs for unit j:</a:t>
            </a:r>
          </a:p>
          <a:p>
            <a:r>
              <a:rPr lang="en-US" dirty="0"/>
              <a:t>The output computed by unit j:</a:t>
            </a:r>
          </a:p>
          <a:p>
            <a:r>
              <a:rPr lang="en-US" dirty="0"/>
              <a:t>The target output for unit j:</a:t>
            </a:r>
          </a:p>
          <a:p>
            <a:r>
              <a:rPr lang="en-US" dirty="0"/>
              <a:t>The sigmoid function:</a:t>
            </a:r>
          </a:p>
          <a:p>
            <a:r>
              <a:rPr lang="en-US" dirty="0"/>
              <a:t>The set of units in the final layer of the network:</a:t>
            </a:r>
          </a:p>
          <a:p>
            <a:r>
              <a:rPr lang="en-US" dirty="0"/>
              <a:t>The set of units whose immediate inputs include the output of unit j:</a:t>
            </a:r>
          </a:p>
          <a:p>
            <a:r>
              <a:rPr lang="en-US" dirty="0"/>
              <a:t>The error of unit j:</a:t>
            </a:r>
          </a:p>
          <a:p>
            <a:endParaRPr lang="en-US" dirty="0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/>
        </p:nvGraphicFramePr>
        <p:xfrm>
          <a:off x="4038600" y="1258888"/>
          <a:ext cx="3905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49" name="Equation" r:id="rId3" imgW="190440" imgH="241200" progId="Equation.DSMT4">
                  <p:embed/>
                </p:oleObj>
              </mc:Choice>
              <mc:Fallback>
                <p:oleObj name="Equation" r:id="rId3" imgW="190440" imgH="241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258888"/>
                        <a:ext cx="390525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5334000" y="1752600"/>
          <a:ext cx="44291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0" name="Equation" r:id="rId5" imgW="215640" imgH="241200" progId="Equation.DSMT4">
                  <p:embed/>
                </p:oleObj>
              </mc:Choice>
              <mc:Fallback>
                <p:oleObj name="Equation" r:id="rId5" imgW="215640" imgH="241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752600"/>
                        <a:ext cx="442913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5943600" y="2193925"/>
          <a:ext cx="19812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1" name="Equation" r:id="rId7" imgW="965160" imgH="342720" progId="Equation.DSMT4">
                  <p:embed/>
                </p:oleObj>
              </mc:Choice>
              <mc:Fallback>
                <p:oleObj name="Equation" r:id="rId7" imgW="965160" imgH="3427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193925"/>
                        <a:ext cx="1981200" cy="701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5207000" y="2706688"/>
          <a:ext cx="33813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2" name="Equation" r:id="rId9" imgW="164880" imgH="241200" progId="Equation.DSMT4">
                  <p:embed/>
                </p:oleObj>
              </mc:Choice>
              <mc:Fallback>
                <p:oleObj name="Equation" r:id="rId9" imgW="164880" imgH="241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0" y="2706688"/>
                        <a:ext cx="338138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/>
        </p:nvGraphicFramePr>
        <p:xfrm>
          <a:off x="4743450" y="3163888"/>
          <a:ext cx="28575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3" name="Equation" r:id="rId11" imgW="139680" imgH="241200" progId="Equation.DSMT4">
                  <p:embed/>
                </p:oleObj>
              </mc:Choice>
              <mc:Fallback>
                <p:oleObj name="Equation" r:id="rId11" imgW="13968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3163888"/>
                        <a:ext cx="285750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7"/>
          <p:cNvGraphicFramePr>
            <a:graphicFrameLocks noChangeAspect="1"/>
          </p:cNvGraphicFramePr>
          <p:nvPr/>
        </p:nvGraphicFramePr>
        <p:xfrm>
          <a:off x="3956050" y="3752850"/>
          <a:ext cx="3111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4" name="Equation" r:id="rId13" imgW="152280" imgH="139680" progId="Equation.DSMT4">
                  <p:embed/>
                </p:oleObj>
              </mc:Choice>
              <mc:Fallback>
                <p:oleObj name="Equation" r:id="rId13" imgW="152280" imgH="1396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6050" y="3752850"/>
                        <a:ext cx="31115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8" name="Object 8"/>
          <p:cNvGraphicFramePr>
            <a:graphicFrameLocks noChangeAspect="1"/>
          </p:cNvGraphicFramePr>
          <p:nvPr/>
        </p:nvGraphicFramePr>
        <p:xfrm>
          <a:off x="7391400" y="4191000"/>
          <a:ext cx="1011238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5" name="Equation" r:id="rId15" imgW="495000" imgH="177480" progId="Equation.DSMT4">
                  <p:embed/>
                </p:oleObj>
              </mc:Choice>
              <mc:Fallback>
                <p:oleObj name="Equation" r:id="rId15" imgW="495000" imgH="17748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4191000"/>
                        <a:ext cx="1011238" cy="363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9" name="Object 9"/>
          <p:cNvGraphicFramePr>
            <a:graphicFrameLocks noChangeAspect="1"/>
          </p:cNvGraphicFramePr>
          <p:nvPr/>
        </p:nvGraphicFramePr>
        <p:xfrm>
          <a:off x="2971800" y="4995862"/>
          <a:ext cx="207486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6" name="Equation" r:id="rId17" imgW="1015920" imgH="203040" progId="Equation.DSMT4">
                  <p:embed/>
                </p:oleObj>
              </mc:Choice>
              <mc:Fallback>
                <p:oleObj name="Equation" r:id="rId17" imgW="1015920" imgH="20304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995862"/>
                        <a:ext cx="2074862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Object 10"/>
          <p:cNvGraphicFramePr>
            <a:graphicFrameLocks noChangeAspect="1"/>
          </p:cNvGraphicFramePr>
          <p:nvPr/>
        </p:nvGraphicFramePr>
        <p:xfrm>
          <a:off x="3581400" y="5414963"/>
          <a:ext cx="1614487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57" name="Equation" r:id="rId19" imgW="787320" imgH="444240" progId="Equation.DSMT4">
                  <p:embed/>
                </p:oleObj>
              </mc:Choice>
              <mc:Fallback>
                <p:oleObj name="Equation" r:id="rId19" imgW="787320" imgH="44424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414963"/>
                        <a:ext cx="1614487" cy="909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</a:t>
            </a:r>
            <a:r>
              <a:rPr lang="en-US" dirty="0" err="1"/>
              <a:t>Backpropagation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error on training example d:</a:t>
            </a:r>
          </a:p>
          <a:p>
            <a:endParaRPr lang="en-US" sz="2000" dirty="0"/>
          </a:p>
          <a:p>
            <a:r>
              <a:rPr lang="en-US" sz="2000" dirty="0"/>
              <a:t>Chain rule:</a:t>
            </a:r>
          </a:p>
          <a:p>
            <a:endParaRPr lang="en-US" sz="2000" dirty="0"/>
          </a:p>
          <a:p>
            <a:r>
              <a:rPr lang="en-US" sz="2000" dirty="0"/>
              <a:t>Output: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Hidden:</a:t>
            </a:r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4347210" y="1143000"/>
          <a:ext cx="2129790" cy="586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3" name="Equation" r:id="rId3" imgW="1612800" imgH="444240" progId="Equation.DSMT4">
                  <p:embed/>
                </p:oleObj>
              </mc:Choice>
              <mc:Fallback>
                <p:oleObj name="Equation" r:id="rId3" imgW="1612800" imgH="4442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7210" y="1143000"/>
                        <a:ext cx="2129790" cy="5868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2057400" y="1752600"/>
          <a:ext cx="394081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4" name="Equation" r:id="rId5" imgW="2984400" imgH="571320" progId="Equation.DSMT4">
                  <p:embed/>
                </p:oleObj>
              </mc:Choice>
              <mc:Fallback>
                <p:oleObj name="Equation" r:id="rId5" imgW="2984400" imgH="5713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752600"/>
                        <a:ext cx="3940810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766861"/>
              </p:ext>
            </p:extLst>
          </p:nvPr>
        </p:nvGraphicFramePr>
        <p:xfrm>
          <a:off x="1828800" y="2395538"/>
          <a:ext cx="6827838" cy="171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5" name="Equation" r:id="rId7" imgW="5549760" imgH="1396800" progId="Equation.DSMT4">
                  <p:embed/>
                </p:oleObj>
              </mc:Choice>
              <mc:Fallback>
                <p:oleObj name="Equation" r:id="rId7" imgW="5549760" imgH="13968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395538"/>
                        <a:ext cx="6827838" cy="171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204223"/>
              </p:ext>
            </p:extLst>
          </p:nvPr>
        </p:nvGraphicFramePr>
        <p:xfrm>
          <a:off x="1958975" y="4100513"/>
          <a:ext cx="30162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6" name="Equation" r:id="rId9" imgW="2450880" imgH="444240" progId="Equation.DSMT4">
                  <p:embed/>
                </p:oleObj>
              </mc:Choice>
              <mc:Fallback>
                <p:oleObj name="Equation" r:id="rId9" imgW="2450880" imgH="4442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975" y="4100513"/>
                        <a:ext cx="3016250" cy="5476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Arrow Connector 8"/>
          <p:cNvCxnSpPr/>
          <p:nvPr/>
        </p:nvCxnSpPr>
        <p:spPr>
          <a:xfrm>
            <a:off x="5562600" y="2438400"/>
            <a:ext cx="1981200" cy="1219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10800000" flipV="1">
            <a:off x="4114800" y="4038600"/>
            <a:ext cx="3429000" cy="228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286767"/>
              </p:ext>
            </p:extLst>
          </p:nvPr>
        </p:nvGraphicFramePr>
        <p:xfrm>
          <a:off x="1828800" y="4648200"/>
          <a:ext cx="6426200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7" name="Equation" r:id="rId11" imgW="5219640" imgH="965160" progId="Equation.DSMT4">
                  <p:embed/>
                </p:oleObj>
              </mc:Choice>
              <mc:Fallback>
                <p:oleObj name="Equation" r:id="rId11" imgW="5219640" imgH="9651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648200"/>
                        <a:ext cx="6426200" cy="1189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7"/>
          <p:cNvGraphicFramePr>
            <a:graphicFrameLocks noChangeAspect="1"/>
          </p:cNvGraphicFramePr>
          <p:nvPr/>
        </p:nvGraphicFramePr>
        <p:xfrm>
          <a:off x="1905000" y="5791200"/>
          <a:ext cx="1782762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58" name="Equation" r:id="rId13" imgW="1447560" imgH="444240" progId="Equation.DSMT4">
                  <p:embed/>
                </p:oleObj>
              </mc:Choice>
              <mc:Fallback>
                <p:oleObj name="Equation" r:id="rId13" imgW="1447560" imgH="4442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791200"/>
                        <a:ext cx="1782762" cy="5476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Arrow Connector 14"/>
          <p:cNvCxnSpPr/>
          <p:nvPr/>
        </p:nvCxnSpPr>
        <p:spPr>
          <a:xfrm rot="16200000" flipH="1">
            <a:off x="4686300" y="3314700"/>
            <a:ext cx="2971800" cy="12192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10800000" flipV="1">
            <a:off x="3429000" y="5638800"/>
            <a:ext cx="3352800" cy="3048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Backpropagation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olidFill>
                  <a:srgbClr val="00B0F0"/>
                </a:solidFill>
              </a:rPr>
              <a:t>Backpropagation</a:t>
            </a:r>
            <a:r>
              <a:rPr lang="en-US" dirty="0"/>
              <a:t>(</a:t>
            </a:r>
            <a:r>
              <a:rPr lang="en-US" dirty="0" err="1"/>
              <a:t>training_example</a:t>
            </a:r>
            <a:r>
              <a:rPr lang="en-US" dirty="0"/>
              <a:t>, </a:t>
            </a:r>
            <a:r>
              <a:rPr lang="en-US" dirty="0" err="1"/>
              <a:t>η,n</a:t>
            </a:r>
            <a:r>
              <a:rPr lang="en-US" baseline="-25000" dirty="0" err="1"/>
              <a:t>in</a:t>
            </a:r>
            <a:r>
              <a:rPr lang="en-US" dirty="0"/>
              <a:t>, </a:t>
            </a:r>
            <a:r>
              <a:rPr lang="en-US" dirty="0" err="1"/>
              <a:t>n</a:t>
            </a:r>
            <a:r>
              <a:rPr lang="en-US" baseline="-25000" dirty="0" err="1"/>
              <a:t>out</a:t>
            </a:r>
            <a:r>
              <a:rPr lang="en-US" baseline="-25000" dirty="0"/>
              <a:t>,</a:t>
            </a:r>
            <a:r>
              <a:rPr lang="en-US" dirty="0"/>
              <a:t> </a:t>
            </a:r>
            <a:r>
              <a:rPr lang="en-US" dirty="0" err="1"/>
              <a:t>n</a:t>
            </a:r>
            <a:r>
              <a:rPr lang="en-US" baseline="-25000" dirty="0" err="1"/>
              <a:t>hidden</a:t>
            </a:r>
            <a:r>
              <a:rPr lang="en-US" dirty="0"/>
              <a:t>)</a:t>
            </a:r>
          </a:p>
          <a:p>
            <a:r>
              <a:rPr lang="en-US" dirty="0"/>
              <a:t>Create a feed-forward network with </a:t>
            </a:r>
            <a:r>
              <a:rPr lang="en-US" dirty="0" err="1"/>
              <a:t>n</a:t>
            </a:r>
            <a:r>
              <a:rPr lang="en-US" baseline="-25000" dirty="0" err="1"/>
              <a:t>in</a:t>
            </a:r>
            <a:r>
              <a:rPr lang="en-US" dirty="0"/>
              <a:t>, </a:t>
            </a:r>
            <a:r>
              <a:rPr lang="en-US" dirty="0" err="1"/>
              <a:t>n</a:t>
            </a:r>
            <a:r>
              <a:rPr lang="en-US" baseline="-25000" dirty="0" err="1"/>
              <a:t>out</a:t>
            </a:r>
            <a:r>
              <a:rPr lang="en-US" baseline="-25000" dirty="0"/>
              <a:t>,</a:t>
            </a:r>
            <a:r>
              <a:rPr lang="en-US" dirty="0"/>
              <a:t> </a:t>
            </a:r>
            <a:r>
              <a:rPr lang="en-US" dirty="0" err="1"/>
              <a:t>n</a:t>
            </a:r>
            <a:r>
              <a:rPr lang="en-US" baseline="-25000" dirty="0" err="1"/>
              <a:t>hidden</a:t>
            </a:r>
            <a:endParaRPr lang="en-US" dirty="0"/>
          </a:p>
          <a:p>
            <a:r>
              <a:rPr lang="en-US" dirty="0"/>
              <a:t>Initialize all network weights to small random number</a:t>
            </a:r>
          </a:p>
          <a:p>
            <a:pPr lvl="1"/>
            <a:r>
              <a:rPr lang="en-US"/>
              <a:t>[-0.5,0.5</a:t>
            </a:r>
            <a:r>
              <a:rPr lang="en-US" dirty="0"/>
              <a:t>]</a:t>
            </a:r>
          </a:p>
          <a:p>
            <a:r>
              <a:rPr lang="en-US" dirty="0"/>
              <a:t>Until the termination condition is met, Do</a:t>
            </a:r>
          </a:p>
          <a:p>
            <a:pPr lvl="1"/>
            <a:r>
              <a:rPr lang="en-US" dirty="0"/>
              <a:t>For each &lt;(x</a:t>
            </a:r>
            <a:r>
              <a:rPr lang="en-US" baseline="-25000" dirty="0"/>
              <a:t>1</a:t>
            </a:r>
            <a:r>
              <a:rPr lang="en-US" dirty="0"/>
              <a:t>,…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),t&gt; in </a:t>
            </a:r>
            <a:r>
              <a:rPr lang="en-US" dirty="0" err="1"/>
              <a:t>training_examples</a:t>
            </a:r>
            <a:r>
              <a:rPr lang="en-US" dirty="0"/>
              <a:t> Do</a:t>
            </a:r>
          </a:p>
          <a:p>
            <a:pPr lvl="2"/>
            <a:r>
              <a:rPr lang="en-US" dirty="0"/>
              <a:t>Propagate the input </a:t>
            </a:r>
            <a:r>
              <a:rPr lang="en-US" dirty="0">
                <a:solidFill>
                  <a:srgbClr val="00B050"/>
                </a:solidFill>
              </a:rPr>
              <a:t>forward</a:t>
            </a:r>
            <a:r>
              <a:rPr lang="en-US" dirty="0"/>
              <a:t> through the network:</a:t>
            </a:r>
          </a:p>
          <a:p>
            <a:pPr lvl="2"/>
            <a:r>
              <a:rPr lang="en-US" dirty="0"/>
              <a:t>Input the instance (x</a:t>
            </a:r>
            <a:r>
              <a:rPr lang="en-US" baseline="-25000" dirty="0"/>
              <a:t>1</a:t>
            </a:r>
            <a:r>
              <a:rPr lang="en-US" dirty="0"/>
              <a:t>,…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) to the network and compute the output of every units</a:t>
            </a:r>
          </a:p>
          <a:p>
            <a:pPr lvl="2"/>
            <a:r>
              <a:rPr lang="en-US" dirty="0"/>
              <a:t>Propagate the error </a:t>
            </a:r>
            <a:r>
              <a:rPr lang="en-US" dirty="0">
                <a:solidFill>
                  <a:srgbClr val="00B050"/>
                </a:solidFill>
              </a:rPr>
              <a:t>backward</a:t>
            </a:r>
            <a:r>
              <a:rPr lang="en-US" dirty="0"/>
              <a:t> through the network:</a:t>
            </a:r>
          </a:p>
          <a:p>
            <a:pPr lvl="2"/>
            <a:r>
              <a:rPr lang="en-US" dirty="0"/>
              <a:t>For each output unit k, Do </a:t>
            </a:r>
          </a:p>
          <a:p>
            <a:pPr lvl="2"/>
            <a:r>
              <a:rPr lang="en-US" dirty="0"/>
              <a:t>For each hidden unit h, Do</a:t>
            </a:r>
          </a:p>
          <a:p>
            <a:pPr lvl="2"/>
            <a:r>
              <a:rPr lang="en-US" dirty="0"/>
              <a:t>Update each network weight:</a:t>
            </a:r>
            <a:endParaRPr lang="en-US" baseline="-25000" dirty="0"/>
          </a:p>
          <a:p>
            <a:r>
              <a:rPr lang="en-US" dirty="0"/>
              <a:t>Return weight</a:t>
            </a:r>
            <a:endParaRPr lang="en-US" baseline="-25000" dirty="0"/>
          </a:p>
        </p:txBody>
      </p:sp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4648200" y="4953000"/>
          <a:ext cx="21525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0" name="Equation" r:id="rId3" imgW="1434960" imgH="253800" progId="Equation.DSMT4">
                  <p:embed/>
                </p:oleObj>
              </mc:Choice>
              <mc:Fallback>
                <p:oleObj name="Equation" r:id="rId3" imgW="1434960" imgH="2538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953000"/>
                        <a:ext cx="21525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4648200" y="5257800"/>
          <a:ext cx="2476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1" name="Equation" r:id="rId5" imgW="1650960" imgH="355320" progId="Equation.DSMT4">
                  <p:embed/>
                </p:oleObj>
              </mc:Choice>
              <mc:Fallback>
                <p:oleObj name="Equation" r:id="rId5" imgW="1650960" imgH="3553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257800"/>
                        <a:ext cx="24765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4667250" y="5657850"/>
          <a:ext cx="15811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2" name="Equation" r:id="rId7" imgW="1054080" imgH="241200" progId="Equation.DSMT4">
                  <p:embed/>
                </p:oleObj>
              </mc:Choice>
              <mc:Fallback>
                <p:oleObj name="Equation" r:id="rId7" imgW="105408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5657850"/>
                        <a:ext cx="15811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182705-EBCF-4364-8E93-7AF25E08A279}" type="slidenum">
              <a:rPr lang="en-US"/>
              <a:pPr/>
              <a:t>44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Error Backpropagation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69987"/>
            <a:ext cx="7772400" cy="1116013"/>
          </a:xfrm>
        </p:spPr>
        <p:txBody>
          <a:bodyPr/>
          <a:lstStyle/>
          <a:p>
            <a:r>
              <a:rPr lang="en-US" sz="2800" dirty="0"/>
              <a:t>First calculate error of output units and use this to change the top layer of weights.</a:t>
            </a:r>
          </a:p>
        </p:txBody>
      </p:sp>
      <p:sp>
        <p:nvSpPr>
          <p:cNvPr id="252968" name="Text Box 40"/>
          <p:cNvSpPr txBox="1">
            <a:spLocks noChangeArrowheads="1"/>
          </p:cNvSpPr>
          <p:nvPr/>
        </p:nvSpPr>
        <p:spPr bwMode="auto">
          <a:xfrm>
            <a:off x="6248400" y="2209800"/>
            <a:ext cx="2514128" cy="1479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US" dirty="0"/>
              <a:t>Current output: </a:t>
            </a:r>
            <a:r>
              <a:rPr lang="en-US" i="1" dirty="0">
                <a:cs typeface="Times New Roman" pitchFamily="18" charset="0"/>
              </a:rPr>
              <a:t>o</a:t>
            </a:r>
            <a:r>
              <a:rPr lang="en-US" i="1" baseline="-25000" dirty="0">
                <a:cs typeface="Times New Roman" pitchFamily="18" charset="0"/>
              </a:rPr>
              <a:t>k</a:t>
            </a:r>
            <a:r>
              <a:rPr lang="en-US" dirty="0">
                <a:cs typeface="Times New Roman" pitchFamily="18" charset="0"/>
              </a:rPr>
              <a:t>=0.2</a:t>
            </a:r>
          </a:p>
          <a:p>
            <a:pPr algn="l"/>
            <a:r>
              <a:rPr lang="en-US" dirty="0"/>
              <a:t>target: </a:t>
            </a:r>
            <a:r>
              <a:rPr lang="en-US" i="1" dirty="0" err="1"/>
              <a:t>t</a:t>
            </a:r>
            <a:r>
              <a:rPr lang="en-US" i="1" baseline="-25000" dirty="0" err="1"/>
              <a:t>k</a:t>
            </a:r>
            <a:r>
              <a:rPr lang="en-US" i="1" dirty="0"/>
              <a:t>=</a:t>
            </a:r>
            <a:r>
              <a:rPr lang="en-US" dirty="0"/>
              <a:t>1.0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Error </a:t>
            </a:r>
            <a:r>
              <a:rPr lang="el-GR" dirty="0">
                <a:cs typeface="Times New Roman" pitchFamily="18" charset="0"/>
              </a:rPr>
              <a:t>δ</a:t>
            </a:r>
            <a:r>
              <a:rPr lang="en-US" i="1" baseline="-25000" dirty="0">
                <a:cs typeface="Times New Roman" pitchFamily="18" charset="0"/>
              </a:rPr>
              <a:t>k</a:t>
            </a:r>
            <a:r>
              <a:rPr lang="en-US" dirty="0">
                <a:cs typeface="Times New Roman" pitchFamily="18" charset="0"/>
              </a:rPr>
              <a:t> = </a:t>
            </a:r>
            <a:r>
              <a:rPr lang="en-US" i="1" dirty="0">
                <a:cs typeface="Times New Roman" pitchFamily="18" charset="0"/>
              </a:rPr>
              <a:t>o</a:t>
            </a:r>
            <a:r>
              <a:rPr lang="en-US" i="1" baseline="-25000" dirty="0">
                <a:cs typeface="Times New Roman" pitchFamily="18" charset="0"/>
              </a:rPr>
              <a:t>k</a:t>
            </a:r>
            <a:r>
              <a:rPr lang="en-US" dirty="0">
                <a:cs typeface="Times New Roman" pitchFamily="18" charset="0"/>
              </a:rPr>
              <a:t>(1–</a:t>
            </a:r>
            <a:r>
              <a:rPr lang="en-US" i="1" dirty="0">
                <a:cs typeface="Times New Roman" pitchFamily="18" charset="0"/>
              </a:rPr>
              <a:t>o</a:t>
            </a:r>
            <a:r>
              <a:rPr lang="en-US" i="1" baseline="-25000" dirty="0">
                <a:cs typeface="Times New Roman" pitchFamily="18" charset="0"/>
              </a:rPr>
              <a:t>k</a:t>
            </a:r>
            <a:r>
              <a:rPr lang="en-US" dirty="0">
                <a:cs typeface="Times New Roman" pitchFamily="18" charset="0"/>
              </a:rPr>
              <a:t>)(</a:t>
            </a:r>
            <a:r>
              <a:rPr lang="en-US" i="1" dirty="0" err="1">
                <a:cs typeface="Times New Roman" pitchFamily="18" charset="0"/>
              </a:rPr>
              <a:t>t</a:t>
            </a:r>
            <a:r>
              <a:rPr lang="en-US" i="1" baseline="-25000" dirty="0" err="1">
                <a:cs typeface="Times New Roman" pitchFamily="18" charset="0"/>
              </a:rPr>
              <a:t>k</a:t>
            </a:r>
            <a:r>
              <a:rPr lang="en-US" dirty="0"/>
              <a:t>–</a:t>
            </a:r>
            <a:r>
              <a:rPr lang="en-US" i="1" dirty="0"/>
              <a:t>o</a:t>
            </a:r>
            <a:r>
              <a:rPr lang="en-US" i="1" baseline="-25000" dirty="0"/>
              <a:t>k</a:t>
            </a:r>
            <a:r>
              <a:rPr lang="en-US" dirty="0"/>
              <a:t>)</a:t>
            </a:r>
            <a:endParaRPr lang="en-US" dirty="0">
              <a:cs typeface="Times New Roman" pitchFamily="18" charset="0"/>
            </a:endParaRPr>
          </a:p>
          <a:p>
            <a:pPr algn="l"/>
            <a:r>
              <a:rPr lang="en-US" dirty="0">
                <a:cs typeface="Times New Roman" pitchFamily="18" charset="0"/>
              </a:rPr>
              <a:t> 0.2(1–0.2)(1</a:t>
            </a:r>
            <a:r>
              <a:rPr lang="en-US" dirty="0"/>
              <a:t>–</a:t>
            </a:r>
            <a:r>
              <a:rPr lang="en-US" dirty="0">
                <a:cs typeface="Times New Roman" pitchFamily="18" charset="0"/>
              </a:rPr>
              <a:t>0.2)=0.128</a:t>
            </a:r>
            <a:endParaRPr lang="el-GR" dirty="0">
              <a:cs typeface="Times New Roman" pitchFamily="18" charset="0"/>
            </a:endParaRPr>
          </a:p>
        </p:txBody>
      </p:sp>
      <p:sp>
        <p:nvSpPr>
          <p:cNvPr id="252970" name="Text Box 42"/>
          <p:cNvSpPr txBox="1">
            <a:spLocks noChangeArrowheads="1"/>
          </p:cNvSpPr>
          <p:nvPr/>
        </p:nvSpPr>
        <p:spPr bwMode="auto">
          <a:xfrm>
            <a:off x="6324600" y="3924300"/>
            <a:ext cx="2233794" cy="3715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 dirty="0"/>
              <a:t>Update weights into </a:t>
            </a:r>
            <a:r>
              <a:rPr lang="en-US" i="1" dirty="0"/>
              <a:t>k</a:t>
            </a:r>
          </a:p>
        </p:txBody>
      </p:sp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6629400" y="4305300"/>
          <a:ext cx="16573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5" name="Equation" r:id="rId3" imgW="1104840" imgH="228600" progId="Equation.DSMT4">
                  <p:embed/>
                </p:oleObj>
              </mc:Choice>
              <mc:Fallback>
                <p:oleObj name="Equation" r:id="rId3" imgW="110484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305300"/>
                        <a:ext cx="16573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Oval 47"/>
          <p:cNvSpPr/>
          <p:nvPr/>
        </p:nvSpPr>
        <p:spPr>
          <a:xfrm>
            <a:off x="4267200" y="5029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49" name="Oval 48"/>
          <p:cNvSpPr/>
          <p:nvPr/>
        </p:nvSpPr>
        <p:spPr>
          <a:xfrm>
            <a:off x="3352800" y="5029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0" name="Oval 49"/>
          <p:cNvSpPr/>
          <p:nvPr/>
        </p:nvSpPr>
        <p:spPr>
          <a:xfrm>
            <a:off x="5181600" y="5029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1" name="Oval 50"/>
          <p:cNvSpPr/>
          <p:nvPr/>
        </p:nvSpPr>
        <p:spPr>
          <a:xfrm>
            <a:off x="3200400" y="3733800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2" name="Oval 51"/>
          <p:cNvSpPr/>
          <p:nvPr/>
        </p:nvSpPr>
        <p:spPr>
          <a:xfrm>
            <a:off x="4267200" y="3733800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3" name="Oval 52"/>
          <p:cNvSpPr/>
          <p:nvPr/>
        </p:nvSpPr>
        <p:spPr>
          <a:xfrm>
            <a:off x="5334000" y="3733800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4" name="Oval 53"/>
          <p:cNvSpPr/>
          <p:nvPr/>
        </p:nvSpPr>
        <p:spPr>
          <a:xfrm>
            <a:off x="3810000" y="2286000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5" name="Oval 54"/>
          <p:cNvSpPr/>
          <p:nvPr/>
        </p:nvSpPr>
        <p:spPr>
          <a:xfrm>
            <a:off x="4724400" y="2286000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cxnSp>
        <p:nvCxnSpPr>
          <p:cNvPr id="56" name="Straight Arrow Connector 55"/>
          <p:cNvCxnSpPr>
            <a:stCxn id="49" idx="0"/>
            <a:endCxn id="51" idx="4"/>
          </p:cNvCxnSpPr>
          <p:nvPr/>
        </p:nvCxnSpPr>
        <p:spPr>
          <a:xfrm rot="16200000" flipV="1">
            <a:off x="3162300" y="4572000"/>
            <a:ext cx="762000" cy="152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8" idx="0"/>
            <a:endCxn id="51" idx="4"/>
          </p:cNvCxnSpPr>
          <p:nvPr/>
        </p:nvCxnSpPr>
        <p:spPr>
          <a:xfrm rot="16200000" flipV="1">
            <a:off x="3619500" y="4114800"/>
            <a:ext cx="762000" cy="1066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50" idx="0"/>
            <a:endCxn id="51" idx="4"/>
          </p:cNvCxnSpPr>
          <p:nvPr/>
        </p:nvCxnSpPr>
        <p:spPr>
          <a:xfrm rot="16200000" flipV="1">
            <a:off x="4076700" y="3657600"/>
            <a:ext cx="762000" cy="1981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49" idx="0"/>
            <a:endCxn id="52" idx="4"/>
          </p:cNvCxnSpPr>
          <p:nvPr/>
        </p:nvCxnSpPr>
        <p:spPr>
          <a:xfrm rot="5400000" flipH="1" flipV="1">
            <a:off x="3695700" y="4191000"/>
            <a:ext cx="762000" cy="914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8" idx="0"/>
            <a:endCxn id="52" idx="4"/>
          </p:cNvCxnSpPr>
          <p:nvPr/>
        </p:nvCxnSpPr>
        <p:spPr>
          <a:xfrm rot="5400000" flipH="1" flipV="1">
            <a:off x="4152900" y="4648200"/>
            <a:ext cx="7620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50" idx="0"/>
            <a:endCxn id="52" idx="4"/>
          </p:cNvCxnSpPr>
          <p:nvPr/>
        </p:nvCxnSpPr>
        <p:spPr>
          <a:xfrm rot="16200000" flipV="1">
            <a:off x="4610100" y="4191000"/>
            <a:ext cx="762000" cy="914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8" idx="0"/>
            <a:endCxn id="53" idx="4"/>
          </p:cNvCxnSpPr>
          <p:nvPr/>
        </p:nvCxnSpPr>
        <p:spPr>
          <a:xfrm rot="5400000" flipH="1" flipV="1">
            <a:off x="4686300" y="4114800"/>
            <a:ext cx="762000" cy="1066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50" idx="0"/>
            <a:endCxn id="53" idx="4"/>
          </p:cNvCxnSpPr>
          <p:nvPr/>
        </p:nvCxnSpPr>
        <p:spPr>
          <a:xfrm rot="5400000" flipH="1" flipV="1">
            <a:off x="5143500" y="4572000"/>
            <a:ext cx="762000" cy="152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49" idx="0"/>
            <a:endCxn id="53" idx="4"/>
          </p:cNvCxnSpPr>
          <p:nvPr/>
        </p:nvCxnSpPr>
        <p:spPr>
          <a:xfrm rot="5400000" flipH="1" flipV="1">
            <a:off x="4229100" y="3657600"/>
            <a:ext cx="762000" cy="1981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1" idx="0"/>
            <a:endCxn id="55" idx="4"/>
          </p:cNvCxnSpPr>
          <p:nvPr/>
        </p:nvCxnSpPr>
        <p:spPr>
          <a:xfrm rot="5400000" flipH="1" flipV="1">
            <a:off x="3771900" y="2514600"/>
            <a:ext cx="914400" cy="1524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52" idx="0"/>
            <a:endCxn id="55" idx="4"/>
          </p:cNvCxnSpPr>
          <p:nvPr/>
        </p:nvCxnSpPr>
        <p:spPr>
          <a:xfrm rot="5400000" flipH="1" flipV="1">
            <a:off x="4305300" y="3048000"/>
            <a:ext cx="914400" cy="457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53" idx="0"/>
            <a:endCxn id="55" idx="4"/>
          </p:cNvCxnSpPr>
          <p:nvPr/>
        </p:nvCxnSpPr>
        <p:spPr>
          <a:xfrm rot="16200000" flipV="1">
            <a:off x="4838700" y="2971800"/>
            <a:ext cx="9144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286000" y="2362200"/>
            <a:ext cx="137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layer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76400" y="3810000"/>
            <a:ext cx="1364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layer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32516" y="5105400"/>
            <a:ext cx="1167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cxnSp>
        <p:nvCxnSpPr>
          <p:cNvPr id="65" name="Straight Arrow Connector 64"/>
          <p:cNvCxnSpPr>
            <a:stCxn id="51" idx="0"/>
            <a:endCxn id="54" idx="4"/>
          </p:cNvCxnSpPr>
          <p:nvPr/>
        </p:nvCxnSpPr>
        <p:spPr>
          <a:xfrm rot="5400000" flipH="1" flipV="1">
            <a:off x="3314700" y="2971800"/>
            <a:ext cx="9144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2" idx="0"/>
            <a:endCxn id="54" idx="4"/>
          </p:cNvCxnSpPr>
          <p:nvPr/>
        </p:nvCxnSpPr>
        <p:spPr>
          <a:xfrm rot="16200000" flipV="1">
            <a:off x="3848100" y="3048000"/>
            <a:ext cx="914400" cy="457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3" idx="0"/>
            <a:endCxn id="54" idx="4"/>
          </p:cNvCxnSpPr>
          <p:nvPr/>
        </p:nvCxnSpPr>
        <p:spPr>
          <a:xfrm rot="16200000" flipV="1">
            <a:off x="4381500" y="2514600"/>
            <a:ext cx="914400" cy="1524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1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1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1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1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70" grpId="0"/>
      <p:bldP spid="51" grpId="0" animBg="1"/>
      <p:bldP spid="52" grpId="0" animBg="1"/>
      <p:bldP spid="53" grpId="0" animBg="1"/>
      <p:bldP spid="5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C88C22-1DD8-4E0C-8B6D-61E794164CB2}" type="slidenum">
              <a:rPr lang="en-US"/>
              <a:pPr/>
              <a:t>45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539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</a:t>
            </a:r>
            <a:r>
              <a:rPr lang="en-US" dirty="0" err="1"/>
              <a:t>Backpropagation</a:t>
            </a:r>
            <a:endParaRPr lang="en-US" dirty="0"/>
          </a:p>
        </p:txBody>
      </p:sp>
      <p:sp>
        <p:nvSpPr>
          <p:cNvPr id="2539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169987"/>
            <a:ext cx="7772400" cy="1116013"/>
          </a:xfrm>
        </p:spPr>
        <p:txBody>
          <a:bodyPr/>
          <a:lstStyle/>
          <a:p>
            <a:r>
              <a:rPr lang="en-US" sz="2800" dirty="0"/>
              <a:t>Next calculate error for hidden units based on errors on the output units it feeds into.</a:t>
            </a:r>
          </a:p>
        </p:txBody>
      </p:sp>
      <p:sp>
        <p:nvSpPr>
          <p:cNvPr id="253998" name="Text Box 46"/>
          <p:cNvSpPr txBox="1">
            <a:spLocks noChangeArrowheads="1"/>
          </p:cNvSpPr>
          <p:nvPr/>
        </p:nvSpPr>
        <p:spPr bwMode="auto">
          <a:xfrm>
            <a:off x="823913" y="3744913"/>
            <a:ext cx="18097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endParaRPr lang="en-US"/>
          </a:p>
        </p:txBody>
      </p:sp>
      <p:graphicFrame>
        <p:nvGraphicFramePr>
          <p:cNvPr id="253999" name="Object 47"/>
          <p:cNvGraphicFramePr>
            <a:graphicFrameLocks noChangeAspect="1"/>
          </p:cNvGraphicFramePr>
          <p:nvPr/>
        </p:nvGraphicFramePr>
        <p:xfrm>
          <a:off x="6400800" y="3733800"/>
          <a:ext cx="2514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8" name="Equation" r:id="rId3" imgW="1409400" imgH="342720" progId="Equation.DSMT4">
                  <p:embed/>
                </p:oleObj>
              </mc:Choice>
              <mc:Fallback>
                <p:oleObj name="Equation" r:id="rId3" imgW="1409400" imgH="3427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733800"/>
                        <a:ext cx="25146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Oval 46"/>
          <p:cNvSpPr/>
          <p:nvPr/>
        </p:nvSpPr>
        <p:spPr>
          <a:xfrm>
            <a:off x="4267200" y="5029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48" name="Oval 47"/>
          <p:cNvSpPr/>
          <p:nvPr/>
        </p:nvSpPr>
        <p:spPr>
          <a:xfrm>
            <a:off x="3352800" y="5029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49" name="Oval 48"/>
          <p:cNvSpPr/>
          <p:nvPr/>
        </p:nvSpPr>
        <p:spPr>
          <a:xfrm>
            <a:off x="5181600" y="5029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0" name="Oval 49"/>
          <p:cNvSpPr/>
          <p:nvPr/>
        </p:nvSpPr>
        <p:spPr>
          <a:xfrm>
            <a:off x="3200400" y="3733800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1" name="Oval 50"/>
          <p:cNvSpPr/>
          <p:nvPr/>
        </p:nvSpPr>
        <p:spPr>
          <a:xfrm>
            <a:off x="4267200" y="3733800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2" name="Oval 51"/>
          <p:cNvSpPr/>
          <p:nvPr/>
        </p:nvSpPr>
        <p:spPr>
          <a:xfrm>
            <a:off x="5334000" y="3733800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3" name="Oval 52"/>
          <p:cNvSpPr/>
          <p:nvPr/>
        </p:nvSpPr>
        <p:spPr>
          <a:xfrm>
            <a:off x="3810000" y="2286000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4" name="Oval 53"/>
          <p:cNvSpPr/>
          <p:nvPr/>
        </p:nvSpPr>
        <p:spPr>
          <a:xfrm>
            <a:off x="4724400" y="2286000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cxnSp>
        <p:nvCxnSpPr>
          <p:cNvPr id="55" name="Straight Arrow Connector 54"/>
          <p:cNvCxnSpPr>
            <a:stCxn id="48" idx="0"/>
            <a:endCxn id="50" idx="4"/>
          </p:cNvCxnSpPr>
          <p:nvPr/>
        </p:nvCxnSpPr>
        <p:spPr>
          <a:xfrm rot="16200000" flipV="1">
            <a:off x="3162300" y="4572000"/>
            <a:ext cx="762000" cy="152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7" idx="0"/>
            <a:endCxn id="50" idx="4"/>
          </p:cNvCxnSpPr>
          <p:nvPr/>
        </p:nvCxnSpPr>
        <p:spPr>
          <a:xfrm rot="16200000" flipV="1">
            <a:off x="3619500" y="4114800"/>
            <a:ext cx="762000" cy="1066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9" idx="0"/>
            <a:endCxn id="50" idx="4"/>
          </p:cNvCxnSpPr>
          <p:nvPr/>
        </p:nvCxnSpPr>
        <p:spPr>
          <a:xfrm rot="16200000" flipV="1">
            <a:off x="4076700" y="3657600"/>
            <a:ext cx="762000" cy="1981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8" idx="0"/>
            <a:endCxn id="51" idx="4"/>
          </p:cNvCxnSpPr>
          <p:nvPr/>
        </p:nvCxnSpPr>
        <p:spPr>
          <a:xfrm rot="5400000" flipH="1" flipV="1">
            <a:off x="3695700" y="4191000"/>
            <a:ext cx="762000" cy="914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47" idx="0"/>
            <a:endCxn id="51" idx="4"/>
          </p:cNvCxnSpPr>
          <p:nvPr/>
        </p:nvCxnSpPr>
        <p:spPr>
          <a:xfrm rot="5400000" flipH="1" flipV="1">
            <a:off x="4152900" y="4648200"/>
            <a:ext cx="7620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9" idx="0"/>
            <a:endCxn id="51" idx="4"/>
          </p:cNvCxnSpPr>
          <p:nvPr/>
        </p:nvCxnSpPr>
        <p:spPr>
          <a:xfrm rot="16200000" flipV="1">
            <a:off x="4610100" y="4191000"/>
            <a:ext cx="762000" cy="914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7" idx="0"/>
            <a:endCxn id="52" idx="4"/>
          </p:cNvCxnSpPr>
          <p:nvPr/>
        </p:nvCxnSpPr>
        <p:spPr>
          <a:xfrm rot="5400000" flipH="1" flipV="1">
            <a:off x="4686300" y="4114800"/>
            <a:ext cx="762000" cy="1066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9" idx="0"/>
            <a:endCxn id="52" idx="4"/>
          </p:cNvCxnSpPr>
          <p:nvPr/>
        </p:nvCxnSpPr>
        <p:spPr>
          <a:xfrm rot="5400000" flipH="1" flipV="1">
            <a:off x="5143500" y="4572000"/>
            <a:ext cx="762000" cy="152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48" idx="0"/>
            <a:endCxn id="52" idx="4"/>
          </p:cNvCxnSpPr>
          <p:nvPr/>
        </p:nvCxnSpPr>
        <p:spPr>
          <a:xfrm rot="5400000" flipH="1" flipV="1">
            <a:off x="4229100" y="3657600"/>
            <a:ext cx="762000" cy="1981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51" idx="0"/>
            <a:endCxn id="53" idx="4"/>
          </p:cNvCxnSpPr>
          <p:nvPr/>
        </p:nvCxnSpPr>
        <p:spPr>
          <a:xfrm rot="16200000" flipV="1">
            <a:off x="3848100" y="3048000"/>
            <a:ext cx="914400" cy="457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2" idx="0"/>
            <a:endCxn id="53" idx="4"/>
          </p:cNvCxnSpPr>
          <p:nvPr/>
        </p:nvCxnSpPr>
        <p:spPr>
          <a:xfrm rot="16200000" flipV="1">
            <a:off x="4381500" y="2514600"/>
            <a:ext cx="914400" cy="1524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1" idx="0"/>
            <a:endCxn id="54" idx="4"/>
          </p:cNvCxnSpPr>
          <p:nvPr/>
        </p:nvCxnSpPr>
        <p:spPr>
          <a:xfrm rot="5400000" flipH="1" flipV="1">
            <a:off x="4305300" y="3048000"/>
            <a:ext cx="914400" cy="457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52" idx="0"/>
            <a:endCxn id="54" idx="4"/>
          </p:cNvCxnSpPr>
          <p:nvPr/>
        </p:nvCxnSpPr>
        <p:spPr>
          <a:xfrm rot="16200000" flipV="1">
            <a:off x="4838700" y="2971800"/>
            <a:ext cx="9144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286000" y="2362200"/>
            <a:ext cx="137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layer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76400" y="3810000"/>
            <a:ext cx="1364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layer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32516" y="5105400"/>
            <a:ext cx="1167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  <p:cxnSp>
        <p:nvCxnSpPr>
          <p:cNvPr id="64" name="Straight Arrow Connector 63"/>
          <p:cNvCxnSpPr>
            <a:stCxn id="50" idx="0"/>
            <a:endCxn id="53" idx="4"/>
          </p:cNvCxnSpPr>
          <p:nvPr/>
        </p:nvCxnSpPr>
        <p:spPr>
          <a:xfrm rot="5400000" flipH="1" flipV="1">
            <a:off x="3314700" y="2971800"/>
            <a:ext cx="9144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0" idx="0"/>
            <a:endCxn id="54" idx="4"/>
          </p:cNvCxnSpPr>
          <p:nvPr/>
        </p:nvCxnSpPr>
        <p:spPr>
          <a:xfrm rot="5400000" flipH="1" flipV="1">
            <a:off x="3771900" y="2514600"/>
            <a:ext cx="914400" cy="1524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1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51AA42-67E3-417E-B2A2-726E08AADA75}" type="slidenum">
              <a:rPr lang="en-US"/>
              <a:pPr/>
              <a:t>46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</a:t>
            </a:r>
            <a:r>
              <a:rPr lang="en-US" dirty="0" err="1"/>
              <a:t>Backpropagation</a:t>
            </a:r>
            <a:endParaRPr lang="en-US" dirty="0"/>
          </a:p>
        </p:txBody>
      </p:sp>
      <p:sp>
        <p:nvSpPr>
          <p:cNvPr id="2549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169987"/>
            <a:ext cx="7772400" cy="1116013"/>
          </a:xfrm>
        </p:spPr>
        <p:txBody>
          <a:bodyPr/>
          <a:lstStyle/>
          <a:p>
            <a:r>
              <a:rPr lang="en-US" sz="2800" dirty="0"/>
              <a:t>Finally update bottom layer of weights based on errors calculated for hidden units.</a:t>
            </a:r>
          </a:p>
        </p:txBody>
      </p:sp>
      <p:sp>
        <p:nvSpPr>
          <p:cNvPr id="255013" name="Text Box 37"/>
          <p:cNvSpPr txBox="1">
            <a:spLocks noChangeArrowheads="1"/>
          </p:cNvSpPr>
          <p:nvPr/>
        </p:nvSpPr>
        <p:spPr bwMode="auto">
          <a:xfrm>
            <a:off x="6919913" y="3516313"/>
            <a:ext cx="18097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255027" name="Text Box 51"/>
          <p:cNvSpPr txBox="1">
            <a:spLocks noChangeArrowheads="1"/>
          </p:cNvSpPr>
          <p:nvPr/>
        </p:nvSpPr>
        <p:spPr bwMode="auto">
          <a:xfrm>
            <a:off x="6705600" y="4248150"/>
            <a:ext cx="2237000" cy="3715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 dirty="0"/>
              <a:t>Update weights into </a:t>
            </a:r>
            <a:r>
              <a:rPr lang="en-US" i="1" dirty="0"/>
              <a:t>h</a:t>
            </a:r>
          </a:p>
        </p:txBody>
      </p:sp>
      <p:graphicFrame>
        <p:nvGraphicFramePr>
          <p:cNvPr id="51204" name="Object 4"/>
          <p:cNvGraphicFramePr>
            <a:graphicFrameLocks noChangeAspect="1"/>
          </p:cNvGraphicFramePr>
          <p:nvPr/>
        </p:nvGraphicFramePr>
        <p:xfrm>
          <a:off x="6629400" y="3733800"/>
          <a:ext cx="2514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4" name="Equation" r:id="rId3" imgW="1409400" imgH="342720" progId="Equation.DSMT4">
                  <p:embed/>
                </p:oleObj>
              </mc:Choice>
              <mc:Fallback>
                <p:oleObj name="Equation" r:id="rId3" imgW="1409400" imgH="3427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733800"/>
                        <a:ext cx="25146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7010400" y="4686300"/>
          <a:ext cx="1600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5" name="Equation" r:id="rId5" imgW="1066680" imgH="228600" progId="Equation.DSMT4">
                  <p:embed/>
                </p:oleObj>
              </mc:Choice>
              <mc:Fallback>
                <p:oleObj name="Equation" r:id="rId5" imgW="106668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686300"/>
                        <a:ext cx="1600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Oval 51"/>
          <p:cNvSpPr/>
          <p:nvPr/>
        </p:nvSpPr>
        <p:spPr>
          <a:xfrm>
            <a:off x="4267200" y="5029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3" name="Oval 52"/>
          <p:cNvSpPr/>
          <p:nvPr/>
        </p:nvSpPr>
        <p:spPr>
          <a:xfrm>
            <a:off x="3352800" y="5029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4" name="Oval 53"/>
          <p:cNvSpPr/>
          <p:nvPr/>
        </p:nvSpPr>
        <p:spPr>
          <a:xfrm>
            <a:off x="5181600" y="5029200"/>
            <a:ext cx="533400" cy="533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5" name="Oval 54"/>
          <p:cNvSpPr/>
          <p:nvPr/>
        </p:nvSpPr>
        <p:spPr>
          <a:xfrm>
            <a:off x="3200400" y="3733800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6" name="Oval 55"/>
          <p:cNvSpPr/>
          <p:nvPr/>
        </p:nvSpPr>
        <p:spPr>
          <a:xfrm>
            <a:off x="4267200" y="3733800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7" name="Oval 56"/>
          <p:cNvSpPr/>
          <p:nvPr/>
        </p:nvSpPr>
        <p:spPr>
          <a:xfrm>
            <a:off x="5334000" y="3733800"/>
            <a:ext cx="533400" cy="5334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8" name="Oval 57"/>
          <p:cNvSpPr/>
          <p:nvPr/>
        </p:nvSpPr>
        <p:spPr>
          <a:xfrm>
            <a:off x="3810000" y="2286000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sp>
        <p:nvSpPr>
          <p:cNvPr id="59" name="Oval 58"/>
          <p:cNvSpPr/>
          <p:nvPr/>
        </p:nvSpPr>
        <p:spPr>
          <a:xfrm>
            <a:off x="4724400" y="2286000"/>
            <a:ext cx="533400" cy="53340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endParaRPr lang="en-US" baseline="-25000" dirty="0"/>
          </a:p>
        </p:txBody>
      </p:sp>
      <p:cxnSp>
        <p:nvCxnSpPr>
          <p:cNvPr id="60" name="Straight Arrow Connector 59"/>
          <p:cNvCxnSpPr>
            <a:stCxn id="53" idx="0"/>
            <a:endCxn id="55" idx="4"/>
          </p:cNvCxnSpPr>
          <p:nvPr/>
        </p:nvCxnSpPr>
        <p:spPr>
          <a:xfrm rot="16200000" flipV="1">
            <a:off x="3162300" y="4572000"/>
            <a:ext cx="762000" cy="152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52" idx="0"/>
            <a:endCxn id="55" idx="4"/>
          </p:cNvCxnSpPr>
          <p:nvPr/>
        </p:nvCxnSpPr>
        <p:spPr>
          <a:xfrm rot="16200000" flipV="1">
            <a:off x="3619500" y="4114800"/>
            <a:ext cx="762000" cy="1066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4" idx="0"/>
            <a:endCxn id="55" idx="4"/>
          </p:cNvCxnSpPr>
          <p:nvPr/>
        </p:nvCxnSpPr>
        <p:spPr>
          <a:xfrm rot="16200000" flipV="1">
            <a:off x="4076700" y="3657600"/>
            <a:ext cx="762000" cy="1981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53" idx="0"/>
            <a:endCxn id="56" idx="4"/>
          </p:cNvCxnSpPr>
          <p:nvPr/>
        </p:nvCxnSpPr>
        <p:spPr>
          <a:xfrm rot="5400000" flipH="1" flipV="1">
            <a:off x="3695700" y="4191000"/>
            <a:ext cx="762000" cy="914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52" idx="0"/>
            <a:endCxn id="56" idx="4"/>
          </p:cNvCxnSpPr>
          <p:nvPr/>
        </p:nvCxnSpPr>
        <p:spPr>
          <a:xfrm rot="5400000" flipH="1" flipV="1">
            <a:off x="4152900" y="4648200"/>
            <a:ext cx="7620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54" idx="0"/>
            <a:endCxn id="56" idx="4"/>
          </p:cNvCxnSpPr>
          <p:nvPr/>
        </p:nvCxnSpPr>
        <p:spPr>
          <a:xfrm rot="16200000" flipV="1">
            <a:off x="4610100" y="4191000"/>
            <a:ext cx="762000" cy="914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2" idx="0"/>
            <a:endCxn id="57" idx="4"/>
          </p:cNvCxnSpPr>
          <p:nvPr/>
        </p:nvCxnSpPr>
        <p:spPr>
          <a:xfrm rot="5400000" flipH="1" flipV="1">
            <a:off x="4686300" y="4114800"/>
            <a:ext cx="762000" cy="1066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4" idx="0"/>
            <a:endCxn id="57" idx="4"/>
          </p:cNvCxnSpPr>
          <p:nvPr/>
        </p:nvCxnSpPr>
        <p:spPr>
          <a:xfrm rot="5400000" flipH="1" flipV="1">
            <a:off x="5143500" y="4572000"/>
            <a:ext cx="762000" cy="152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3" idx="0"/>
            <a:endCxn id="57" idx="4"/>
          </p:cNvCxnSpPr>
          <p:nvPr/>
        </p:nvCxnSpPr>
        <p:spPr>
          <a:xfrm rot="5400000" flipH="1" flipV="1">
            <a:off x="4229100" y="3657600"/>
            <a:ext cx="762000" cy="1981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55" idx="0"/>
            <a:endCxn id="58" idx="4"/>
          </p:cNvCxnSpPr>
          <p:nvPr/>
        </p:nvCxnSpPr>
        <p:spPr>
          <a:xfrm rot="5400000" flipH="1" flipV="1">
            <a:off x="3314700" y="2971800"/>
            <a:ext cx="9144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56" idx="0"/>
            <a:endCxn id="58" idx="4"/>
          </p:cNvCxnSpPr>
          <p:nvPr/>
        </p:nvCxnSpPr>
        <p:spPr>
          <a:xfrm rot="16200000" flipV="1">
            <a:off x="3848100" y="3048000"/>
            <a:ext cx="914400" cy="457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57" idx="0"/>
            <a:endCxn id="58" idx="4"/>
          </p:cNvCxnSpPr>
          <p:nvPr/>
        </p:nvCxnSpPr>
        <p:spPr>
          <a:xfrm rot="16200000" flipV="1">
            <a:off x="4381500" y="2514600"/>
            <a:ext cx="914400" cy="1524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55" idx="0"/>
            <a:endCxn id="59" idx="4"/>
          </p:cNvCxnSpPr>
          <p:nvPr/>
        </p:nvCxnSpPr>
        <p:spPr>
          <a:xfrm rot="5400000" flipH="1" flipV="1">
            <a:off x="3771900" y="2514600"/>
            <a:ext cx="914400" cy="1524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56" idx="0"/>
            <a:endCxn id="59" idx="4"/>
          </p:cNvCxnSpPr>
          <p:nvPr/>
        </p:nvCxnSpPr>
        <p:spPr>
          <a:xfrm rot="5400000" flipH="1" flipV="1">
            <a:off x="4305300" y="3048000"/>
            <a:ext cx="914400" cy="457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57" idx="0"/>
            <a:endCxn id="59" idx="4"/>
          </p:cNvCxnSpPr>
          <p:nvPr/>
        </p:nvCxnSpPr>
        <p:spPr>
          <a:xfrm rot="16200000" flipV="1">
            <a:off x="4838700" y="2971800"/>
            <a:ext cx="9144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286000" y="2362200"/>
            <a:ext cx="137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layer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76400" y="3810000"/>
            <a:ext cx="1364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layer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32516" y="5105400"/>
            <a:ext cx="1167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layer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1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1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1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027" grpId="0"/>
      <p:bldP spid="52" grpId="0" animBg="1"/>
      <p:bldP spid="53" grpId="0" animBg="1"/>
      <p:bldP spid="54" grpId="0" animBg="1"/>
      <p:bldP spid="5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on </a:t>
            </a:r>
            <a:r>
              <a:rPr lang="en-US" dirty="0" err="1"/>
              <a:t>Backpropagation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Autofit/>
          </a:bodyPr>
          <a:lstStyle/>
          <a:p>
            <a:r>
              <a:rPr lang="en-US" sz="2800" dirty="0"/>
              <a:t>Not guaranteed to converge to zero training error, may converge to </a:t>
            </a:r>
            <a:r>
              <a:rPr lang="en-US" sz="2800" dirty="0">
                <a:solidFill>
                  <a:srgbClr val="FF0000"/>
                </a:solidFill>
              </a:rPr>
              <a:t>local optima </a:t>
            </a:r>
            <a:r>
              <a:rPr lang="en-US" sz="2800" dirty="0"/>
              <a:t>or oscillate indefinitely.</a:t>
            </a:r>
          </a:p>
          <a:p>
            <a:pPr lvl="1"/>
            <a:r>
              <a:rPr lang="en-US" sz="2400" dirty="0"/>
              <a:t>To avoid local-minima problems, Run several trials starting with different random weights (random restarts)</a:t>
            </a:r>
          </a:p>
          <a:p>
            <a:pPr lvl="2"/>
            <a:r>
              <a:rPr lang="en-US" sz="2100" dirty="0"/>
              <a:t>Take results of trial with lowest training set error.</a:t>
            </a:r>
          </a:p>
          <a:p>
            <a:pPr lvl="2"/>
            <a:r>
              <a:rPr lang="en-US" sz="2400" dirty="0"/>
              <a:t>Build a committee of results from multiple trials (possibly weighting votes by training set accuracy).</a:t>
            </a:r>
          </a:p>
          <a:p>
            <a:pPr lvl="1"/>
            <a:r>
              <a:rPr lang="en-US" sz="2400" dirty="0"/>
              <a:t>However, in practice, does converge to low error for many large networks on real data.</a:t>
            </a:r>
          </a:p>
          <a:p>
            <a:r>
              <a:rPr lang="en-US" sz="2800" dirty="0"/>
              <a:t>Many epochs (thousands) may be required, hours or days of training for large networks.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optima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It is the trap for gradient descent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1333735" y="3770871"/>
            <a:ext cx="2972594" cy="12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820194" y="5257006"/>
            <a:ext cx="3352800" cy="79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2895600" y="3352800"/>
            <a:ext cx="2851265" cy="1672244"/>
          </a:xfrm>
          <a:custGeom>
            <a:avLst/>
            <a:gdLst>
              <a:gd name="connsiteX0" fmla="*/ 0 w 2851265"/>
              <a:gd name="connsiteY0" fmla="*/ 0 h 1672244"/>
              <a:gd name="connsiteX1" fmla="*/ 523702 w 2851265"/>
              <a:gd name="connsiteY1" fmla="*/ 1321724 h 1672244"/>
              <a:gd name="connsiteX2" fmla="*/ 1030778 w 2851265"/>
              <a:gd name="connsiteY2" fmla="*/ 1612669 h 1672244"/>
              <a:gd name="connsiteX3" fmla="*/ 1637607 w 2851265"/>
              <a:gd name="connsiteY3" fmla="*/ 964276 h 1672244"/>
              <a:gd name="connsiteX4" fmla="*/ 2069869 w 2851265"/>
              <a:gd name="connsiteY4" fmla="*/ 1296785 h 1672244"/>
              <a:gd name="connsiteX5" fmla="*/ 2468880 w 2851265"/>
              <a:gd name="connsiteY5" fmla="*/ 939338 h 1672244"/>
              <a:gd name="connsiteX6" fmla="*/ 2851265 w 2851265"/>
              <a:gd name="connsiteY6" fmla="*/ 224444 h 1672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51265" h="1672244">
                <a:moveTo>
                  <a:pt x="0" y="0"/>
                </a:moveTo>
                <a:cubicBezTo>
                  <a:pt x="175953" y="526473"/>
                  <a:pt x="351906" y="1052946"/>
                  <a:pt x="523702" y="1321724"/>
                </a:cubicBezTo>
                <a:cubicBezTo>
                  <a:pt x="695498" y="1590502"/>
                  <a:pt x="845127" y="1672244"/>
                  <a:pt x="1030778" y="1612669"/>
                </a:cubicBezTo>
                <a:cubicBezTo>
                  <a:pt x="1216429" y="1553094"/>
                  <a:pt x="1464425" y="1016923"/>
                  <a:pt x="1637607" y="964276"/>
                </a:cubicBezTo>
                <a:cubicBezTo>
                  <a:pt x="1810789" y="911629"/>
                  <a:pt x="1931324" y="1300941"/>
                  <a:pt x="2069869" y="1296785"/>
                </a:cubicBezTo>
                <a:cubicBezTo>
                  <a:pt x="2208414" y="1292629"/>
                  <a:pt x="2338647" y="1118061"/>
                  <a:pt x="2468880" y="939338"/>
                </a:cubicBezTo>
                <a:cubicBezTo>
                  <a:pt x="2599113" y="760615"/>
                  <a:pt x="2725189" y="492529"/>
                  <a:pt x="2851265" y="224444"/>
                </a:cubicBezTo>
              </a:path>
            </a:pathLst>
          </a:cu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429000" y="5410200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815" y="4888468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</a:t>
            </a:r>
          </a:p>
        </p:txBody>
      </p:sp>
      <p:cxnSp>
        <p:nvCxnSpPr>
          <p:cNvPr id="16" name="Straight Arrow Connector 15"/>
          <p:cNvCxnSpPr>
            <a:stCxn id="14" idx="0"/>
            <a:endCxn id="12" idx="4"/>
          </p:cNvCxnSpPr>
          <p:nvPr/>
        </p:nvCxnSpPr>
        <p:spPr>
          <a:xfrm rot="16200000" flipV="1">
            <a:off x="4861498" y="4753558"/>
            <a:ext cx="238883" cy="309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0"/>
          </p:cNvCxnSpPr>
          <p:nvPr/>
        </p:nvCxnSpPr>
        <p:spPr>
          <a:xfrm rot="16200000" flipV="1">
            <a:off x="3590555" y="5172445"/>
            <a:ext cx="457200" cy="183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5400000">
            <a:off x="5372100" y="4000500"/>
            <a:ext cx="2286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>
            <a:off x="5219700" y="4229100"/>
            <a:ext cx="2286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0800000" flipV="1">
            <a:off x="5029200" y="4495800"/>
            <a:ext cx="2286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2" idx="4"/>
          </p:cNvCxnSpPr>
          <p:nvPr/>
        </p:nvCxnSpPr>
        <p:spPr>
          <a:xfrm flipH="1" flipV="1">
            <a:off x="4724400" y="4419600"/>
            <a:ext cx="241070" cy="22998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4864330" y="4494415"/>
            <a:ext cx="164870" cy="15378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3136900" y="2427288"/>
          <a:ext cx="34163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6" name="Equation" r:id="rId3" imgW="1803240" imgH="253800" progId="Equation.DSMT4">
                  <p:embed/>
                </p:oleObj>
              </mc:Choice>
              <mc:Fallback>
                <p:oleObj name="Equation" r:id="rId3" imgW="1803240" imgH="2538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2427288"/>
                        <a:ext cx="34163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3124200" y="2895600"/>
          <a:ext cx="19732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7" name="Equation" r:id="rId5" imgW="1041120" imgH="253800" progId="Equation.DSMT4">
                  <p:embed/>
                </p:oleObj>
              </mc:Choice>
              <mc:Fallback>
                <p:oleObj name="Equation" r:id="rId5" imgW="1041120" imgH="253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95600"/>
                        <a:ext cx="197326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momentum to avoid the local optima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1333735" y="3770871"/>
            <a:ext cx="2972594" cy="12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2820194" y="5257006"/>
            <a:ext cx="3352800" cy="79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2895600" y="3352800"/>
            <a:ext cx="2851265" cy="1672244"/>
          </a:xfrm>
          <a:custGeom>
            <a:avLst/>
            <a:gdLst>
              <a:gd name="connsiteX0" fmla="*/ 0 w 2851265"/>
              <a:gd name="connsiteY0" fmla="*/ 0 h 1672244"/>
              <a:gd name="connsiteX1" fmla="*/ 523702 w 2851265"/>
              <a:gd name="connsiteY1" fmla="*/ 1321724 h 1672244"/>
              <a:gd name="connsiteX2" fmla="*/ 1030778 w 2851265"/>
              <a:gd name="connsiteY2" fmla="*/ 1612669 h 1672244"/>
              <a:gd name="connsiteX3" fmla="*/ 1637607 w 2851265"/>
              <a:gd name="connsiteY3" fmla="*/ 964276 h 1672244"/>
              <a:gd name="connsiteX4" fmla="*/ 2069869 w 2851265"/>
              <a:gd name="connsiteY4" fmla="*/ 1296785 h 1672244"/>
              <a:gd name="connsiteX5" fmla="*/ 2468880 w 2851265"/>
              <a:gd name="connsiteY5" fmla="*/ 939338 h 1672244"/>
              <a:gd name="connsiteX6" fmla="*/ 2851265 w 2851265"/>
              <a:gd name="connsiteY6" fmla="*/ 224444 h 1672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51265" h="1672244">
                <a:moveTo>
                  <a:pt x="0" y="0"/>
                </a:moveTo>
                <a:cubicBezTo>
                  <a:pt x="175953" y="526473"/>
                  <a:pt x="351906" y="1052946"/>
                  <a:pt x="523702" y="1321724"/>
                </a:cubicBezTo>
                <a:cubicBezTo>
                  <a:pt x="695498" y="1590502"/>
                  <a:pt x="845127" y="1672244"/>
                  <a:pt x="1030778" y="1612669"/>
                </a:cubicBezTo>
                <a:cubicBezTo>
                  <a:pt x="1216429" y="1553094"/>
                  <a:pt x="1464425" y="1016923"/>
                  <a:pt x="1637607" y="964276"/>
                </a:cubicBezTo>
                <a:cubicBezTo>
                  <a:pt x="1810789" y="911629"/>
                  <a:pt x="1931324" y="1300941"/>
                  <a:pt x="2069869" y="1296785"/>
                </a:cubicBezTo>
                <a:cubicBezTo>
                  <a:pt x="2208414" y="1292629"/>
                  <a:pt x="2338647" y="1118061"/>
                  <a:pt x="2468880" y="939338"/>
                </a:cubicBezTo>
                <a:cubicBezTo>
                  <a:pt x="2599113" y="760615"/>
                  <a:pt x="2725189" y="492529"/>
                  <a:pt x="2851265" y="224444"/>
                </a:cubicBezTo>
              </a:path>
            </a:pathLst>
          </a:cu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429000" y="5410200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8815" y="4888468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</a:t>
            </a:r>
          </a:p>
        </p:txBody>
      </p:sp>
      <p:cxnSp>
        <p:nvCxnSpPr>
          <p:cNvPr id="9" name="Straight Arrow Connector 8"/>
          <p:cNvCxnSpPr>
            <a:stCxn id="8" idx="0"/>
            <a:endCxn id="6" idx="4"/>
          </p:cNvCxnSpPr>
          <p:nvPr/>
        </p:nvCxnSpPr>
        <p:spPr>
          <a:xfrm rot="16200000" flipV="1">
            <a:off x="4861498" y="4753558"/>
            <a:ext cx="238883" cy="309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0"/>
          </p:cNvCxnSpPr>
          <p:nvPr/>
        </p:nvCxnSpPr>
        <p:spPr>
          <a:xfrm rot="16200000" flipV="1">
            <a:off x="3590555" y="5172445"/>
            <a:ext cx="457200" cy="183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5372100" y="4000500"/>
            <a:ext cx="2286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5219700" y="4229100"/>
            <a:ext cx="2286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 flipV="1">
            <a:off x="5029200" y="4495800"/>
            <a:ext cx="2286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4"/>
          </p:cNvCxnSpPr>
          <p:nvPr/>
        </p:nvCxnSpPr>
        <p:spPr>
          <a:xfrm flipH="1" flipV="1">
            <a:off x="4724400" y="4419600"/>
            <a:ext cx="241070" cy="22998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0800000">
            <a:off x="4572000" y="4267200"/>
            <a:ext cx="152400" cy="15239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" idx="3"/>
          </p:cNvCxnSpPr>
          <p:nvPr/>
        </p:nvCxnSpPr>
        <p:spPr>
          <a:xfrm flipH="1">
            <a:off x="4343400" y="4317076"/>
            <a:ext cx="189808" cy="1787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>
            <a:off x="4095404" y="4515196"/>
            <a:ext cx="228600" cy="1898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5400000">
            <a:off x="3886200" y="4724400"/>
            <a:ext cx="228603" cy="22860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0800000">
            <a:off x="3505200" y="4724402"/>
            <a:ext cx="304800" cy="22859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581400" y="47244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3048000" y="2870200"/>
          <a:ext cx="36814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1" name="Equation" r:id="rId3" imgW="1942920" imgH="253800" progId="Equation.DSMT4">
                  <p:embed/>
                </p:oleObj>
              </mc:Choice>
              <mc:Fallback>
                <p:oleObj name="Equation" r:id="rId3" imgW="1942920" imgH="2538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870200"/>
                        <a:ext cx="36814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4"/>
          <p:cNvGraphicFramePr>
            <a:graphicFrameLocks noChangeAspect="1"/>
          </p:cNvGraphicFramePr>
          <p:nvPr/>
        </p:nvGraphicFramePr>
        <p:xfrm>
          <a:off x="3048000" y="2413000"/>
          <a:ext cx="34163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2" name="Equation" r:id="rId5" imgW="1803240" imgH="253800" progId="Equation.DSMT4">
                  <p:embed/>
                </p:oleObj>
              </mc:Choice>
              <mc:Fallback>
                <p:oleObj name="Equation" r:id="rId5" imgW="1803240" imgH="2538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413000"/>
                        <a:ext cx="34163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Oval 40"/>
          <p:cNvSpPr/>
          <p:nvPr/>
        </p:nvSpPr>
        <p:spPr>
          <a:xfrm>
            <a:off x="5257800" y="2971800"/>
            <a:ext cx="3048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>
            <a:stCxn id="41" idx="5"/>
            <a:endCxn id="44" idx="1"/>
          </p:cNvCxnSpPr>
          <p:nvPr/>
        </p:nvCxnSpPr>
        <p:spPr>
          <a:xfrm rot="16200000" flipH="1">
            <a:off x="5578030" y="3171895"/>
            <a:ext cx="534103" cy="654237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172200" y="358140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[0,1]</a:t>
            </a:r>
          </a:p>
        </p:txBody>
      </p:sp>
      <p:sp>
        <p:nvSpPr>
          <p:cNvPr id="49" name="Oval 48"/>
          <p:cNvSpPr/>
          <p:nvPr/>
        </p:nvSpPr>
        <p:spPr>
          <a:xfrm>
            <a:off x="4256117" y="2971800"/>
            <a:ext cx="3048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>
            <a:stCxn id="49" idx="4"/>
            <a:endCxn id="51" idx="0"/>
          </p:cNvCxnSpPr>
          <p:nvPr/>
        </p:nvCxnSpPr>
        <p:spPr>
          <a:xfrm rot="5400000">
            <a:off x="4200252" y="3373135"/>
            <a:ext cx="304800" cy="11173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962400" y="3581400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[0,∞)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Representational Power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Boolean functions</a:t>
            </a:r>
            <a:r>
              <a:rPr lang="en-US" sz="2800" dirty="0"/>
              <a:t>: Any </a:t>
            </a:r>
            <a:r>
              <a:rPr lang="en-US" sz="2800" dirty="0" err="1"/>
              <a:t>boolean</a:t>
            </a:r>
            <a:r>
              <a:rPr lang="en-US" sz="2800" dirty="0"/>
              <a:t> function can be represented by a two-layer network with sufficient hidden units.</a:t>
            </a:r>
          </a:p>
          <a:p>
            <a:pPr>
              <a:lnSpc>
                <a:spcPct val="8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Continuous functions</a:t>
            </a:r>
            <a:r>
              <a:rPr lang="en-US" sz="2800" dirty="0"/>
              <a:t>: Any bounded continuous function can be approximated with arbitrarily small error by a two-layer network.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Sigmoid functions can act as a set of basis functions for composing more complex functions, like sine waves in Fourier analysis.</a:t>
            </a:r>
          </a:p>
          <a:p>
            <a:pPr>
              <a:lnSpc>
                <a:spcPct val="8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Arbitrary function</a:t>
            </a:r>
            <a:r>
              <a:rPr lang="en-US" sz="2800" dirty="0"/>
              <a:t>: Any function can be approximated to arbitrary accuracy by a two hidden layer.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Over-fitting Prevention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906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Running too many epochs can result in over-fitting.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Keep a hold-out validation set and test accuracy on it after every epoch. Stop training when additional epochs actually increase validation error.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To avoid losing training data for validation: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Use internal 10-fold CV on the training set to compute the average number of epochs that maximizes generalization accuracy.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Train final network on complete training set for this many epochs.</a:t>
            </a:r>
          </a:p>
        </p:txBody>
      </p:sp>
      <p:sp>
        <p:nvSpPr>
          <p:cNvPr id="263172" name="Line 4"/>
          <p:cNvSpPr>
            <a:spLocks noChangeShapeType="1"/>
          </p:cNvSpPr>
          <p:nvPr/>
        </p:nvSpPr>
        <p:spPr bwMode="auto">
          <a:xfrm>
            <a:off x="2033588" y="1793875"/>
            <a:ext cx="0" cy="1682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263173" name="Line 5"/>
          <p:cNvSpPr>
            <a:spLocks noChangeShapeType="1"/>
          </p:cNvSpPr>
          <p:nvPr/>
        </p:nvSpPr>
        <p:spPr bwMode="auto">
          <a:xfrm>
            <a:off x="2022475" y="3476625"/>
            <a:ext cx="424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263174" name="Text Box 6"/>
          <p:cNvSpPr txBox="1">
            <a:spLocks noChangeArrowheads="1"/>
          </p:cNvSpPr>
          <p:nvPr/>
        </p:nvSpPr>
        <p:spPr bwMode="auto">
          <a:xfrm rot="-5400000">
            <a:off x="1452563" y="2135187"/>
            <a:ext cx="6731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US"/>
              <a:t>error</a:t>
            </a:r>
          </a:p>
        </p:txBody>
      </p:sp>
      <p:sp>
        <p:nvSpPr>
          <p:cNvPr id="263177" name="Text Box 9"/>
          <p:cNvSpPr txBox="1">
            <a:spLocks noChangeArrowheads="1"/>
          </p:cNvSpPr>
          <p:nvPr/>
        </p:nvSpPr>
        <p:spPr bwMode="auto">
          <a:xfrm>
            <a:off x="6186488" y="3087688"/>
            <a:ext cx="17716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US">
                <a:solidFill>
                  <a:schemeClr val="tx2"/>
                </a:solidFill>
              </a:rPr>
              <a:t>on training data</a:t>
            </a:r>
          </a:p>
        </p:txBody>
      </p:sp>
      <p:sp>
        <p:nvSpPr>
          <p:cNvPr id="263180" name="Text Box 12"/>
          <p:cNvSpPr txBox="1">
            <a:spLocks noChangeArrowheads="1"/>
          </p:cNvSpPr>
          <p:nvPr/>
        </p:nvSpPr>
        <p:spPr bwMode="auto">
          <a:xfrm>
            <a:off x="6156325" y="2449513"/>
            <a:ext cx="1335088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</a:rPr>
              <a:t>on test data</a:t>
            </a:r>
          </a:p>
        </p:txBody>
      </p:sp>
      <p:sp>
        <p:nvSpPr>
          <p:cNvPr id="263181" name="Text Box 13"/>
          <p:cNvSpPr txBox="1">
            <a:spLocks noChangeArrowheads="1"/>
          </p:cNvSpPr>
          <p:nvPr/>
        </p:nvSpPr>
        <p:spPr bwMode="auto">
          <a:xfrm>
            <a:off x="1771650" y="3379788"/>
            <a:ext cx="30797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63182" name="Text Box 14"/>
          <p:cNvSpPr txBox="1">
            <a:spLocks noChangeArrowheads="1"/>
          </p:cNvSpPr>
          <p:nvPr/>
        </p:nvSpPr>
        <p:spPr bwMode="auto">
          <a:xfrm>
            <a:off x="3109913" y="3441700"/>
            <a:ext cx="192722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# training epochs</a:t>
            </a:r>
          </a:p>
        </p:txBody>
      </p:sp>
      <p:sp>
        <p:nvSpPr>
          <p:cNvPr id="263183" name="Freeform 15"/>
          <p:cNvSpPr>
            <a:spLocks/>
          </p:cNvSpPr>
          <p:nvPr/>
        </p:nvSpPr>
        <p:spPr bwMode="auto">
          <a:xfrm>
            <a:off x="2022475" y="2011363"/>
            <a:ext cx="4133850" cy="14509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0" y="262"/>
              </a:cxn>
              <a:cxn ang="0">
                <a:pos x="323" y="553"/>
              </a:cxn>
              <a:cxn ang="0">
                <a:pos x="722" y="776"/>
              </a:cxn>
              <a:cxn ang="0">
                <a:pos x="1460" y="868"/>
              </a:cxn>
              <a:cxn ang="0">
                <a:pos x="2212" y="884"/>
              </a:cxn>
              <a:cxn ang="0">
                <a:pos x="2604" y="914"/>
              </a:cxn>
            </a:cxnLst>
            <a:rect l="0" t="0" r="r" b="b"/>
            <a:pathLst>
              <a:path w="2604" h="914">
                <a:moveTo>
                  <a:pt x="0" y="0"/>
                </a:moveTo>
                <a:cubicBezTo>
                  <a:pt x="8" y="85"/>
                  <a:pt x="16" y="170"/>
                  <a:pt x="70" y="262"/>
                </a:cubicBezTo>
                <a:cubicBezTo>
                  <a:pt x="124" y="354"/>
                  <a:pt x="214" y="467"/>
                  <a:pt x="323" y="553"/>
                </a:cubicBezTo>
                <a:cubicBezTo>
                  <a:pt x="432" y="639"/>
                  <a:pt x="533" y="724"/>
                  <a:pt x="722" y="776"/>
                </a:cubicBezTo>
                <a:cubicBezTo>
                  <a:pt x="911" y="828"/>
                  <a:pt x="1212" y="850"/>
                  <a:pt x="1460" y="868"/>
                </a:cubicBezTo>
                <a:cubicBezTo>
                  <a:pt x="1708" y="886"/>
                  <a:pt x="2021" y="876"/>
                  <a:pt x="2212" y="884"/>
                </a:cubicBezTo>
                <a:cubicBezTo>
                  <a:pt x="2403" y="892"/>
                  <a:pt x="2543" y="914"/>
                  <a:pt x="2604" y="914"/>
                </a:cubicBez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263184" name="Freeform 16"/>
          <p:cNvSpPr>
            <a:spLocks/>
          </p:cNvSpPr>
          <p:nvPr/>
        </p:nvSpPr>
        <p:spPr bwMode="auto">
          <a:xfrm>
            <a:off x="2022475" y="2011363"/>
            <a:ext cx="4060825" cy="11826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9" y="277"/>
              </a:cxn>
              <a:cxn ang="0">
                <a:pos x="438" y="469"/>
              </a:cxn>
              <a:cxn ang="0">
                <a:pos x="1037" y="699"/>
              </a:cxn>
              <a:cxn ang="0">
                <a:pos x="1444" y="730"/>
              </a:cxn>
              <a:cxn ang="0">
                <a:pos x="2051" y="607"/>
              </a:cxn>
              <a:cxn ang="0">
                <a:pos x="2335" y="484"/>
              </a:cxn>
              <a:cxn ang="0">
                <a:pos x="2558" y="415"/>
              </a:cxn>
            </a:cxnLst>
            <a:rect l="0" t="0" r="r" b="b"/>
            <a:pathLst>
              <a:path w="2558" h="745">
                <a:moveTo>
                  <a:pt x="0" y="0"/>
                </a:moveTo>
                <a:cubicBezTo>
                  <a:pt x="33" y="99"/>
                  <a:pt x="66" y="199"/>
                  <a:pt x="139" y="277"/>
                </a:cubicBezTo>
                <a:cubicBezTo>
                  <a:pt x="212" y="355"/>
                  <a:pt x="288" y="399"/>
                  <a:pt x="438" y="469"/>
                </a:cubicBezTo>
                <a:cubicBezTo>
                  <a:pt x="588" y="539"/>
                  <a:pt x="869" y="655"/>
                  <a:pt x="1037" y="699"/>
                </a:cubicBezTo>
                <a:cubicBezTo>
                  <a:pt x="1205" y="743"/>
                  <a:pt x="1275" y="745"/>
                  <a:pt x="1444" y="730"/>
                </a:cubicBezTo>
                <a:cubicBezTo>
                  <a:pt x="1613" y="715"/>
                  <a:pt x="1903" y="648"/>
                  <a:pt x="2051" y="607"/>
                </a:cubicBezTo>
                <a:cubicBezTo>
                  <a:pt x="2199" y="566"/>
                  <a:pt x="2251" y="516"/>
                  <a:pt x="2335" y="484"/>
                </a:cubicBezTo>
                <a:cubicBezTo>
                  <a:pt x="2419" y="452"/>
                  <a:pt x="2525" y="430"/>
                  <a:pt x="2558" y="415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/>
              <a:t>Determining the Best </a:t>
            </a:r>
            <a:br>
              <a:rPr lang="en-US" sz="3200"/>
            </a:br>
            <a:r>
              <a:rPr lang="en-US" sz="3200"/>
              <a:t>Number of Hidden Units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906963"/>
          </a:xfrm>
        </p:spPr>
        <p:txBody>
          <a:bodyPr/>
          <a:lstStyle/>
          <a:p>
            <a:r>
              <a:rPr lang="en-US" sz="2400" dirty="0"/>
              <a:t>Too few hidden units prevents the network from adequately fitting the data.</a:t>
            </a:r>
          </a:p>
          <a:p>
            <a:r>
              <a:rPr lang="en-US" sz="2400" dirty="0"/>
              <a:t>Too many hidden units can result in over-fitting.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Use internal cross-validation to empirically determine an optimal number of hidden units.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265220" name="Line 4"/>
          <p:cNvSpPr>
            <a:spLocks noChangeShapeType="1"/>
          </p:cNvSpPr>
          <p:nvPr/>
        </p:nvSpPr>
        <p:spPr bwMode="auto">
          <a:xfrm>
            <a:off x="2106613" y="2770188"/>
            <a:ext cx="0" cy="1682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265221" name="Line 5"/>
          <p:cNvSpPr>
            <a:spLocks noChangeShapeType="1"/>
          </p:cNvSpPr>
          <p:nvPr/>
        </p:nvSpPr>
        <p:spPr bwMode="auto">
          <a:xfrm>
            <a:off x="2095500" y="4452938"/>
            <a:ext cx="424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265222" name="Text Box 6"/>
          <p:cNvSpPr txBox="1">
            <a:spLocks noChangeArrowheads="1"/>
          </p:cNvSpPr>
          <p:nvPr/>
        </p:nvSpPr>
        <p:spPr bwMode="auto">
          <a:xfrm rot="-5400000">
            <a:off x="1525588" y="3111500"/>
            <a:ext cx="6731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US"/>
              <a:t>error</a:t>
            </a:r>
          </a:p>
        </p:txBody>
      </p:sp>
      <p:sp>
        <p:nvSpPr>
          <p:cNvPr id="265223" name="Text Box 7"/>
          <p:cNvSpPr txBox="1">
            <a:spLocks noChangeArrowheads="1"/>
          </p:cNvSpPr>
          <p:nvPr/>
        </p:nvSpPr>
        <p:spPr bwMode="auto">
          <a:xfrm>
            <a:off x="6259513" y="4064000"/>
            <a:ext cx="17716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US">
                <a:solidFill>
                  <a:schemeClr val="tx2"/>
                </a:solidFill>
              </a:rPr>
              <a:t>on training data</a:t>
            </a:r>
          </a:p>
        </p:txBody>
      </p:sp>
      <p:sp>
        <p:nvSpPr>
          <p:cNvPr id="265224" name="Text Box 8"/>
          <p:cNvSpPr txBox="1">
            <a:spLocks noChangeArrowheads="1"/>
          </p:cNvSpPr>
          <p:nvPr/>
        </p:nvSpPr>
        <p:spPr bwMode="auto">
          <a:xfrm>
            <a:off x="6229350" y="3425825"/>
            <a:ext cx="1335088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</a:rPr>
              <a:t>on test data</a:t>
            </a:r>
          </a:p>
        </p:txBody>
      </p:sp>
      <p:sp>
        <p:nvSpPr>
          <p:cNvPr id="265225" name="Text Box 9"/>
          <p:cNvSpPr txBox="1">
            <a:spLocks noChangeArrowheads="1"/>
          </p:cNvSpPr>
          <p:nvPr/>
        </p:nvSpPr>
        <p:spPr bwMode="auto">
          <a:xfrm>
            <a:off x="1844675" y="4356100"/>
            <a:ext cx="30797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65226" name="Text Box 10"/>
          <p:cNvSpPr txBox="1">
            <a:spLocks noChangeArrowheads="1"/>
          </p:cNvSpPr>
          <p:nvPr/>
        </p:nvSpPr>
        <p:spPr bwMode="auto">
          <a:xfrm>
            <a:off x="3335338" y="4418013"/>
            <a:ext cx="1617662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/>
              <a:t># hidden units</a:t>
            </a:r>
          </a:p>
        </p:txBody>
      </p:sp>
      <p:sp>
        <p:nvSpPr>
          <p:cNvPr id="265227" name="Freeform 11"/>
          <p:cNvSpPr>
            <a:spLocks/>
          </p:cNvSpPr>
          <p:nvPr/>
        </p:nvSpPr>
        <p:spPr bwMode="auto">
          <a:xfrm>
            <a:off x="2095500" y="2987675"/>
            <a:ext cx="4133850" cy="14509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0" y="262"/>
              </a:cxn>
              <a:cxn ang="0">
                <a:pos x="323" y="553"/>
              </a:cxn>
              <a:cxn ang="0">
                <a:pos x="722" y="776"/>
              </a:cxn>
              <a:cxn ang="0">
                <a:pos x="1460" y="868"/>
              </a:cxn>
              <a:cxn ang="0">
                <a:pos x="2212" y="884"/>
              </a:cxn>
              <a:cxn ang="0">
                <a:pos x="2604" y="914"/>
              </a:cxn>
            </a:cxnLst>
            <a:rect l="0" t="0" r="r" b="b"/>
            <a:pathLst>
              <a:path w="2604" h="914">
                <a:moveTo>
                  <a:pt x="0" y="0"/>
                </a:moveTo>
                <a:cubicBezTo>
                  <a:pt x="8" y="85"/>
                  <a:pt x="16" y="170"/>
                  <a:pt x="70" y="262"/>
                </a:cubicBezTo>
                <a:cubicBezTo>
                  <a:pt x="124" y="354"/>
                  <a:pt x="214" y="467"/>
                  <a:pt x="323" y="553"/>
                </a:cubicBezTo>
                <a:cubicBezTo>
                  <a:pt x="432" y="639"/>
                  <a:pt x="533" y="724"/>
                  <a:pt x="722" y="776"/>
                </a:cubicBezTo>
                <a:cubicBezTo>
                  <a:pt x="911" y="828"/>
                  <a:pt x="1212" y="850"/>
                  <a:pt x="1460" y="868"/>
                </a:cubicBezTo>
                <a:cubicBezTo>
                  <a:pt x="1708" y="886"/>
                  <a:pt x="2021" y="876"/>
                  <a:pt x="2212" y="884"/>
                </a:cubicBezTo>
                <a:cubicBezTo>
                  <a:pt x="2403" y="892"/>
                  <a:pt x="2543" y="914"/>
                  <a:pt x="2604" y="914"/>
                </a:cubicBez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265228" name="Freeform 12"/>
          <p:cNvSpPr>
            <a:spLocks/>
          </p:cNvSpPr>
          <p:nvPr/>
        </p:nvSpPr>
        <p:spPr bwMode="auto">
          <a:xfrm>
            <a:off x="2095500" y="2987675"/>
            <a:ext cx="4060825" cy="11826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9" y="277"/>
              </a:cxn>
              <a:cxn ang="0">
                <a:pos x="438" y="469"/>
              </a:cxn>
              <a:cxn ang="0">
                <a:pos x="1037" y="699"/>
              </a:cxn>
              <a:cxn ang="0">
                <a:pos x="1444" y="730"/>
              </a:cxn>
              <a:cxn ang="0">
                <a:pos x="2051" y="607"/>
              </a:cxn>
              <a:cxn ang="0">
                <a:pos x="2335" y="484"/>
              </a:cxn>
              <a:cxn ang="0">
                <a:pos x="2558" y="415"/>
              </a:cxn>
            </a:cxnLst>
            <a:rect l="0" t="0" r="r" b="b"/>
            <a:pathLst>
              <a:path w="2558" h="745">
                <a:moveTo>
                  <a:pt x="0" y="0"/>
                </a:moveTo>
                <a:cubicBezTo>
                  <a:pt x="33" y="99"/>
                  <a:pt x="66" y="199"/>
                  <a:pt x="139" y="277"/>
                </a:cubicBezTo>
                <a:cubicBezTo>
                  <a:pt x="212" y="355"/>
                  <a:pt x="288" y="399"/>
                  <a:pt x="438" y="469"/>
                </a:cubicBezTo>
                <a:cubicBezTo>
                  <a:pt x="588" y="539"/>
                  <a:pt x="869" y="655"/>
                  <a:pt x="1037" y="699"/>
                </a:cubicBezTo>
                <a:cubicBezTo>
                  <a:pt x="1205" y="743"/>
                  <a:pt x="1275" y="745"/>
                  <a:pt x="1444" y="730"/>
                </a:cubicBezTo>
                <a:cubicBezTo>
                  <a:pt x="1613" y="715"/>
                  <a:pt x="1903" y="648"/>
                  <a:pt x="2051" y="607"/>
                </a:cubicBezTo>
                <a:cubicBezTo>
                  <a:pt x="2199" y="566"/>
                  <a:pt x="2251" y="516"/>
                  <a:pt x="2335" y="484"/>
                </a:cubicBezTo>
                <a:cubicBezTo>
                  <a:pt x="2419" y="452"/>
                  <a:pt x="2525" y="430"/>
                  <a:pt x="2558" y="415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XOR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Feed Forward </a:t>
            </a:r>
            <a:r>
              <a:rPr lang="en-US" dirty="0" err="1"/>
              <a:t>Backpropagation</a:t>
            </a:r>
            <a:r>
              <a:rPr lang="en-US" dirty="0"/>
              <a:t> for XOR problem</a:t>
            </a:r>
          </a:p>
        </p:txBody>
      </p:sp>
      <p:pic>
        <p:nvPicPr>
          <p:cNvPr id="4" name="Picture 3" descr="XOR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905000"/>
            <a:ext cx="5334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ALVINN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Steering on highway 90 mile/hour</a:t>
            </a:r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1676400"/>
            <a:ext cx="4315349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Face pose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Learn the pose of human face: 90% accuracy</a:t>
            </a: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981201"/>
            <a:ext cx="4879215" cy="4190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Perceptron</a:t>
            </a:r>
            <a:endParaRPr lang="en-US" dirty="0"/>
          </a:p>
          <a:p>
            <a:r>
              <a:rPr lang="en-US" dirty="0"/>
              <a:t>Gradient descent</a:t>
            </a:r>
          </a:p>
          <a:p>
            <a:r>
              <a:rPr lang="en-US" dirty="0"/>
              <a:t>Multi-layer networks</a:t>
            </a:r>
          </a:p>
          <a:p>
            <a:r>
              <a:rPr lang="en-US" dirty="0" err="1"/>
              <a:t>Backpropagation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Artificial Neural Networks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Artificial Neural Networks (ANN)&amp;quot;&quot;/&gt;&lt;property id=&quot;20307&quot; value=&quot;259&quot;/&gt;&lt;/object&gt;&lt;object type=&quot;3&quot; unique_id=&quot;10006&quot;&gt;&lt;property id=&quot;20148&quot; value=&quot;5&quot;/&gt;&lt;property id=&quot;20300&quot; value=&quot;Slide 3 - &amp;quot;Real Neurons&amp;quot;&quot;/&gt;&lt;property id=&quot;20307&quot; value=&quot;260&quot;/&gt;&lt;/object&gt;&lt;object type=&quot;3&quot; unique_id=&quot;10007&quot;&gt;&lt;property id=&quot;20148&quot; value=&quot;5&quot;/&gt;&lt;property id=&quot;20300&quot; value=&quot;Slide 7 - &amp;quot;History of ANN&amp;quot;&quot;/&gt;&lt;property id=&quot;20307&quot; value=&quot;261&quot;/&gt;&lt;/object&gt;&lt;object type=&quot;3&quot; unique_id=&quot;10008&quot;&gt;&lt;property id=&quot;20148&quot; value=&quot;5&quot;/&gt;&lt;property id=&quot;20300&quot; value=&quot;Slide 10 - &amp;quot;Hyperplane&amp;quot;&quot;/&gt;&lt;property id=&quot;20307&quot; value=&quot;257&quot;/&gt;&lt;/object&gt;&lt;object type=&quot;3&quot; unique_id=&quot;10009&quot;&gt;&lt;property id=&quot;20148&quot; value=&quot;5&quot;/&gt;&lt;property id=&quot;20300&quot; value=&quot;Slide 9 - &amp;quot;Perceptron&amp;quot;&quot;/&gt;&lt;property id=&quot;20307&quot; value=&quot;258&quot;/&gt;&lt;/object&gt;&lt;object type=&quot;3&quot; unique_id=&quot;10098&quot;&gt;&lt;property id=&quot;20148&quot; value=&quot;5&quot;/&gt;&lt;property id=&quot;20300&quot; value=&quot;Slide 4 - &amp;quot;Neural Communication&amp;quot;&quot;/&gt;&lt;property id=&quot;20307&quot; value=&quot;264&quot;/&gt;&lt;/object&gt;&lt;object type=&quot;3&quot; unique_id=&quot;10099&quot;&gt;&lt;property id=&quot;20148&quot; value=&quot;5&quot;/&gt;&lt;property id=&quot;20300&quot; value=&quot;Slide 5 - &amp;quot;Real Neural Learning&amp;quot;&quot;/&gt;&lt;property id=&quot;20307&quot; value=&quot;265&quot;/&gt;&lt;/object&gt;&lt;object type=&quot;3&quot; unique_id=&quot;10100&quot;&gt;&lt;property id=&quot;20148&quot; value=&quot;5&quot;/&gt;&lt;property id=&quot;20300&quot; value=&quot;Slide 6 - &amp;quot;Artificial Neuron Model&amp;quot;&quot;/&gt;&lt;property id=&quot;20307&quot; value=&quot;266&quot;/&gt;&lt;/object&gt;&lt;object type=&quot;3&quot; unique_id=&quot;10101&quot;&gt;&lt;property id=&quot;20148&quot; value=&quot;5&quot;/&gt;&lt;property id=&quot;20300&quot; value=&quot;Slide 52 - &amp;quot;Summary&amp;quot;&quot;/&gt;&lt;property id=&quot;20307&quot; value=&quot;262&quot;/&gt;&lt;/object&gt;&lt;object type=&quot;3&quot; unique_id=&quot;10308&quot;&gt;&lt;property id=&quot;20148&quot; value=&quot;5&quot;/&gt;&lt;property id=&quot;20300&quot; value=&quot;Slide 8 - &amp;quot;Applications&amp;quot;&quot;/&gt;&lt;property id=&quot;20307&quot; value=&quot;267&quot;/&gt;&lt;/object&gt;&lt;object type=&quot;3&quot; unique_id=&quot;10309&quot;&gt;&lt;property id=&quot;20148&quot; value=&quot;5&quot;/&gt;&lt;property id=&quot;20300&quot; value=&quot;Slide 17 - &amp;quot;AND Problem&amp;quot;&quot;/&gt;&lt;property id=&quot;20307&quot; value=&quot;268&quot;/&gt;&lt;/object&gt;&lt;object type=&quot;3&quot; unique_id=&quot;10310&quot;&gt;&lt;property id=&quot;20148&quot; value=&quot;5&quot;/&gt;&lt;property id=&quot;20300&quot; value=&quot;Slide 18 - &amp;quot;OR Problem&amp;quot;&quot;/&gt;&lt;property id=&quot;20307&quot; value=&quot;269&quot;/&gt;&lt;/object&gt;&lt;object type=&quot;3&quot; unique_id=&quot;10311&quot;&gt;&lt;property id=&quot;20148&quot; value=&quot;5&quot;/&gt;&lt;property id=&quot;20300&quot; value=&quot;Slide 19 - &amp;quot;XOR Problem&amp;quot;&quot;/&gt;&lt;property id=&quot;20307&quot; value=&quot;270&quot;/&gt;&lt;/object&gt;&lt;object type=&quot;3&quot; unique_id=&quot;10649&quot;&gt;&lt;property id=&quot;20148&quot; value=&quot;5&quot;/&gt;&lt;property id=&quot;20300&quot; value=&quot;Slide 12 - &amp;quot;Perceptron: Step 0&amp;quot;&quot;/&gt;&lt;property id=&quot;20307&quot; value=&quot;276&quot;/&gt;&lt;/object&gt;&lt;object type=&quot;3&quot; unique_id=&quot;10650&quot;&gt;&lt;property id=&quot;20148&quot; value=&quot;5&quot;/&gt;&lt;property id=&quot;20300&quot; value=&quot;Slide 13 - &amp;quot;Perceptron: Step 1&amp;quot;&quot;/&gt;&lt;property id=&quot;20307&quot; value=&quot;277&quot;/&gt;&lt;/object&gt;&lt;object type=&quot;3&quot; unique_id=&quot;10651&quot;&gt;&lt;property id=&quot;20148&quot; value=&quot;5&quot;/&gt;&lt;property id=&quot;20300&quot; value=&quot;Slide 14 - &amp;quot;Perceptron: Step 2&amp;quot;&quot;/&gt;&lt;property id=&quot;20307&quot; value=&quot;278&quot;/&gt;&lt;/object&gt;&lt;object type=&quot;3&quot; unique_id=&quot;10652&quot;&gt;&lt;property id=&quot;20148&quot; value=&quot;5&quot;/&gt;&lt;property id=&quot;20300&quot; value=&quot;Slide 15 - &amp;quot;Perceptron: Step 3&amp;quot;&quot;/&gt;&lt;property id=&quot;20307&quot; value=&quot;279&quot;/&gt;&lt;/object&gt;&lt;object type=&quot;3&quot; unique_id=&quot;10653&quot;&gt;&lt;property id=&quot;20148&quot; value=&quot;5&quot;/&gt;&lt;property id=&quot;20300&quot; value=&quot;Slide 16 - &amp;quot;Perceptron: Step 4&amp;quot;&quot;/&gt;&lt;property id=&quot;20307&quot; value=&quot;280&quot;/&gt;&lt;/object&gt;&lt;object type=&quot;3&quot; unique_id=&quot;10654&quot;&gt;&lt;property id=&quot;20148&quot; value=&quot;5&quot;/&gt;&lt;property id=&quot;20300&quot; value=&quot;Slide 27 - &amp;quot;Gradient Descent&amp;quot;&quot;/&gt;&lt;property id=&quot;20307&quot; value=&quot;281&quot;/&gt;&lt;/object&gt;&lt;object type=&quot;3&quot; unique_id=&quot;10655&quot;&gt;&lt;property id=&quot;20148&quot; value=&quot;5&quot;/&gt;&lt;property id=&quot;20300&quot; value=&quot;Slide 28 - &amp;quot;Mean Square Error (MSE)&amp;quot;&quot;/&gt;&lt;property id=&quot;20307&quot; value=&quot;282&quot;/&gt;&lt;/object&gt;&lt;object type=&quot;3&quot; unique_id=&quot;10656&quot;&gt;&lt;property id=&quot;20148&quot; value=&quot;5&quot;/&gt;&lt;property id=&quot;20300&quot; value=&quot;Slide 29 - &amp;quot;Estimate the gradient from error&amp;quot;&quot;/&gt;&lt;property id=&quot;20307&quot; value=&quot;283&quot;/&gt;&lt;/object&gt;&lt;object type=&quot;3&quot; unique_id=&quot;10657&quot;&gt;&lt;property id=&quot;20148&quot; value=&quot;5&quot;/&gt;&lt;property id=&quot;20300&quot; value=&quot;Slide 34 - &amp;quot;Sigmoid unit&amp;quot;&quot;/&gt;&lt;property id=&quot;20307&quot; value=&quot;285&quot;/&gt;&lt;/object&gt;&lt;object type=&quot;3&quot; unique_id=&quot;10658&quot;&gt;&lt;property id=&quot;20148&quot; value=&quot;5&quot;/&gt;&lt;property id=&quot;20300&quot; value=&quot;Slide 36 - &amp;quot;Backpropagation&amp;quot;&quot;/&gt;&lt;property id=&quot;20307&quot; value=&quot;284&quot;/&gt;&lt;/object&gt;&lt;object type=&quot;3&quot; unique_id=&quot;10814&quot;&gt;&lt;property id=&quot;20148&quot; value=&quot;5&quot;/&gt;&lt;property id=&quot;20300&quot; value=&quot;Slide 26 - &amp;quot;Linear unit&amp;quot;&quot;/&gt;&lt;property id=&quot;20307&quot; value=&quot;290&quot;/&gt;&lt;/object&gt;&lt;object type=&quot;3&quot; unique_id=&quot;10815&quot;&gt;&lt;property id=&quot;20148&quot; value=&quot;5&quot;/&gt;&lt;property id=&quot;20300&quot; value=&quot;Slide 30 - &amp;quot;Gradient Descent Algorithm&amp;quot;&quot;/&gt;&lt;property id=&quot;20307&quot; value=&quot;286&quot;/&gt;&lt;/object&gt;&lt;object type=&quot;3&quot; unique_id=&quot;10816&quot;&gt;&lt;property id=&quot;20148&quot; value=&quot;5&quot;/&gt;&lt;property id=&quot;20300&quot; value=&quot;Slide 31 - &amp;quot;Incremental Stochastic Gradient&amp;#x0D;&amp;#x0A;Descent&amp;quot;&quot;/&gt;&lt;property id=&quot;20307&quot; value=&quot;287&quot;/&gt;&lt;/object&gt;&lt;object type=&quot;3&quot; unique_id=&quot;10817&quot;&gt;&lt;property id=&quot;20148&quot; value=&quot;5&quot;/&gt;&lt;property id=&quot;20300&quot; value=&quot;Slide 32 - &amp;quot;Perceptron vs. Gradient Descent Rule&amp;quot;&quot;/&gt;&lt;property id=&quot;20307&quot; value=&quot;288&quot;/&gt;&lt;/object&gt;&lt;object type=&quot;3&quot; unique_id=&quot;10818&quot;&gt;&lt;property id=&quot;20148&quot; value=&quot;5&quot;/&gt;&lt;property id=&quot;20300&quot; value=&quot;Slide 33 - &amp;quot;Presentation of Training Examples&amp;quot;&quot;/&gt;&lt;property id=&quot;20307&quot; value=&quot;289&quot;/&gt;&lt;/object&gt;&lt;object type=&quot;3&quot; unique_id=&quot;11107&quot;&gt;&lt;property id=&quot;20148&quot; value=&quot;5&quot;/&gt;&lt;property id=&quot;20300&quot; value=&quot;Slide 20 - &amp;quot;Multi-layer networks&amp;quot;&quot;/&gt;&lt;property id=&quot;20307&quot; value=&quot;291&quot;/&gt;&lt;/object&gt;&lt;object type=&quot;3&quot; unique_id=&quot;11108&quot;&gt;&lt;property id=&quot;20148&quot; value=&quot;5&quot;/&gt;&lt;property id=&quot;20300&quot; value=&quot;Slide 23 - &amp;quot;XOR Problem: Layer 0&amp;quot;&quot;/&gt;&lt;property id=&quot;20307&quot; value=&quot;292&quot;/&gt;&lt;/object&gt;&lt;object type=&quot;3&quot; unique_id=&quot;11109&quot;&gt;&lt;property id=&quot;20148&quot; value=&quot;5&quot;/&gt;&lt;property id=&quot;20300&quot; value=&quot;Slide 24 - &amp;quot;XOR Problem : Layer 1&amp;quot;&quot;/&gt;&lt;property id=&quot;20307&quot; value=&quot;293&quot;/&gt;&lt;/object&gt;&lt;object type=&quot;3&quot; unique_id=&quot;11110&quot;&gt;&lt;property id=&quot;20148&quot; value=&quot;5&quot;/&gt;&lt;property id=&quot;20300&quot; value=&quot;Slide 25 - &amp;quot;XOR Problem : Layer 2&amp;quot;&quot;/&gt;&lt;property id=&quot;20307&quot; value=&quot;294&quot;/&gt;&lt;/object&gt;&lt;object type=&quot;3&quot; unique_id=&quot;11111&quot;&gt;&lt;property id=&quot;20148&quot; value=&quot;5&quot;/&gt;&lt;property id=&quot;20300&quot; value=&quot;Slide 35 - &amp;quot;Why sigmoid?&amp;quot;&quot;/&gt;&lt;property id=&quot;20307&quot; value=&quot;295&quot;/&gt;&lt;/object&gt;&lt;object type=&quot;3&quot; unique_id=&quot;11342&quot;&gt;&lt;property id=&quot;20148&quot; value=&quot;5&quot;/&gt;&lt;property id=&quot;20300&quot; value=&quot;Slide 37 - &amp;quot;Backpropagation Notation&amp;quot;&quot;/&gt;&lt;property id=&quot;20307&quot; value=&quot;296&quot;/&gt;&lt;/object&gt;&lt;object type=&quot;3&quot; unique_id=&quot;11343&quot;&gt;&lt;property id=&quot;20148&quot; value=&quot;5&quot;/&gt;&lt;property id=&quot;20300&quot; value=&quot;Slide 38 - &amp;quot;Derivation of Backpropagation&amp;quot;&quot;/&gt;&lt;property id=&quot;20307&quot; value=&quot;297&quot;/&gt;&lt;/object&gt;&lt;object type=&quot;3&quot; unique_id=&quot;11344&quot;&gt;&lt;property id=&quot;20148&quot; value=&quot;5&quot;/&gt;&lt;property id=&quot;20300&quot; value=&quot;Slide 39 - &amp;quot;Backpropagation Algorithm&amp;quot;&quot;/&gt;&lt;property id=&quot;20307&quot; value=&quot;298&quot;/&gt;&lt;/object&gt;&lt;object type=&quot;3&quot; unique_id=&quot;11985&quot;&gt;&lt;property id=&quot;20148&quot; value=&quot;5&quot;/&gt;&lt;property id=&quot;20300&quot; value=&quot;Slide 21 - &amp;quot;Hidden Unit Representations&amp;quot;&quot;/&gt;&lt;property id=&quot;20307&quot; value=&quot;304&quot;/&gt;&lt;/object&gt;&lt;object type=&quot;3&quot; unique_id=&quot;11986&quot;&gt;&lt;property id=&quot;20148&quot; value=&quot;5&quot;/&gt;&lt;property id=&quot;20300&quot; value=&quot;Slide 22 - &amp;quot;Hidden Unit Representations&amp;quot;&quot;/&gt;&lt;property id=&quot;20307&quot; value=&quot;309&quot;/&gt;&lt;/object&gt;&lt;object type=&quot;3&quot; unique_id=&quot;11987&quot;&gt;&lt;property id=&quot;20148&quot; value=&quot;5&quot;/&gt;&lt;property id=&quot;20300&quot; value=&quot;Slide 40 - &amp;quot;Error Backpropagation&amp;quot;&quot;/&gt;&lt;property id=&quot;20307&quot; value=&quot;300&quot;/&gt;&lt;/object&gt;&lt;object type=&quot;3&quot; unique_id=&quot;11988&quot;&gt;&lt;property id=&quot;20148&quot; value=&quot;5&quot;/&gt;&lt;property id=&quot;20300&quot; value=&quot;Slide 41 - &amp;quot;Error Backpropagation&amp;quot;&quot;/&gt;&lt;property id=&quot;20307&quot; value=&quot;301&quot;/&gt;&lt;/object&gt;&lt;object type=&quot;3&quot; unique_id=&quot;11989&quot;&gt;&lt;property id=&quot;20148&quot; value=&quot;5&quot;/&gt;&lt;property id=&quot;20300&quot; value=&quot;Slide 42 - &amp;quot;Error Backpropagation&amp;quot;&quot;/&gt;&lt;property id=&quot;20307&quot; value=&quot;302&quot;/&gt;&lt;/object&gt;&lt;object type=&quot;3&quot; unique_id=&quot;11990&quot;&gt;&lt;property id=&quot;20148&quot; value=&quot;5&quot;/&gt;&lt;property id=&quot;20300&quot; value=&quot;Slide 43 - &amp;quot;Comments on Backpropagation&amp;quot;&quot;/&gt;&lt;property id=&quot;20307&quot; value=&quot;299&quot;/&gt;&lt;/object&gt;&lt;object type=&quot;3&quot; unique_id=&quot;11991&quot;&gt;&lt;property id=&quot;20148&quot; value=&quot;5&quot;/&gt;&lt;property id=&quot;20300&quot; value=&quot;Slide 44 - &amp;quot;Local optima&amp;quot;&quot;/&gt;&lt;property id=&quot;20307&quot; value=&quot;303&quot;/&gt;&lt;/object&gt;&lt;object type=&quot;3&quot; unique_id=&quot;11992&quot;&gt;&lt;property id=&quot;20148&quot; value=&quot;5&quot;/&gt;&lt;property id=&quot;20300&quot; value=&quot;Slide 45 - &amp;quot;Momentum&amp;quot;&quot;/&gt;&lt;property id=&quot;20307&quot; value=&quot;308&quot;/&gt;&lt;/object&gt;&lt;object type=&quot;3&quot; unique_id=&quot;11993&quot;&gt;&lt;property id=&quot;20148&quot; value=&quot;5&quot;/&gt;&lt;property id=&quot;20300&quot; value=&quot;Slide 46 - &amp;quot;Representational Power&amp;quot;&quot;/&gt;&lt;property id=&quot;20307&quot; value=&quot;305&quot;/&gt;&lt;/object&gt;&lt;object type=&quot;3&quot; unique_id=&quot;11994&quot;&gt;&lt;property id=&quot;20148&quot; value=&quot;5&quot;/&gt;&lt;property id=&quot;20300&quot; value=&quot;Slide 47 - &amp;quot;Over-fitting Prevention&amp;quot;&quot;/&gt;&lt;property id=&quot;20307&quot; value=&quot;306&quot;/&gt;&lt;/object&gt;&lt;object type=&quot;3&quot; unique_id=&quot;11995&quot;&gt;&lt;property id=&quot;20148&quot; value=&quot;5&quot;/&gt;&lt;property id=&quot;20300&quot; value=&quot;Slide 48 - &amp;quot;Determining the Best &amp;#x0D;&amp;#x0A;Number of Hidden Units&amp;quot;&quot;/&gt;&lt;property id=&quot;20307&quot; value=&quot;307&quot;/&gt;&lt;/object&gt;&lt;object type=&quot;3&quot; unique_id=&quot;12200&quot;&gt;&lt;property id=&quot;20148&quot; value=&quot;5&quot;/&gt;&lt;property id=&quot;20300&quot; value=&quot;Slide 50 - &amp;quot;Example: ALVINN&amp;quot;&quot;/&gt;&lt;property id=&quot;20307&quot; value=&quot;310&quot;/&gt;&lt;/object&gt;&lt;object type=&quot;3&quot; unique_id=&quot;12201&quot;&gt;&lt;property id=&quot;20148&quot; value=&quot;5&quot;/&gt;&lt;property id=&quot;20300&quot; value=&quot;Slide 51 - &amp;quot;Example: Face pose recognition&amp;quot;&quot;/&gt;&lt;property id=&quot;20307&quot; value=&quot;311&quot;/&gt;&lt;/object&gt;&lt;object type=&quot;3&quot; unique_id=&quot;12414&quot;&gt;&lt;property id=&quot;20148&quot; value=&quot;5&quot;/&gt;&lt;property id=&quot;20300&quot; value=&quot;Slide 49 - &amp;quot;Example: XOR problem&amp;quot;&quot;/&gt;&lt;property id=&quot;20307&quot; value=&quot;312&quot;/&gt;&lt;/object&gt;&lt;object type=&quot;3&quot; unique_id=&quot;12469&quot;&gt;&lt;property id=&quot;20148&quot; value=&quot;5&quot;/&gt;&lt;property id=&quot;20300&quot; value=&quot;Slide 11 - &amp;quot;Perceptron Learning&amp;quot;&quot;/&gt;&lt;property id=&quot;20307&quot; value=&quot;313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43709EEEC435429F4CB77381565165" ma:contentTypeVersion="0" ma:contentTypeDescription="Create a new document." ma:contentTypeScope="" ma:versionID="6e01cbf3cd60125f58481046a604bdb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A6EDE2-D2B5-4A21-8D31-4A1CB8CD36FA}"/>
</file>

<file path=customXml/itemProps2.xml><?xml version="1.0" encoding="utf-8"?>
<ds:datastoreItem xmlns:ds="http://schemas.openxmlformats.org/officeDocument/2006/customXml" ds:itemID="{19C913A0-FDC6-4851-826E-B005B74D9633}"/>
</file>

<file path=customXml/itemProps3.xml><?xml version="1.0" encoding="utf-8"?>
<ds:datastoreItem xmlns:ds="http://schemas.openxmlformats.org/officeDocument/2006/customXml" ds:itemID="{98314FBE-916A-4479-AABE-2CD01DAD4CE0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2510</TotalTime>
  <Words>2500</Words>
  <Application>Microsoft Office PowerPoint</Application>
  <PresentationFormat>On-screen Show (4:3)</PresentationFormat>
  <Paragraphs>738</Paragraphs>
  <Slides>56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7" baseType="lpstr">
      <vt:lpstr>Bookman Old Style</vt:lpstr>
      <vt:lpstr>Calibri</vt:lpstr>
      <vt:lpstr>Cordia New</vt:lpstr>
      <vt:lpstr>Gill Sans MT</vt:lpstr>
      <vt:lpstr>Symbol</vt:lpstr>
      <vt:lpstr>Tahoma</vt:lpstr>
      <vt:lpstr>Times New Roman</vt:lpstr>
      <vt:lpstr>Wingdings</vt:lpstr>
      <vt:lpstr>Wingdings 3</vt:lpstr>
      <vt:lpstr>Origin</vt:lpstr>
      <vt:lpstr>Equation</vt:lpstr>
      <vt:lpstr>Artificial Neural Networks</vt:lpstr>
      <vt:lpstr>Artificial Neural Networks (ANN)</vt:lpstr>
      <vt:lpstr>Real Neurons</vt:lpstr>
      <vt:lpstr>Neural Communication</vt:lpstr>
      <vt:lpstr>Real Neural Learning</vt:lpstr>
      <vt:lpstr>Artificial Neuron Model</vt:lpstr>
      <vt:lpstr>History of ANN</vt:lpstr>
      <vt:lpstr>Applications</vt:lpstr>
      <vt:lpstr>Perceptron</vt:lpstr>
      <vt:lpstr>Hyperplane</vt:lpstr>
      <vt:lpstr>Perceptron Learning</vt:lpstr>
      <vt:lpstr>Perceptron: Step 0</vt:lpstr>
      <vt:lpstr>Perceptron: Step 1</vt:lpstr>
      <vt:lpstr>Perceptron: Step 2</vt:lpstr>
      <vt:lpstr>Perceptron: Step 3</vt:lpstr>
      <vt:lpstr>Perceptron: Step 4</vt:lpstr>
      <vt:lpstr>AND Problem</vt:lpstr>
      <vt:lpstr>OR Problem</vt:lpstr>
      <vt:lpstr>XOR Problem</vt:lpstr>
      <vt:lpstr>Multi-layer networks</vt:lpstr>
      <vt:lpstr>Hidden Unit Representations</vt:lpstr>
      <vt:lpstr>Hidden Unit Representations</vt:lpstr>
      <vt:lpstr>Multi-layer networks</vt:lpstr>
      <vt:lpstr>Hidden Unit Representations</vt:lpstr>
      <vt:lpstr>XOR Problem: Layer 0</vt:lpstr>
      <vt:lpstr>XOR Problem : Layer 1</vt:lpstr>
      <vt:lpstr>XOR Problem : Layer 2</vt:lpstr>
      <vt:lpstr>Exercise 1</vt:lpstr>
      <vt:lpstr>Linear unit</vt:lpstr>
      <vt:lpstr>Gradient Descent</vt:lpstr>
      <vt:lpstr>Mean Square Error (MSE)</vt:lpstr>
      <vt:lpstr>Estimate the gradient from error</vt:lpstr>
      <vt:lpstr>Gradient Descent Algorithm</vt:lpstr>
      <vt:lpstr>Incremental Stochastic Gradient Descent</vt:lpstr>
      <vt:lpstr>Gradient Descent Algorithm (Incremental)</vt:lpstr>
      <vt:lpstr>Perceptron vs. Gradient Descent Rule</vt:lpstr>
      <vt:lpstr>Presentation of Training Examples</vt:lpstr>
      <vt:lpstr>Sigmoid unit</vt:lpstr>
      <vt:lpstr>Why sigmoid?</vt:lpstr>
      <vt:lpstr>Backpropagation</vt:lpstr>
      <vt:lpstr>Backpropagation Notation</vt:lpstr>
      <vt:lpstr>Derivation of Backpropagation</vt:lpstr>
      <vt:lpstr>Backpropagation Algorithm</vt:lpstr>
      <vt:lpstr>Error Backpropagation</vt:lpstr>
      <vt:lpstr>Error Backpropagation</vt:lpstr>
      <vt:lpstr>Error Backpropagation</vt:lpstr>
      <vt:lpstr>Comments on Backpropagation</vt:lpstr>
      <vt:lpstr>Local optima</vt:lpstr>
      <vt:lpstr>Momentum</vt:lpstr>
      <vt:lpstr>Representational Power</vt:lpstr>
      <vt:lpstr>Over-fitting Prevention</vt:lpstr>
      <vt:lpstr>Determining the Best  Number of Hidden Units</vt:lpstr>
      <vt:lpstr>Example: XOR problem</vt:lpstr>
      <vt:lpstr>Example: ALVINN</vt:lpstr>
      <vt:lpstr>Example: Face pose recognition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</dc:title>
  <dc:creator>TON</dc:creator>
  <cp:lastModifiedBy>Parinya Sanguansat</cp:lastModifiedBy>
  <cp:revision>115</cp:revision>
  <dcterms:created xsi:type="dcterms:W3CDTF">2009-06-23T12:59:46Z</dcterms:created>
  <dcterms:modified xsi:type="dcterms:W3CDTF">2020-03-19T09:17:16Z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0x010100FE43709EEEC435429F4CB77381565165</vt:lpwstr>
  </property>
</Properties>
</file>